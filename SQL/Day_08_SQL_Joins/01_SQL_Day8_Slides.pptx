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869680" y="4160520"/>
            <a:ext cx="2834640" cy="2834640"/>
          </a:xfrm>
          <a:prstGeom prst="ellipse">
            <a:avLst/>
          </a:prstGeom>
          <a:solidFill>
            <a:srgbClr val="14B8A6">
              <a:alpha val="22000"/>
            </a:srgbClr>
          </a:solidFill>
          <a:ln w="19050">
            <a:solidFill>
              <a:srgbClr val="14B8A6"/>
            </a:solidFill>
            <a:prstDash val="solid"/>
          </a:ln>
        </p:spPr>
      </p:sp>
      <p:sp>
        <p:nvSpPr>
          <p:cNvPr id="3" name="Shape 1"/>
          <p:cNvSpPr/>
          <p:nvPr/>
        </p:nvSpPr>
        <p:spPr>
          <a:xfrm>
            <a:off x="10428732" y="4160520"/>
            <a:ext cx="2834640" cy="2834640"/>
          </a:xfrm>
          <a:prstGeom prst="ellipse">
            <a:avLst/>
          </a:prstGeom>
          <a:solidFill>
            <a:srgbClr val="3E6094">
              <a:alpha val="22000"/>
            </a:srgbClr>
          </a:solidFill>
          <a:ln w="19050">
            <a:solidFill>
              <a:srgbClr val="3E6094"/>
            </a:solidFill>
            <a:prstDash val="solid"/>
          </a:ln>
        </p:spPr>
      </p:sp>
      <p:sp>
        <p:nvSpPr>
          <p:cNvPr id="4" name="Shape 2"/>
          <p:cNvSpPr/>
          <p:nvPr/>
        </p:nvSpPr>
        <p:spPr>
          <a:xfrm>
            <a:off x="-822960" y="-640080"/>
            <a:ext cx="2377440" cy="2377440"/>
          </a:xfrm>
          <a:prstGeom prst="ellipse">
            <a:avLst/>
          </a:prstGeom>
          <a:solidFill>
            <a:srgbClr val="14B8A6">
              <a:alpha val="18000"/>
            </a:srgbClr>
          </a:solidFill>
          <a:ln w="19050">
            <a:solidFill>
              <a:srgbClr val="14B8A6"/>
            </a:solidFill>
            <a:prstDash val="solid"/>
          </a:ln>
        </p:spPr>
      </p:sp>
      <p:sp>
        <p:nvSpPr>
          <p:cNvPr id="5" name="Shape 3"/>
          <p:cNvSpPr/>
          <p:nvPr/>
        </p:nvSpPr>
        <p:spPr>
          <a:xfrm>
            <a:off x="484632" y="-640080"/>
            <a:ext cx="2377440" cy="2377440"/>
          </a:xfrm>
          <a:prstGeom prst="ellipse">
            <a:avLst/>
          </a:prstGeom>
          <a:solidFill>
            <a:srgbClr val="3E6094">
              <a:alpha val="18000"/>
            </a:srgbClr>
          </a:solidFill>
          <a:ln w="19050">
            <a:solidFill>
              <a:srgbClr val="3E6094"/>
            </a:solidFill>
            <a:prstDash val="solid"/>
          </a:ln>
        </p:spPr>
      </p:sp>
      <p:sp>
        <p:nvSpPr>
          <p:cNvPr id="6" name="Text 4"/>
          <p:cNvSpPr/>
          <p:nvPr/>
        </p:nvSpPr>
        <p:spPr>
          <a:xfrm>
            <a:off x="822960" y="1874520"/>
            <a:ext cx="9601200" cy="320040"/>
          </a:xfrm>
          <a:prstGeom prst="rect">
            <a:avLst/>
          </a:prstGeom>
          <a:noFill/>
          <a:ln/>
        </p:spPr>
        <p:txBody>
          <a:bodyPr wrap="square" lIns="0" tIns="0" rIns="0" bIns="0" rtlCol="0" anchor="ctr"/>
          <a:lstStyle/>
          <a:p>
            <a:pPr indent="0" marL="0">
              <a:buNone/>
            </a:pPr>
            <a:r>
              <a:rPr lang="en-US" sz="1400" b="1" spc="240" kern="0" dirty="0">
                <a:solidFill>
                  <a:srgbClr val="14B8A6"/>
                </a:solidFill>
                <a:latin typeface="Calibri" pitchFamily="34" charset="0"/>
                <a:ea typeface="Calibri" pitchFamily="34" charset="-122"/>
                <a:cs typeface="Calibri" pitchFamily="34" charset="-120"/>
              </a:rPr>
              <a:t>STRUCTURED QUERY LANGUAGE  ·  B.TECH SQL TRAINING</a:t>
            </a:r>
            <a:endParaRPr lang="en-US" sz="1400" dirty="0"/>
          </a:p>
        </p:txBody>
      </p:sp>
      <p:sp>
        <p:nvSpPr>
          <p:cNvPr id="7" name="Text 5"/>
          <p:cNvSpPr/>
          <p:nvPr/>
        </p:nvSpPr>
        <p:spPr>
          <a:xfrm>
            <a:off x="777240" y="2331720"/>
            <a:ext cx="9601200" cy="640080"/>
          </a:xfrm>
          <a:prstGeom prst="rect">
            <a:avLst/>
          </a:prstGeom>
          <a:noFill/>
          <a:ln/>
        </p:spPr>
        <p:txBody>
          <a:bodyPr wrap="square" lIns="0" tIns="0" rIns="0" bIns="0" rtlCol="0" anchor="ctr"/>
          <a:lstStyle/>
          <a:p>
            <a:pPr indent="0" marL="0">
              <a:buNone/>
            </a:pPr>
            <a:r>
              <a:rPr lang="en-US" sz="2600" dirty="0">
                <a:solidFill>
                  <a:srgbClr val="AFC3DE"/>
                </a:solidFill>
                <a:latin typeface="Cambria" pitchFamily="34" charset="0"/>
                <a:ea typeface="Cambria" pitchFamily="34" charset="-122"/>
                <a:cs typeface="Cambria" pitchFamily="34" charset="-120"/>
              </a:rPr>
              <a:t>SQL Day 8</a:t>
            </a:r>
            <a:endParaRPr lang="en-US" sz="2600" dirty="0"/>
          </a:p>
        </p:txBody>
      </p:sp>
      <p:sp>
        <p:nvSpPr>
          <p:cNvPr id="8" name="Text 6"/>
          <p:cNvSpPr/>
          <p:nvPr/>
        </p:nvSpPr>
        <p:spPr>
          <a:xfrm>
            <a:off x="777240" y="2880360"/>
            <a:ext cx="10058400" cy="123444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SQL JOINS</a:t>
            </a:r>
            <a:endParaRPr lang="en-US" sz="6600" dirty="0"/>
          </a:p>
        </p:txBody>
      </p:sp>
      <p:sp>
        <p:nvSpPr>
          <p:cNvPr id="9" name="Text 7"/>
          <p:cNvSpPr/>
          <p:nvPr/>
        </p:nvSpPr>
        <p:spPr>
          <a:xfrm>
            <a:off x="822960" y="4023360"/>
            <a:ext cx="9601200" cy="45720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INNER  ·  LEFT  ·  RIGHT  ·  FULL OUTER  ·  CROSS</a:t>
            </a:r>
            <a:endParaRPr lang="en-US" sz="1900" dirty="0"/>
          </a:p>
        </p:txBody>
      </p:sp>
      <p:sp>
        <p:nvSpPr>
          <p:cNvPr id="10" name="Shape 8"/>
          <p:cNvSpPr/>
          <p:nvPr/>
        </p:nvSpPr>
        <p:spPr>
          <a:xfrm>
            <a:off x="822960" y="4709160"/>
            <a:ext cx="3291840" cy="0"/>
          </a:xfrm>
          <a:prstGeom prst="line">
            <a:avLst/>
          </a:prstGeom>
          <a:noFill/>
          <a:ln w="31750">
            <a:solidFill>
              <a:srgbClr val="14B8A6"/>
            </a:solidFill>
            <a:prstDash val="solid"/>
          </a:ln>
        </p:spPr>
      </p:sp>
      <p:sp>
        <p:nvSpPr>
          <p:cNvPr id="11" name="Text 9"/>
          <p:cNvSpPr/>
          <p:nvPr/>
        </p:nvSpPr>
        <p:spPr>
          <a:xfrm>
            <a:off x="822960" y="4864608"/>
            <a:ext cx="7315200" cy="365760"/>
          </a:xfrm>
          <a:prstGeom prst="rect">
            <a:avLst/>
          </a:prstGeom>
          <a:noFill/>
          <a:ln/>
        </p:spPr>
        <p:txBody>
          <a:bodyPr wrap="square" lIns="0" tIns="0" rIns="0" bIns="0" rtlCol="0" anchor="ctr"/>
          <a:lstStyle/>
          <a:p>
            <a:pPr indent="0" marL="0">
              <a:buNone/>
            </a:pPr>
            <a:r>
              <a:rPr lang="en-US" sz="1300" i="1" dirty="0">
                <a:solidFill>
                  <a:srgbClr val="9FB3CE"/>
                </a:solidFill>
                <a:latin typeface="Calibri" pitchFamily="34" charset="0"/>
                <a:ea typeface="Calibri" pitchFamily="34" charset="-122"/>
                <a:cs typeface="Calibri" pitchFamily="34" charset="-120"/>
              </a:rPr>
              <a:t>Continuing directly from Day 7 : Database Normalization</a:t>
            </a:r>
            <a:endParaRPr lang="en-US" sz="1300" dirty="0"/>
          </a:p>
        </p:txBody>
      </p:sp>
      <p:sp>
        <p:nvSpPr>
          <p:cNvPr id="12" name="Text 10"/>
          <p:cNvSpPr/>
          <p:nvPr/>
        </p:nvSpPr>
        <p:spPr>
          <a:xfrm>
            <a:off x="457200" y="6528816"/>
            <a:ext cx="6400800" cy="274320"/>
          </a:xfrm>
          <a:prstGeom prst="rect">
            <a:avLst/>
          </a:prstGeom>
          <a:noFill/>
          <a:ln/>
        </p:spPr>
        <p:txBody>
          <a:bodyPr wrap="square" rtlCol="0" anchor="ctr"/>
          <a:lstStyle/>
          <a:p>
            <a:pPr algn="l" indent="0" marL="0">
              <a:buNone/>
            </a:pPr>
            <a:r>
              <a:rPr lang="en-US" sz="900" i="1" dirty="0">
                <a:solidFill>
                  <a:srgbClr val="9FB3CE"/>
                </a:solidFill>
                <a:latin typeface="Calibri" pitchFamily="34" charset="0"/>
                <a:ea typeface="Calibri" pitchFamily="34" charset="-122"/>
                <a:cs typeface="Calibri" pitchFamily="34" charset="-120"/>
              </a:rPr>
              <a:t>Shalinee Priya   |   Data Analyst  ·  SQL Trainer</a:t>
            </a:r>
            <a:endParaRPr lang="en-US" sz="900" dirty="0"/>
          </a:p>
        </p:txBody>
      </p:sp>
      <p:sp>
        <p:nvSpPr>
          <p:cNvPr id="13" name="Shape 11"/>
          <p:cNvSpPr/>
          <p:nvPr/>
        </p:nvSpPr>
        <p:spPr>
          <a:xfrm>
            <a:off x="10561320" y="6510528"/>
            <a:ext cx="1170432" cy="292608"/>
          </a:xfrm>
          <a:prstGeom prst="rect">
            <a:avLst>
              <a:gd name="adj" fmla="val 50000"/>
            </a:avLst>
          </a:prstGeom>
          <a:solidFill>
            <a:srgbClr val="13315C"/>
          </a:solidFill>
          <a:ln/>
        </p:spPr>
      </p:sp>
      <p:sp>
        <p:nvSpPr>
          <p:cNvPr id="14" name="Text 12"/>
          <p:cNvSpPr/>
          <p:nvPr/>
        </p:nvSpPr>
        <p:spPr>
          <a:xfrm>
            <a:off x="10561320" y="6510528"/>
            <a:ext cx="11704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algn="l" indent="0" marL="0">
              <a:buNone/>
            </a:pPr>
            <a:r>
              <a:rPr lang="en-US" sz="1200" b="1" spc="200" kern="0" dirty="0">
                <a:solidFill>
                  <a:srgbClr val="0C7C71"/>
                </a:solidFill>
                <a:latin typeface="Calibri" pitchFamily="34" charset="0"/>
                <a:ea typeface="Calibri" pitchFamily="34" charset="-122"/>
                <a:cs typeface="Calibri" pitchFamily="34" charset="-120"/>
              </a:rPr>
              <a:t>SESSION ROADMAP</a:t>
            </a:r>
            <a:endParaRPr lang="en-US" sz="1200" dirty="0"/>
          </a:p>
        </p:txBody>
      </p:sp>
      <p:sp>
        <p:nvSpPr>
          <p:cNvPr id="3" name="Text 1"/>
          <p:cNvSpPr/>
          <p:nvPr/>
        </p:nvSpPr>
        <p:spPr>
          <a:xfrm>
            <a:off x="530352" y="530352"/>
            <a:ext cx="10607040" cy="566928"/>
          </a:xfrm>
          <a:prstGeom prst="rect">
            <a:avLst/>
          </a:prstGeom>
          <a:noFill/>
          <a:ln/>
        </p:spPr>
        <p:txBody>
          <a:bodyPr wrap="square" lIns="0" tIns="0" rIns="0" bIns="0"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Today's Agenda</a:t>
            </a:r>
            <a:endParaRPr lang="en-US" sz="3000" dirty="0"/>
          </a:p>
        </p:txBody>
      </p:sp>
      <p:sp>
        <p:nvSpPr>
          <p:cNvPr id="4" name="Shape 2"/>
          <p:cNvSpPr/>
          <p:nvPr/>
        </p:nvSpPr>
        <p:spPr>
          <a:xfrm>
            <a:off x="548640" y="1417320"/>
            <a:ext cx="5166360" cy="786384"/>
          </a:xfrm>
          <a:prstGeom prst="roundRect">
            <a:avLst>
              <a:gd name="adj" fmla="val 10465"/>
            </a:avLst>
          </a:prstGeom>
          <a:solidFill>
            <a:srgbClr val="FFFFFF"/>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5" name="Shape 3"/>
          <p:cNvSpPr/>
          <p:nvPr/>
        </p:nvSpPr>
        <p:spPr>
          <a:xfrm>
            <a:off x="749808" y="1572768"/>
            <a:ext cx="475488" cy="475488"/>
          </a:xfrm>
          <a:prstGeom prst="ellipse">
            <a:avLst/>
          </a:prstGeom>
          <a:solidFill>
            <a:srgbClr val="14B8A6"/>
          </a:solidFill>
          <a:ln/>
        </p:spPr>
      </p:sp>
      <p:sp>
        <p:nvSpPr>
          <p:cNvPr id="6" name="Text 4"/>
          <p:cNvSpPr/>
          <p:nvPr/>
        </p:nvSpPr>
        <p:spPr>
          <a:xfrm>
            <a:off x="749808" y="15727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371600" y="1417320"/>
            <a:ext cx="4160520" cy="786384"/>
          </a:xfrm>
          <a:prstGeom prst="rect">
            <a:avLst/>
          </a:prstGeom>
          <a:noFill/>
          <a:ln/>
        </p:spPr>
        <p:txBody>
          <a:bodyPr wrap="square" lIns="0" tIns="0" rIns="0" bIns="0" rtlCol="0" anchor="ctr"/>
          <a:lstStyle/>
          <a:p>
            <a:pPr indent="0" marL="0">
              <a:buNone/>
            </a:pPr>
            <a:r>
              <a:rPr lang="en-US" sz="1500" b="1" dirty="0">
                <a:solidFill>
                  <a:srgbClr val="112036"/>
                </a:solidFill>
                <a:latin typeface="Calibri" pitchFamily="34" charset="0"/>
                <a:ea typeface="Calibri" pitchFamily="34" charset="-122"/>
                <a:cs typeface="Calibri" pitchFamily="34" charset="-120"/>
              </a:rPr>
              <a:t>Why JOINs?</a:t>
            </a:r>
            <a:endParaRPr lang="en-US" sz="1500" dirty="0"/>
          </a:p>
        </p:txBody>
      </p:sp>
      <p:sp>
        <p:nvSpPr>
          <p:cNvPr id="8" name="Shape 6"/>
          <p:cNvSpPr/>
          <p:nvPr/>
        </p:nvSpPr>
        <p:spPr>
          <a:xfrm>
            <a:off x="548640" y="2331720"/>
            <a:ext cx="5166360" cy="786384"/>
          </a:xfrm>
          <a:prstGeom prst="roundRect">
            <a:avLst>
              <a:gd name="adj" fmla="val 10465"/>
            </a:avLst>
          </a:prstGeom>
          <a:solidFill>
            <a:srgbClr val="FFFFFF"/>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9" name="Shape 7"/>
          <p:cNvSpPr/>
          <p:nvPr/>
        </p:nvSpPr>
        <p:spPr>
          <a:xfrm>
            <a:off x="749808" y="2487168"/>
            <a:ext cx="475488" cy="475488"/>
          </a:xfrm>
          <a:prstGeom prst="ellipse">
            <a:avLst/>
          </a:prstGeom>
          <a:solidFill>
            <a:srgbClr val="14B8A6"/>
          </a:solidFill>
          <a:ln/>
        </p:spPr>
      </p:sp>
      <p:sp>
        <p:nvSpPr>
          <p:cNvPr id="10" name="Text 8"/>
          <p:cNvSpPr/>
          <p:nvPr/>
        </p:nvSpPr>
        <p:spPr>
          <a:xfrm>
            <a:off x="749808" y="24871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1" name="Text 9"/>
          <p:cNvSpPr/>
          <p:nvPr/>
        </p:nvSpPr>
        <p:spPr>
          <a:xfrm>
            <a:off x="1371600" y="2331720"/>
            <a:ext cx="4160520" cy="786384"/>
          </a:xfrm>
          <a:prstGeom prst="rect">
            <a:avLst/>
          </a:prstGeom>
          <a:noFill/>
          <a:ln/>
        </p:spPr>
        <p:txBody>
          <a:bodyPr wrap="square" lIns="0" tIns="0" rIns="0" bIns="0" rtlCol="0" anchor="ctr"/>
          <a:lstStyle/>
          <a:p>
            <a:pPr indent="0" marL="0">
              <a:buNone/>
            </a:pPr>
            <a:r>
              <a:rPr lang="en-US" sz="1500" b="1" dirty="0">
                <a:solidFill>
                  <a:srgbClr val="112036"/>
                </a:solidFill>
                <a:latin typeface="Calibri" pitchFamily="34" charset="0"/>
                <a:ea typeface="Calibri" pitchFamily="34" charset="-122"/>
                <a:cs typeface="Calibri" pitchFamily="34" charset="-120"/>
              </a:rPr>
              <a:t>Why Normalization Needs JOINs</a:t>
            </a:r>
            <a:endParaRPr lang="en-US" sz="1500" dirty="0"/>
          </a:p>
        </p:txBody>
      </p:sp>
      <p:sp>
        <p:nvSpPr>
          <p:cNvPr id="12" name="Shape 10"/>
          <p:cNvSpPr/>
          <p:nvPr/>
        </p:nvSpPr>
        <p:spPr>
          <a:xfrm>
            <a:off x="548640" y="3246120"/>
            <a:ext cx="5166360" cy="786384"/>
          </a:xfrm>
          <a:prstGeom prst="roundRect">
            <a:avLst>
              <a:gd name="adj" fmla="val 10465"/>
            </a:avLst>
          </a:prstGeom>
          <a:solidFill>
            <a:srgbClr val="FFFFFF"/>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13" name="Shape 11"/>
          <p:cNvSpPr/>
          <p:nvPr/>
        </p:nvSpPr>
        <p:spPr>
          <a:xfrm>
            <a:off x="749808" y="3401568"/>
            <a:ext cx="475488" cy="475488"/>
          </a:xfrm>
          <a:prstGeom prst="ellipse">
            <a:avLst/>
          </a:prstGeom>
          <a:solidFill>
            <a:srgbClr val="14B8A6"/>
          </a:solidFill>
          <a:ln/>
        </p:spPr>
      </p:sp>
      <p:sp>
        <p:nvSpPr>
          <p:cNvPr id="14" name="Text 12"/>
          <p:cNvSpPr/>
          <p:nvPr/>
        </p:nvSpPr>
        <p:spPr>
          <a:xfrm>
            <a:off x="749808" y="34015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3"/>
          <p:cNvSpPr/>
          <p:nvPr/>
        </p:nvSpPr>
        <p:spPr>
          <a:xfrm>
            <a:off x="1371600" y="3246120"/>
            <a:ext cx="4160520" cy="786384"/>
          </a:xfrm>
          <a:prstGeom prst="rect">
            <a:avLst/>
          </a:prstGeom>
          <a:noFill/>
          <a:ln/>
        </p:spPr>
        <p:txBody>
          <a:bodyPr wrap="square" lIns="0" tIns="0" rIns="0" bIns="0" rtlCol="0" anchor="ctr"/>
          <a:lstStyle/>
          <a:p>
            <a:pPr indent="0" marL="0">
              <a:buNone/>
            </a:pPr>
            <a:r>
              <a:rPr lang="en-US" sz="1500" b="1" dirty="0">
                <a:solidFill>
                  <a:srgbClr val="112036"/>
                </a:solidFill>
                <a:latin typeface="Calibri" pitchFamily="34" charset="0"/>
                <a:ea typeface="Calibri" pitchFamily="34" charset="-122"/>
                <a:cs typeface="Calibri" pitchFamily="34" charset="-120"/>
              </a:rPr>
              <a:t>INNER JOIN</a:t>
            </a:r>
            <a:endParaRPr lang="en-US" sz="1500" dirty="0"/>
          </a:p>
        </p:txBody>
      </p:sp>
      <p:sp>
        <p:nvSpPr>
          <p:cNvPr id="16" name="Shape 14"/>
          <p:cNvSpPr/>
          <p:nvPr/>
        </p:nvSpPr>
        <p:spPr>
          <a:xfrm>
            <a:off x="548640" y="4160520"/>
            <a:ext cx="5166360" cy="786384"/>
          </a:xfrm>
          <a:prstGeom prst="roundRect">
            <a:avLst>
              <a:gd name="adj" fmla="val 10465"/>
            </a:avLst>
          </a:prstGeom>
          <a:solidFill>
            <a:srgbClr val="FFFFFF"/>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17" name="Shape 15"/>
          <p:cNvSpPr/>
          <p:nvPr/>
        </p:nvSpPr>
        <p:spPr>
          <a:xfrm>
            <a:off x="749808" y="4315968"/>
            <a:ext cx="475488" cy="475488"/>
          </a:xfrm>
          <a:prstGeom prst="ellipse">
            <a:avLst/>
          </a:prstGeom>
          <a:solidFill>
            <a:srgbClr val="14B8A6"/>
          </a:solidFill>
          <a:ln/>
        </p:spPr>
      </p:sp>
      <p:sp>
        <p:nvSpPr>
          <p:cNvPr id="18" name="Text 16"/>
          <p:cNvSpPr/>
          <p:nvPr/>
        </p:nvSpPr>
        <p:spPr>
          <a:xfrm>
            <a:off x="749808" y="43159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9" name="Text 17"/>
          <p:cNvSpPr/>
          <p:nvPr/>
        </p:nvSpPr>
        <p:spPr>
          <a:xfrm>
            <a:off x="1371600" y="4160520"/>
            <a:ext cx="4160520" cy="786384"/>
          </a:xfrm>
          <a:prstGeom prst="rect">
            <a:avLst/>
          </a:prstGeom>
          <a:noFill/>
          <a:ln/>
        </p:spPr>
        <p:txBody>
          <a:bodyPr wrap="square" lIns="0" tIns="0" rIns="0" bIns="0" rtlCol="0" anchor="ctr"/>
          <a:lstStyle/>
          <a:p>
            <a:pPr indent="0" marL="0">
              <a:buNone/>
            </a:pPr>
            <a:r>
              <a:rPr lang="en-US" sz="1500" b="1" dirty="0">
                <a:solidFill>
                  <a:srgbClr val="112036"/>
                </a:solidFill>
                <a:latin typeface="Calibri" pitchFamily="34" charset="0"/>
                <a:ea typeface="Calibri" pitchFamily="34" charset="-122"/>
                <a:cs typeface="Calibri" pitchFamily="34" charset="-120"/>
              </a:rPr>
              <a:t>LEFT JOIN</a:t>
            </a:r>
            <a:endParaRPr lang="en-US" sz="1500" dirty="0"/>
          </a:p>
        </p:txBody>
      </p:sp>
      <p:sp>
        <p:nvSpPr>
          <p:cNvPr id="20" name="Shape 18"/>
          <p:cNvSpPr/>
          <p:nvPr/>
        </p:nvSpPr>
        <p:spPr>
          <a:xfrm>
            <a:off x="548640" y="5074920"/>
            <a:ext cx="5166360" cy="786384"/>
          </a:xfrm>
          <a:prstGeom prst="roundRect">
            <a:avLst>
              <a:gd name="adj" fmla="val 10465"/>
            </a:avLst>
          </a:prstGeom>
          <a:solidFill>
            <a:srgbClr val="FFFFFF"/>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21" name="Shape 19"/>
          <p:cNvSpPr/>
          <p:nvPr/>
        </p:nvSpPr>
        <p:spPr>
          <a:xfrm>
            <a:off x="749808" y="5230368"/>
            <a:ext cx="475488" cy="475488"/>
          </a:xfrm>
          <a:prstGeom prst="ellipse">
            <a:avLst/>
          </a:prstGeom>
          <a:solidFill>
            <a:srgbClr val="14B8A6"/>
          </a:solidFill>
          <a:ln/>
        </p:spPr>
      </p:sp>
      <p:sp>
        <p:nvSpPr>
          <p:cNvPr id="22" name="Text 20"/>
          <p:cNvSpPr/>
          <p:nvPr/>
        </p:nvSpPr>
        <p:spPr>
          <a:xfrm>
            <a:off x="749808" y="52303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3" name="Text 21"/>
          <p:cNvSpPr/>
          <p:nvPr/>
        </p:nvSpPr>
        <p:spPr>
          <a:xfrm>
            <a:off x="1371600" y="5074920"/>
            <a:ext cx="4160520" cy="786384"/>
          </a:xfrm>
          <a:prstGeom prst="rect">
            <a:avLst/>
          </a:prstGeom>
          <a:noFill/>
          <a:ln/>
        </p:spPr>
        <p:txBody>
          <a:bodyPr wrap="square" lIns="0" tIns="0" rIns="0" bIns="0" rtlCol="0" anchor="ctr"/>
          <a:lstStyle/>
          <a:p>
            <a:pPr indent="0" marL="0">
              <a:buNone/>
            </a:pPr>
            <a:r>
              <a:rPr lang="en-US" sz="1500" b="1" dirty="0">
                <a:solidFill>
                  <a:srgbClr val="112036"/>
                </a:solidFill>
                <a:latin typeface="Calibri" pitchFamily="34" charset="0"/>
                <a:ea typeface="Calibri" pitchFamily="34" charset="-122"/>
                <a:cs typeface="Calibri" pitchFamily="34" charset="-120"/>
              </a:rPr>
              <a:t>RIGHT JOIN</a:t>
            </a:r>
            <a:endParaRPr lang="en-US" sz="1500" dirty="0"/>
          </a:p>
        </p:txBody>
      </p:sp>
      <p:sp>
        <p:nvSpPr>
          <p:cNvPr id="24" name="Shape 22"/>
          <p:cNvSpPr/>
          <p:nvPr/>
        </p:nvSpPr>
        <p:spPr>
          <a:xfrm>
            <a:off x="5989320" y="1417320"/>
            <a:ext cx="5166360" cy="786384"/>
          </a:xfrm>
          <a:prstGeom prst="roundRect">
            <a:avLst>
              <a:gd name="adj" fmla="val 10465"/>
            </a:avLst>
          </a:prstGeom>
          <a:solidFill>
            <a:srgbClr val="FFFFFF"/>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25" name="Shape 23"/>
          <p:cNvSpPr/>
          <p:nvPr/>
        </p:nvSpPr>
        <p:spPr>
          <a:xfrm>
            <a:off x="6190488" y="1572768"/>
            <a:ext cx="475488" cy="475488"/>
          </a:xfrm>
          <a:prstGeom prst="ellipse">
            <a:avLst/>
          </a:prstGeom>
          <a:solidFill>
            <a:srgbClr val="14B8A6"/>
          </a:solidFill>
          <a:ln/>
        </p:spPr>
      </p:sp>
      <p:sp>
        <p:nvSpPr>
          <p:cNvPr id="26" name="Text 24"/>
          <p:cNvSpPr/>
          <p:nvPr/>
        </p:nvSpPr>
        <p:spPr>
          <a:xfrm>
            <a:off x="6190488" y="15727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7" name="Text 25"/>
          <p:cNvSpPr/>
          <p:nvPr/>
        </p:nvSpPr>
        <p:spPr>
          <a:xfrm>
            <a:off x="6812280" y="1417320"/>
            <a:ext cx="4160520" cy="786384"/>
          </a:xfrm>
          <a:prstGeom prst="rect">
            <a:avLst/>
          </a:prstGeom>
          <a:noFill/>
          <a:ln/>
        </p:spPr>
        <p:txBody>
          <a:bodyPr wrap="square" lIns="0" tIns="0" rIns="0" bIns="0" rtlCol="0" anchor="ctr"/>
          <a:lstStyle/>
          <a:p>
            <a:pPr indent="0" marL="0">
              <a:buNone/>
            </a:pPr>
            <a:r>
              <a:rPr lang="en-US" sz="1500" b="1" dirty="0">
                <a:solidFill>
                  <a:srgbClr val="112036"/>
                </a:solidFill>
                <a:latin typeface="Calibri" pitchFamily="34" charset="0"/>
                <a:ea typeface="Calibri" pitchFamily="34" charset="-122"/>
                <a:cs typeface="Calibri" pitchFamily="34" charset="-120"/>
              </a:rPr>
              <a:t>FULL OUTER JOIN (MySQL)</a:t>
            </a:r>
            <a:endParaRPr lang="en-US" sz="1500" dirty="0"/>
          </a:p>
        </p:txBody>
      </p:sp>
      <p:sp>
        <p:nvSpPr>
          <p:cNvPr id="28" name="Shape 26"/>
          <p:cNvSpPr/>
          <p:nvPr/>
        </p:nvSpPr>
        <p:spPr>
          <a:xfrm>
            <a:off x="5989320" y="2331720"/>
            <a:ext cx="5166360" cy="786384"/>
          </a:xfrm>
          <a:prstGeom prst="roundRect">
            <a:avLst>
              <a:gd name="adj" fmla="val 10465"/>
            </a:avLst>
          </a:prstGeom>
          <a:solidFill>
            <a:srgbClr val="FFFFFF"/>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29" name="Shape 27"/>
          <p:cNvSpPr/>
          <p:nvPr/>
        </p:nvSpPr>
        <p:spPr>
          <a:xfrm>
            <a:off x="6190488" y="2487168"/>
            <a:ext cx="475488" cy="475488"/>
          </a:xfrm>
          <a:prstGeom prst="ellipse">
            <a:avLst/>
          </a:prstGeom>
          <a:solidFill>
            <a:srgbClr val="14B8A6"/>
          </a:solidFill>
          <a:ln/>
        </p:spPr>
      </p:sp>
      <p:sp>
        <p:nvSpPr>
          <p:cNvPr id="30" name="Text 28"/>
          <p:cNvSpPr/>
          <p:nvPr/>
        </p:nvSpPr>
        <p:spPr>
          <a:xfrm>
            <a:off x="6190488" y="24871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1" name="Text 29"/>
          <p:cNvSpPr/>
          <p:nvPr/>
        </p:nvSpPr>
        <p:spPr>
          <a:xfrm>
            <a:off x="6812280" y="2331720"/>
            <a:ext cx="4160520" cy="786384"/>
          </a:xfrm>
          <a:prstGeom prst="rect">
            <a:avLst/>
          </a:prstGeom>
          <a:noFill/>
          <a:ln/>
        </p:spPr>
        <p:txBody>
          <a:bodyPr wrap="square" lIns="0" tIns="0" rIns="0" bIns="0" rtlCol="0" anchor="ctr"/>
          <a:lstStyle/>
          <a:p>
            <a:pPr indent="0" marL="0">
              <a:buNone/>
            </a:pPr>
            <a:r>
              <a:rPr lang="en-US" sz="1500" b="1" dirty="0">
                <a:solidFill>
                  <a:srgbClr val="112036"/>
                </a:solidFill>
                <a:latin typeface="Calibri" pitchFamily="34" charset="0"/>
                <a:ea typeface="Calibri" pitchFamily="34" charset="-122"/>
                <a:cs typeface="Calibri" pitchFamily="34" charset="-120"/>
              </a:rPr>
              <a:t>CROSS JOIN</a:t>
            </a:r>
            <a:endParaRPr lang="en-US" sz="1500" dirty="0"/>
          </a:p>
        </p:txBody>
      </p:sp>
      <p:sp>
        <p:nvSpPr>
          <p:cNvPr id="32" name="Shape 30"/>
          <p:cNvSpPr/>
          <p:nvPr/>
        </p:nvSpPr>
        <p:spPr>
          <a:xfrm>
            <a:off x="5989320" y="3246120"/>
            <a:ext cx="5166360" cy="786384"/>
          </a:xfrm>
          <a:prstGeom prst="roundRect">
            <a:avLst>
              <a:gd name="adj" fmla="val 10465"/>
            </a:avLst>
          </a:prstGeom>
          <a:solidFill>
            <a:srgbClr val="FFFFFF"/>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33" name="Shape 31"/>
          <p:cNvSpPr/>
          <p:nvPr/>
        </p:nvSpPr>
        <p:spPr>
          <a:xfrm>
            <a:off x="6190488" y="3401568"/>
            <a:ext cx="475488" cy="475488"/>
          </a:xfrm>
          <a:prstGeom prst="ellipse">
            <a:avLst/>
          </a:prstGeom>
          <a:solidFill>
            <a:srgbClr val="1B3F73"/>
          </a:solidFill>
          <a:ln/>
        </p:spPr>
      </p:sp>
      <p:sp>
        <p:nvSpPr>
          <p:cNvPr id="34" name="Text 32"/>
          <p:cNvSpPr/>
          <p:nvPr/>
        </p:nvSpPr>
        <p:spPr>
          <a:xfrm>
            <a:off x="6190488" y="34015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5" name="Text 33"/>
          <p:cNvSpPr/>
          <p:nvPr/>
        </p:nvSpPr>
        <p:spPr>
          <a:xfrm>
            <a:off x="6812280" y="3246120"/>
            <a:ext cx="4160520" cy="786384"/>
          </a:xfrm>
          <a:prstGeom prst="rect">
            <a:avLst/>
          </a:prstGeom>
          <a:noFill/>
          <a:ln/>
        </p:spPr>
        <p:txBody>
          <a:bodyPr wrap="square" lIns="0" tIns="0" rIns="0" bIns="0" rtlCol="0" anchor="ctr"/>
          <a:lstStyle/>
          <a:p>
            <a:pPr indent="0" marL="0">
              <a:buNone/>
            </a:pPr>
            <a:r>
              <a:rPr lang="en-US" sz="1500" b="1" dirty="0">
                <a:solidFill>
                  <a:srgbClr val="112036"/>
                </a:solidFill>
                <a:latin typeface="Calibri" pitchFamily="34" charset="0"/>
                <a:ea typeface="Calibri" pitchFamily="34" charset="-122"/>
                <a:cs typeface="Calibri" pitchFamily="34" charset="-120"/>
              </a:rPr>
              <a:t>JOIN Execution Flow</a:t>
            </a:r>
            <a:endParaRPr lang="en-US" sz="1500" dirty="0"/>
          </a:p>
        </p:txBody>
      </p:sp>
      <p:sp>
        <p:nvSpPr>
          <p:cNvPr id="36" name="Shape 34"/>
          <p:cNvSpPr/>
          <p:nvPr/>
        </p:nvSpPr>
        <p:spPr>
          <a:xfrm>
            <a:off x="5989320" y="4160520"/>
            <a:ext cx="5166360" cy="786384"/>
          </a:xfrm>
          <a:prstGeom prst="roundRect">
            <a:avLst>
              <a:gd name="adj" fmla="val 10465"/>
            </a:avLst>
          </a:prstGeom>
          <a:solidFill>
            <a:srgbClr val="FFFFFF"/>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37" name="Shape 35"/>
          <p:cNvSpPr/>
          <p:nvPr/>
        </p:nvSpPr>
        <p:spPr>
          <a:xfrm>
            <a:off x="6190488" y="4315968"/>
            <a:ext cx="475488" cy="475488"/>
          </a:xfrm>
          <a:prstGeom prst="ellipse">
            <a:avLst/>
          </a:prstGeom>
          <a:solidFill>
            <a:srgbClr val="1B3F73"/>
          </a:solidFill>
          <a:ln/>
        </p:spPr>
      </p:sp>
      <p:sp>
        <p:nvSpPr>
          <p:cNvPr id="38" name="Text 36"/>
          <p:cNvSpPr/>
          <p:nvPr/>
        </p:nvSpPr>
        <p:spPr>
          <a:xfrm>
            <a:off x="6190488" y="43159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39" name="Text 37"/>
          <p:cNvSpPr/>
          <p:nvPr/>
        </p:nvSpPr>
        <p:spPr>
          <a:xfrm>
            <a:off x="6812280" y="4160520"/>
            <a:ext cx="4160520" cy="786384"/>
          </a:xfrm>
          <a:prstGeom prst="rect">
            <a:avLst/>
          </a:prstGeom>
          <a:noFill/>
          <a:ln/>
        </p:spPr>
        <p:txBody>
          <a:bodyPr wrap="square" lIns="0" tIns="0" rIns="0" bIns="0" rtlCol="0" anchor="ctr"/>
          <a:lstStyle/>
          <a:p>
            <a:pPr indent="0" marL="0">
              <a:buNone/>
            </a:pPr>
            <a:r>
              <a:rPr lang="en-US" sz="1500" b="1" dirty="0">
                <a:solidFill>
                  <a:srgbClr val="112036"/>
                </a:solidFill>
                <a:latin typeface="Calibri" pitchFamily="34" charset="0"/>
                <a:ea typeface="Calibri" pitchFamily="34" charset="-122"/>
                <a:cs typeface="Calibri" pitchFamily="34" charset="-120"/>
              </a:rPr>
              <a:t>Business Case Study</a:t>
            </a:r>
            <a:endParaRPr lang="en-US" sz="1500" dirty="0"/>
          </a:p>
        </p:txBody>
      </p:sp>
      <p:sp>
        <p:nvSpPr>
          <p:cNvPr id="40" name="Shape 38"/>
          <p:cNvSpPr/>
          <p:nvPr/>
        </p:nvSpPr>
        <p:spPr>
          <a:xfrm>
            <a:off x="5989320" y="5074920"/>
            <a:ext cx="5166360" cy="786384"/>
          </a:xfrm>
          <a:prstGeom prst="roundRect">
            <a:avLst>
              <a:gd name="adj" fmla="val 10465"/>
            </a:avLst>
          </a:prstGeom>
          <a:solidFill>
            <a:srgbClr val="FFFFFF"/>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41" name="Shape 39"/>
          <p:cNvSpPr/>
          <p:nvPr/>
        </p:nvSpPr>
        <p:spPr>
          <a:xfrm>
            <a:off x="6190488" y="5230368"/>
            <a:ext cx="475488" cy="475488"/>
          </a:xfrm>
          <a:prstGeom prst="ellipse">
            <a:avLst/>
          </a:prstGeom>
          <a:solidFill>
            <a:srgbClr val="1B3F73"/>
          </a:solidFill>
          <a:ln/>
        </p:spPr>
      </p:sp>
      <p:sp>
        <p:nvSpPr>
          <p:cNvPr id="42" name="Text 40"/>
          <p:cNvSpPr/>
          <p:nvPr/>
        </p:nvSpPr>
        <p:spPr>
          <a:xfrm>
            <a:off x="6190488" y="5230368"/>
            <a:ext cx="47548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43" name="Text 41"/>
          <p:cNvSpPr/>
          <p:nvPr/>
        </p:nvSpPr>
        <p:spPr>
          <a:xfrm>
            <a:off x="6812280" y="5074920"/>
            <a:ext cx="4160520" cy="786384"/>
          </a:xfrm>
          <a:prstGeom prst="rect">
            <a:avLst/>
          </a:prstGeom>
          <a:noFill/>
          <a:ln/>
        </p:spPr>
        <p:txBody>
          <a:bodyPr wrap="square" lIns="0" tIns="0" rIns="0" bIns="0" rtlCol="0" anchor="ctr"/>
          <a:lstStyle/>
          <a:p>
            <a:pPr indent="0" marL="0">
              <a:buNone/>
            </a:pPr>
            <a:r>
              <a:rPr lang="en-US" sz="1500" b="1" dirty="0">
                <a:solidFill>
                  <a:srgbClr val="112036"/>
                </a:solidFill>
                <a:latin typeface="Calibri" pitchFamily="34" charset="0"/>
                <a:ea typeface="Calibri" pitchFamily="34" charset="-122"/>
                <a:cs typeface="Calibri" pitchFamily="34" charset="-120"/>
              </a:rPr>
              <a:t>Interview Challenge</a:t>
            </a:r>
            <a:endParaRPr lang="en-US" sz="1500" dirty="0"/>
          </a:p>
        </p:txBody>
      </p:sp>
      <p:sp>
        <p:nvSpPr>
          <p:cNvPr id="44" name="Text 42"/>
          <p:cNvSpPr/>
          <p:nvPr/>
        </p:nvSpPr>
        <p:spPr>
          <a:xfrm>
            <a:off x="457200" y="6528816"/>
            <a:ext cx="6400800" cy="274320"/>
          </a:xfrm>
          <a:prstGeom prst="rect">
            <a:avLst/>
          </a:prstGeom>
          <a:noFill/>
          <a:ln/>
        </p:spPr>
        <p:txBody>
          <a:bodyPr wrap="square" rtlCol="0" anchor="ctr"/>
          <a:lstStyle/>
          <a:p>
            <a:pPr algn="l" indent="0" marL="0">
              <a:buNone/>
            </a:pPr>
            <a:r>
              <a:rPr lang="en-US" sz="900" i="1" dirty="0">
                <a:solidFill>
                  <a:srgbClr val="62728A"/>
                </a:solidFill>
                <a:latin typeface="Calibri" pitchFamily="34" charset="0"/>
                <a:ea typeface="Calibri" pitchFamily="34" charset="-122"/>
                <a:cs typeface="Calibri" pitchFamily="34" charset="-120"/>
              </a:rPr>
              <a:t>Shalinee Priya   |   Data Analyst  ·  SQL Trainer</a:t>
            </a:r>
            <a:endParaRPr lang="en-US" sz="900" dirty="0"/>
          </a:p>
        </p:txBody>
      </p:sp>
      <p:sp>
        <p:nvSpPr>
          <p:cNvPr id="45" name="Shape 43"/>
          <p:cNvSpPr/>
          <p:nvPr/>
        </p:nvSpPr>
        <p:spPr>
          <a:xfrm>
            <a:off x="10561320" y="6510528"/>
            <a:ext cx="1170432" cy="292608"/>
          </a:xfrm>
          <a:prstGeom prst="rect">
            <a:avLst>
              <a:gd name="adj" fmla="val 50000"/>
            </a:avLst>
          </a:prstGeom>
          <a:solidFill>
            <a:srgbClr val="0B2545"/>
          </a:solidFill>
          <a:ln/>
        </p:spPr>
      </p:sp>
      <p:sp>
        <p:nvSpPr>
          <p:cNvPr id="46" name="Text 44"/>
          <p:cNvSpPr/>
          <p:nvPr/>
        </p:nvSpPr>
        <p:spPr>
          <a:xfrm>
            <a:off x="10561320" y="6510528"/>
            <a:ext cx="11704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2/10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algn="l" indent="0" marL="0">
              <a:buNone/>
            </a:pPr>
            <a:r>
              <a:rPr lang="en-US" sz="1200" b="1" spc="200" kern="0" dirty="0">
                <a:solidFill>
                  <a:srgbClr val="0C7C71"/>
                </a:solidFill>
                <a:latin typeface="Calibri" pitchFamily="34" charset="0"/>
                <a:ea typeface="Calibri" pitchFamily="34" charset="-122"/>
                <a:cs typeface="Calibri" pitchFamily="34" charset="-120"/>
              </a:rPr>
              <a:t>HOW WE GOT HERE</a:t>
            </a:r>
            <a:endParaRPr lang="en-US" sz="1200" dirty="0"/>
          </a:p>
        </p:txBody>
      </p:sp>
      <p:sp>
        <p:nvSpPr>
          <p:cNvPr id="3" name="Text 1"/>
          <p:cNvSpPr/>
          <p:nvPr/>
        </p:nvSpPr>
        <p:spPr>
          <a:xfrm>
            <a:off x="530352" y="530352"/>
            <a:ext cx="10607040" cy="566928"/>
          </a:xfrm>
          <a:prstGeom prst="rect">
            <a:avLst/>
          </a:prstGeom>
          <a:noFill/>
          <a:ln/>
        </p:spPr>
        <p:txBody>
          <a:bodyPr wrap="square" lIns="0" tIns="0" rIns="0" bIns="0"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Learning Journey</a:t>
            </a:r>
            <a:endParaRPr lang="en-US" sz="3000" dirty="0"/>
          </a:p>
        </p:txBody>
      </p:sp>
      <p:sp>
        <p:nvSpPr>
          <p:cNvPr id="4" name="Shape 2"/>
          <p:cNvSpPr/>
          <p:nvPr/>
        </p:nvSpPr>
        <p:spPr>
          <a:xfrm>
            <a:off x="548640" y="1600200"/>
            <a:ext cx="1975104" cy="868680"/>
          </a:xfrm>
          <a:prstGeom prst="roundRect">
            <a:avLst>
              <a:gd name="adj" fmla="val 9474"/>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5" name="Text 3"/>
          <p:cNvSpPr/>
          <p:nvPr/>
        </p:nvSpPr>
        <p:spPr>
          <a:xfrm>
            <a:off x="640080" y="1600200"/>
            <a:ext cx="1792224" cy="868680"/>
          </a:xfrm>
          <a:prstGeom prst="rect">
            <a:avLst/>
          </a:prstGeom>
          <a:noFill/>
          <a:ln/>
        </p:spPr>
        <p:txBody>
          <a:bodyPr wrap="square" lIns="0" tIns="0" rIns="0" bIns="0" rtlCol="0" anchor="ctr"/>
          <a:lstStyle/>
          <a:p>
            <a:pPr algn="ctr" indent="0" marL="0">
              <a:buNone/>
            </a:pPr>
            <a:r>
              <a:rPr lang="en-US" sz="1300" b="1" dirty="0">
                <a:solidFill>
                  <a:srgbClr val="112036"/>
                </a:solidFill>
                <a:latin typeface="Calibri" pitchFamily="34" charset="0"/>
                <a:ea typeface="Calibri" pitchFamily="34" charset="-122"/>
                <a:cs typeface="Calibri" pitchFamily="34" charset="-120"/>
              </a:rPr>
              <a:t>Business Requirement</a:t>
            </a:r>
            <a:endParaRPr lang="en-US" sz="1300" dirty="0"/>
          </a:p>
        </p:txBody>
      </p:sp>
      <p:sp>
        <p:nvSpPr>
          <p:cNvPr id="6" name="Text 4"/>
          <p:cNvSpPr/>
          <p:nvPr/>
        </p:nvSpPr>
        <p:spPr>
          <a:xfrm>
            <a:off x="2505456" y="1600200"/>
            <a:ext cx="347472" cy="868680"/>
          </a:xfrm>
          <a:prstGeom prst="rect">
            <a:avLst/>
          </a:prstGeom>
          <a:noFill/>
          <a:ln/>
        </p:spPr>
        <p:txBody>
          <a:bodyPr wrap="square" lIns="0" tIns="0" rIns="0" bIns="0" rtlCol="0" anchor="ctr"/>
          <a:lstStyle/>
          <a:p>
            <a:pPr algn="ctr" indent="0" marL="0">
              <a:buNone/>
            </a:pPr>
            <a:r>
              <a:rPr lang="en-US" sz="2000" b="1" dirty="0">
                <a:solidFill>
                  <a:srgbClr val="0C7C71"/>
                </a:solidFill>
                <a:latin typeface="Calibri" pitchFamily="34" charset="0"/>
                <a:ea typeface="Calibri" pitchFamily="34" charset="-122"/>
                <a:cs typeface="Calibri" pitchFamily="34" charset="-120"/>
              </a:rPr>
              <a:t>→</a:t>
            </a:r>
            <a:endParaRPr lang="en-US" sz="2000" dirty="0"/>
          </a:p>
        </p:txBody>
      </p:sp>
      <p:sp>
        <p:nvSpPr>
          <p:cNvPr id="7" name="Shape 5"/>
          <p:cNvSpPr/>
          <p:nvPr/>
        </p:nvSpPr>
        <p:spPr>
          <a:xfrm>
            <a:off x="2688336" y="1600200"/>
            <a:ext cx="1975104" cy="868680"/>
          </a:xfrm>
          <a:prstGeom prst="roundRect">
            <a:avLst>
              <a:gd name="adj" fmla="val 9474"/>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8" name="Text 6"/>
          <p:cNvSpPr/>
          <p:nvPr/>
        </p:nvSpPr>
        <p:spPr>
          <a:xfrm>
            <a:off x="2779776" y="1600200"/>
            <a:ext cx="1792224" cy="868680"/>
          </a:xfrm>
          <a:prstGeom prst="rect">
            <a:avLst/>
          </a:prstGeom>
          <a:noFill/>
          <a:ln/>
        </p:spPr>
        <p:txBody>
          <a:bodyPr wrap="square" lIns="0" tIns="0" rIns="0" bIns="0" rtlCol="0" anchor="ctr"/>
          <a:lstStyle/>
          <a:p>
            <a:pPr algn="ctr" indent="0" marL="0">
              <a:buNone/>
            </a:pPr>
            <a:r>
              <a:rPr lang="en-US" sz="1300" b="1" dirty="0">
                <a:solidFill>
                  <a:srgbClr val="112036"/>
                </a:solidFill>
                <a:latin typeface="Calibri" pitchFamily="34" charset="0"/>
                <a:ea typeface="Calibri" pitchFamily="34" charset="-122"/>
                <a:cs typeface="Calibri" pitchFamily="34" charset="-120"/>
              </a:rPr>
              <a:t>Normalization</a:t>
            </a:r>
            <a:endParaRPr lang="en-US" sz="1300" dirty="0"/>
          </a:p>
        </p:txBody>
      </p:sp>
      <p:sp>
        <p:nvSpPr>
          <p:cNvPr id="9" name="Text 7"/>
          <p:cNvSpPr/>
          <p:nvPr/>
        </p:nvSpPr>
        <p:spPr>
          <a:xfrm>
            <a:off x="4645152" y="1600200"/>
            <a:ext cx="347472" cy="868680"/>
          </a:xfrm>
          <a:prstGeom prst="rect">
            <a:avLst/>
          </a:prstGeom>
          <a:noFill/>
          <a:ln/>
        </p:spPr>
        <p:txBody>
          <a:bodyPr wrap="square" lIns="0" tIns="0" rIns="0" bIns="0" rtlCol="0" anchor="ctr"/>
          <a:lstStyle/>
          <a:p>
            <a:pPr algn="ctr" indent="0" marL="0">
              <a:buNone/>
            </a:pPr>
            <a:r>
              <a:rPr lang="en-US" sz="2000" b="1" dirty="0">
                <a:solidFill>
                  <a:srgbClr val="0C7C71"/>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4828032" y="1600200"/>
            <a:ext cx="1975104" cy="868680"/>
          </a:xfrm>
          <a:prstGeom prst="roundRect">
            <a:avLst>
              <a:gd name="adj" fmla="val 9474"/>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11" name="Text 9"/>
          <p:cNvSpPr/>
          <p:nvPr/>
        </p:nvSpPr>
        <p:spPr>
          <a:xfrm>
            <a:off x="4919472" y="1600200"/>
            <a:ext cx="1792224" cy="868680"/>
          </a:xfrm>
          <a:prstGeom prst="rect">
            <a:avLst/>
          </a:prstGeom>
          <a:noFill/>
          <a:ln/>
        </p:spPr>
        <p:txBody>
          <a:bodyPr wrap="square" lIns="0" tIns="0" rIns="0" bIns="0" rtlCol="0" anchor="ctr"/>
          <a:lstStyle/>
          <a:p>
            <a:pPr algn="ctr" indent="0" marL="0">
              <a:buNone/>
            </a:pPr>
            <a:r>
              <a:rPr lang="en-US" sz="1300" b="1" dirty="0">
                <a:solidFill>
                  <a:srgbClr val="112036"/>
                </a:solidFill>
                <a:latin typeface="Calibri" pitchFamily="34" charset="0"/>
                <a:ea typeface="Calibri" pitchFamily="34" charset="-122"/>
                <a:cs typeface="Calibri" pitchFamily="34" charset="-120"/>
              </a:rPr>
              <a:t>Separate Tables</a:t>
            </a:r>
            <a:endParaRPr lang="en-US" sz="1300" dirty="0"/>
          </a:p>
        </p:txBody>
      </p:sp>
      <p:sp>
        <p:nvSpPr>
          <p:cNvPr id="12" name="Text 10"/>
          <p:cNvSpPr/>
          <p:nvPr/>
        </p:nvSpPr>
        <p:spPr>
          <a:xfrm>
            <a:off x="6784848" y="1600200"/>
            <a:ext cx="347472" cy="868680"/>
          </a:xfrm>
          <a:prstGeom prst="rect">
            <a:avLst/>
          </a:prstGeom>
          <a:noFill/>
          <a:ln/>
        </p:spPr>
        <p:txBody>
          <a:bodyPr wrap="square" lIns="0" tIns="0" rIns="0" bIns="0" rtlCol="0" anchor="ctr"/>
          <a:lstStyle/>
          <a:p>
            <a:pPr algn="ctr" indent="0" marL="0">
              <a:buNone/>
            </a:pPr>
            <a:r>
              <a:rPr lang="en-US" sz="2000" b="1" dirty="0">
                <a:solidFill>
                  <a:srgbClr val="0C7C71"/>
                </a:solidFill>
                <a:latin typeface="Calibri" pitchFamily="34" charset="0"/>
                <a:ea typeface="Calibri" pitchFamily="34" charset="-122"/>
                <a:cs typeface="Calibri" pitchFamily="34" charset="-120"/>
              </a:rPr>
              <a:t>→</a:t>
            </a:r>
            <a:endParaRPr lang="en-US" sz="2000" dirty="0"/>
          </a:p>
        </p:txBody>
      </p:sp>
      <p:sp>
        <p:nvSpPr>
          <p:cNvPr id="13" name="Shape 11"/>
          <p:cNvSpPr/>
          <p:nvPr/>
        </p:nvSpPr>
        <p:spPr>
          <a:xfrm>
            <a:off x="6967728" y="1600200"/>
            <a:ext cx="1975104" cy="868680"/>
          </a:xfrm>
          <a:prstGeom prst="roundRect">
            <a:avLst>
              <a:gd name="adj" fmla="val 9474"/>
            </a:avLst>
          </a:prstGeom>
          <a:solidFill>
            <a:srgbClr val="0B2545"/>
          </a:solidFill>
          <a:ln/>
          <a:effectLst>
            <a:outerShdw sx="100000" sy="100000" kx="0" ky="0" algn="bl" rotWithShape="0" blurRad="101600" dist="25400" dir="5400000">
              <a:srgbClr val="8095AC">
                <a:alpha val="18000"/>
              </a:srgbClr>
            </a:outerShdw>
          </a:effectLst>
        </p:spPr>
      </p:sp>
      <p:sp>
        <p:nvSpPr>
          <p:cNvPr id="14" name="Text 12"/>
          <p:cNvSpPr/>
          <p:nvPr/>
        </p:nvSpPr>
        <p:spPr>
          <a:xfrm>
            <a:off x="7059168" y="1600200"/>
            <a:ext cx="1792224"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SQL JOIN</a:t>
            </a:r>
            <a:endParaRPr lang="en-US" sz="1300" dirty="0"/>
          </a:p>
        </p:txBody>
      </p:sp>
      <p:sp>
        <p:nvSpPr>
          <p:cNvPr id="15" name="Text 13"/>
          <p:cNvSpPr/>
          <p:nvPr/>
        </p:nvSpPr>
        <p:spPr>
          <a:xfrm>
            <a:off x="8924544" y="1600200"/>
            <a:ext cx="347472" cy="868680"/>
          </a:xfrm>
          <a:prstGeom prst="rect">
            <a:avLst/>
          </a:prstGeom>
          <a:noFill/>
          <a:ln/>
        </p:spPr>
        <p:txBody>
          <a:bodyPr wrap="square" lIns="0" tIns="0" rIns="0" bIns="0" rtlCol="0" anchor="ctr"/>
          <a:lstStyle/>
          <a:p>
            <a:pPr algn="ctr" indent="0" marL="0">
              <a:buNone/>
            </a:pPr>
            <a:r>
              <a:rPr lang="en-US" sz="2000" b="1" dirty="0">
                <a:solidFill>
                  <a:srgbClr val="0C7C71"/>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9107424" y="1600200"/>
            <a:ext cx="1975104" cy="868680"/>
          </a:xfrm>
          <a:prstGeom prst="roundRect">
            <a:avLst>
              <a:gd name="adj" fmla="val 9474"/>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17" name="Text 15"/>
          <p:cNvSpPr/>
          <p:nvPr/>
        </p:nvSpPr>
        <p:spPr>
          <a:xfrm>
            <a:off x="9198864" y="1600200"/>
            <a:ext cx="1792224" cy="868680"/>
          </a:xfrm>
          <a:prstGeom prst="rect">
            <a:avLst/>
          </a:prstGeom>
          <a:noFill/>
          <a:ln/>
        </p:spPr>
        <p:txBody>
          <a:bodyPr wrap="square" lIns="0" tIns="0" rIns="0" bIns="0" rtlCol="0" anchor="ctr"/>
          <a:lstStyle/>
          <a:p>
            <a:pPr algn="ctr" indent="0" marL="0">
              <a:buNone/>
            </a:pPr>
            <a:r>
              <a:rPr lang="en-US" sz="1300" b="1" dirty="0">
                <a:solidFill>
                  <a:srgbClr val="112036"/>
                </a:solidFill>
                <a:latin typeface="Calibri" pitchFamily="34" charset="0"/>
                <a:ea typeface="Calibri" pitchFamily="34" charset="-122"/>
                <a:cs typeface="Calibri" pitchFamily="34" charset="-120"/>
              </a:rPr>
              <a:t>Business Reports</a:t>
            </a:r>
            <a:endParaRPr lang="en-US" sz="1300" dirty="0"/>
          </a:p>
        </p:txBody>
      </p:sp>
      <p:sp>
        <p:nvSpPr>
          <p:cNvPr id="18" name="Shape 16"/>
          <p:cNvSpPr/>
          <p:nvPr/>
        </p:nvSpPr>
        <p:spPr>
          <a:xfrm>
            <a:off x="548640" y="2880360"/>
            <a:ext cx="7178040" cy="1417320"/>
          </a:xfrm>
          <a:prstGeom prst="roundRect">
            <a:avLst>
              <a:gd name="adj" fmla="val 5161"/>
            </a:avLst>
          </a:prstGeom>
          <a:solidFill>
            <a:srgbClr val="0B2545"/>
          </a:solidFill>
          <a:ln/>
          <a:effectLst>
            <a:outerShdw sx="100000" sy="100000" kx="0" ky="0" algn="bl" rotWithShape="0" blurRad="76200" dist="25400" dir="5400000">
              <a:srgbClr val="10203A">
                <a:alpha val="35000"/>
              </a:srgbClr>
            </a:outerShdw>
          </a:effectLst>
        </p:spPr>
      </p:sp>
      <p:sp>
        <p:nvSpPr>
          <p:cNvPr id="19" name="Text 17"/>
          <p:cNvSpPr/>
          <p:nvPr/>
        </p:nvSpPr>
        <p:spPr>
          <a:xfrm>
            <a:off x="804672" y="3008376"/>
            <a:ext cx="6665976" cy="256032"/>
          </a:xfrm>
          <a:prstGeom prst="rect">
            <a:avLst/>
          </a:prstGeom>
          <a:noFill/>
          <a:ln/>
        </p:spPr>
        <p:txBody>
          <a:bodyPr wrap="square" lIns="0" tIns="0" rIns="0" bIns="0" rtlCol="0" anchor="ctr"/>
          <a:lstStyle/>
          <a:p>
            <a:pPr indent="0" marL="0">
              <a:buNone/>
            </a:pPr>
            <a:r>
              <a:rPr lang="en-US" sz="1100" b="1" spc="150" kern="0" dirty="0">
                <a:solidFill>
                  <a:srgbClr val="14B8A6"/>
                </a:solidFill>
                <a:latin typeface="Calibri" pitchFamily="34" charset="0"/>
                <a:ea typeface="Calibri" pitchFamily="34" charset="-122"/>
                <a:cs typeface="Calibri" pitchFamily="34" charset="-120"/>
              </a:rPr>
              <a:t>INTERVIEW INSIGHT</a:t>
            </a:r>
            <a:endParaRPr lang="en-US" sz="1100" dirty="0"/>
          </a:p>
        </p:txBody>
      </p:sp>
      <p:sp>
        <p:nvSpPr>
          <p:cNvPr id="20" name="Text 18"/>
          <p:cNvSpPr/>
          <p:nvPr/>
        </p:nvSpPr>
        <p:spPr>
          <a:xfrm>
            <a:off x="804672" y="3282696"/>
            <a:ext cx="6665976" cy="886968"/>
          </a:xfrm>
          <a:prstGeom prst="rect">
            <a:avLst/>
          </a:prstGeom>
          <a:noFill/>
          <a:ln/>
        </p:spPr>
        <p:txBody>
          <a:bodyPr wrap="square" lIns="0" tIns="0" rIns="0" bIns="0" rtlCol="0" anchor="t"/>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Normalization separates data into clean, non-redundant tables. JOINs reconnect that data at query time — without giving up the benefits of normalization. This is one of the most commonly asked conceptual questions in SQL interviews.</a:t>
            </a:r>
            <a:endParaRPr lang="en-US" sz="1250" dirty="0"/>
          </a:p>
        </p:txBody>
      </p:sp>
      <p:sp>
        <p:nvSpPr>
          <p:cNvPr id="21" name="Shape 19"/>
          <p:cNvSpPr/>
          <p:nvPr/>
        </p:nvSpPr>
        <p:spPr>
          <a:xfrm>
            <a:off x="7955280" y="2880360"/>
            <a:ext cx="3566160" cy="3200400"/>
          </a:xfrm>
          <a:prstGeom prst="roundRect">
            <a:avLst>
              <a:gd name="adj" fmla="val 2571"/>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22" name="Text 20"/>
          <p:cNvSpPr/>
          <p:nvPr/>
        </p:nvSpPr>
        <p:spPr>
          <a:xfrm>
            <a:off x="8211312" y="3063240"/>
            <a:ext cx="3108960" cy="274320"/>
          </a:xfrm>
          <a:prstGeom prst="rect">
            <a:avLst/>
          </a:prstGeom>
          <a:noFill/>
          <a:ln/>
        </p:spPr>
        <p:txBody>
          <a:bodyPr wrap="square" lIns="0" tIns="0" rIns="0" bIns="0" rtlCol="0" anchor="ctr"/>
          <a:lstStyle/>
          <a:p>
            <a:pPr indent="0" marL="0">
              <a:buNone/>
            </a:pPr>
            <a:r>
              <a:rPr lang="en-US" sz="1050" b="1" spc="150" kern="0" dirty="0">
                <a:solidFill>
                  <a:srgbClr val="0C7C71"/>
                </a:solidFill>
                <a:latin typeface="Calibri" pitchFamily="34" charset="0"/>
                <a:ea typeface="Calibri" pitchFamily="34" charset="-122"/>
                <a:cs typeface="Calibri" pitchFamily="34" charset="-120"/>
              </a:rPr>
              <a:t>REFERENCE</a:t>
            </a:r>
            <a:endParaRPr lang="en-US" sz="1050" dirty="0"/>
          </a:p>
        </p:txBody>
      </p:sp>
      <p:sp>
        <p:nvSpPr>
          <p:cNvPr id="23" name="Shape 21"/>
          <p:cNvSpPr/>
          <p:nvPr/>
        </p:nvSpPr>
        <p:spPr>
          <a:xfrm>
            <a:off x="8211312" y="3429000"/>
            <a:ext cx="548640" cy="548640"/>
          </a:xfrm>
          <a:prstGeom prst="ellipse">
            <a:avLst/>
          </a:prstGeom>
          <a:solidFill>
            <a:srgbClr val="0B2545"/>
          </a:solidFill>
          <a:ln/>
        </p:spPr>
      </p:sp>
      <p:sp>
        <p:nvSpPr>
          <p:cNvPr id="24" name="Text 22"/>
          <p:cNvSpPr/>
          <p:nvPr/>
        </p:nvSpPr>
        <p:spPr>
          <a:xfrm>
            <a:off x="8211312" y="34290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a:t>
            </a:r>
            <a:endParaRPr lang="en-US" sz="1800" dirty="0"/>
          </a:p>
        </p:txBody>
      </p:sp>
      <p:sp>
        <p:nvSpPr>
          <p:cNvPr id="25" name="Text 23"/>
          <p:cNvSpPr/>
          <p:nvPr/>
        </p:nvSpPr>
        <p:spPr>
          <a:xfrm>
            <a:off x="8915400" y="3429000"/>
            <a:ext cx="2377440" cy="274320"/>
          </a:xfrm>
          <a:prstGeom prst="rect">
            <a:avLst/>
          </a:prstGeom>
          <a:noFill/>
          <a:ln/>
        </p:spPr>
        <p:txBody>
          <a:bodyPr wrap="square" lIns="0" tIns="0" rIns="0" bIns="0" rtlCol="0" anchor="ctr"/>
          <a:lstStyle/>
          <a:p>
            <a:pPr indent="0" marL="0">
              <a:buNone/>
            </a:pPr>
            <a:r>
              <a:rPr lang="en-US" sz="1250" b="1" dirty="0">
                <a:solidFill>
                  <a:srgbClr val="112036"/>
                </a:solidFill>
                <a:latin typeface="Calibri" pitchFamily="34" charset="0"/>
                <a:ea typeface="Calibri" pitchFamily="34" charset="-122"/>
                <a:cs typeface="Calibri" pitchFamily="34" charset="-120"/>
              </a:rPr>
              <a:t>Day 7 Concept Notes</a:t>
            </a:r>
            <a:endParaRPr lang="en-US" sz="1250" dirty="0"/>
          </a:p>
        </p:txBody>
      </p:sp>
      <p:sp>
        <p:nvSpPr>
          <p:cNvPr id="26" name="Text 24"/>
          <p:cNvSpPr/>
          <p:nvPr/>
        </p:nvSpPr>
        <p:spPr>
          <a:xfrm>
            <a:off x="8915400" y="3703320"/>
            <a:ext cx="2377440" cy="457200"/>
          </a:xfrm>
          <a:prstGeom prst="rect">
            <a:avLst/>
          </a:prstGeom>
          <a:noFill/>
          <a:ln/>
        </p:spPr>
        <p:txBody>
          <a:bodyPr wrap="square" lIns="0" tIns="0" rIns="0" bIns="0" rtlCol="0" anchor="ctr"/>
          <a:lstStyle/>
          <a:p>
            <a:pPr indent="0" marL="0">
              <a:buNone/>
            </a:pPr>
            <a:r>
              <a:rPr lang="en-US" sz="1050" dirty="0">
                <a:solidFill>
                  <a:srgbClr val="62728A"/>
                </a:solidFill>
                <a:latin typeface="Calibri" pitchFamily="34" charset="0"/>
                <a:ea typeface="Calibri" pitchFamily="34" charset="-122"/>
                <a:cs typeface="Calibri" pitchFamily="34" charset="-120"/>
              </a:rPr>
              <a:t>DAY_10_SQL_JOINS_</a:t>
            </a:r>
            <a:endParaRPr lang="en-US" sz="1050" dirty="0"/>
          </a:p>
          <a:p>
            <a:pPr indent="0" marL="0">
              <a:buNone/>
            </a:pPr>
            <a:r>
              <a:rPr lang="en-US" sz="1050" dirty="0">
                <a:solidFill>
                  <a:srgbClr val="62728A"/>
                </a:solidFill>
                <a:latin typeface="Calibri" pitchFamily="34" charset="0"/>
                <a:ea typeface="Calibri" pitchFamily="34" charset="-122"/>
                <a:cs typeface="Calibri" pitchFamily="34" charset="-120"/>
              </a:rPr>
              <a:t>CONCEPT_NOTES.docx</a:t>
            </a:r>
            <a:endParaRPr lang="en-US" sz="1050" dirty="0"/>
          </a:p>
        </p:txBody>
      </p:sp>
      <p:sp>
        <p:nvSpPr>
          <p:cNvPr id="27" name="Text 25"/>
          <p:cNvSpPr/>
          <p:nvPr/>
        </p:nvSpPr>
        <p:spPr>
          <a:xfrm>
            <a:off x="8211312" y="4343400"/>
            <a:ext cx="3108960" cy="1554480"/>
          </a:xfrm>
          <a:prstGeom prst="rect">
            <a:avLst/>
          </a:prstGeom>
          <a:noFill/>
          <a:ln/>
        </p:spPr>
        <p:txBody>
          <a:bodyPr wrap="square" lIns="0" tIns="0" rIns="0" bIns="0" rtlCol="0" anchor="ctr"/>
          <a:lstStyle/>
          <a:p>
            <a:pPr indent="0" marL="0">
              <a:lnSpc>
                <a:spcPct val="120000"/>
              </a:lnSpc>
              <a:buNone/>
            </a:pPr>
            <a:r>
              <a:rPr lang="en-US" sz="1150" dirty="0">
                <a:solidFill>
                  <a:srgbClr val="112036"/>
                </a:solidFill>
                <a:latin typeface="Calibri" pitchFamily="34" charset="0"/>
                <a:ea typeface="Calibri" pitchFamily="34" charset="-122"/>
                <a:cs typeface="Calibri" pitchFamily="34" charset="-120"/>
              </a:rPr>
              <a:t>Use the concept notes as your primary reference for every definition introduced across this deck.</a:t>
            </a:r>
            <a:endParaRPr lang="en-US" sz="1150" dirty="0"/>
          </a:p>
        </p:txBody>
      </p:sp>
      <p:sp>
        <p:nvSpPr>
          <p:cNvPr id="28" name="Text 26"/>
          <p:cNvSpPr/>
          <p:nvPr/>
        </p:nvSpPr>
        <p:spPr>
          <a:xfrm>
            <a:off x="457200" y="6528816"/>
            <a:ext cx="6400800" cy="274320"/>
          </a:xfrm>
          <a:prstGeom prst="rect">
            <a:avLst/>
          </a:prstGeom>
          <a:noFill/>
          <a:ln/>
        </p:spPr>
        <p:txBody>
          <a:bodyPr wrap="square" rtlCol="0" anchor="ctr"/>
          <a:lstStyle/>
          <a:p>
            <a:pPr algn="l" indent="0" marL="0">
              <a:buNone/>
            </a:pPr>
            <a:r>
              <a:rPr lang="en-US" sz="900" i="1" dirty="0">
                <a:solidFill>
                  <a:srgbClr val="62728A"/>
                </a:solidFill>
                <a:latin typeface="Calibri" pitchFamily="34" charset="0"/>
                <a:ea typeface="Calibri" pitchFamily="34" charset="-122"/>
                <a:cs typeface="Calibri" pitchFamily="34" charset="-120"/>
              </a:rPr>
              <a:t>Shalinee Priya   |   Data Analyst  ·  SQL Trainer</a:t>
            </a:r>
            <a:endParaRPr lang="en-US" sz="900" dirty="0"/>
          </a:p>
        </p:txBody>
      </p:sp>
      <p:sp>
        <p:nvSpPr>
          <p:cNvPr id="29" name="Shape 27"/>
          <p:cNvSpPr/>
          <p:nvPr/>
        </p:nvSpPr>
        <p:spPr>
          <a:xfrm>
            <a:off x="10561320" y="6510528"/>
            <a:ext cx="1170432" cy="292608"/>
          </a:xfrm>
          <a:prstGeom prst="rect">
            <a:avLst>
              <a:gd name="adj" fmla="val 50000"/>
            </a:avLst>
          </a:prstGeom>
          <a:solidFill>
            <a:srgbClr val="0B2545"/>
          </a:solidFill>
          <a:ln/>
        </p:spPr>
      </p:sp>
      <p:sp>
        <p:nvSpPr>
          <p:cNvPr id="30" name="Text 28"/>
          <p:cNvSpPr/>
          <p:nvPr/>
        </p:nvSpPr>
        <p:spPr>
          <a:xfrm>
            <a:off x="10561320" y="6510528"/>
            <a:ext cx="11704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3/10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algn="l" indent="0" marL="0">
              <a:buNone/>
            </a:pPr>
            <a:r>
              <a:rPr lang="en-US" sz="1200" b="1" spc="200" kern="0" dirty="0">
                <a:solidFill>
                  <a:srgbClr val="0C7C71"/>
                </a:solidFill>
                <a:latin typeface="Calibri" pitchFamily="34" charset="0"/>
                <a:ea typeface="Calibri" pitchFamily="34" charset="-122"/>
                <a:cs typeface="Calibri" pitchFamily="34" charset="-120"/>
              </a:rPr>
              <a:t>HERO VISUALIZATION</a:t>
            </a:r>
            <a:endParaRPr lang="en-US" sz="1200" dirty="0"/>
          </a:p>
        </p:txBody>
      </p:sp>
      <p:sp>
        <p:nvSpPr>
          <p:cNvPr id="3" name="Text 1"/>
          <p:cNvSpPr/>
          <p:nvPr/>
        </p:nvSpPr>
        <p:spPr>
          <a:xfrm>
            <a:off x="530352" y="530352"/>
            <a:ext cx="10607040" cy="566928"/>
          </a:xfrm>
          <a:prstGeom prst="rect">
            <a:avLst/>
          </a:prstGeom>
          <a:noFill/>
          <a:ln/>
        </p:spPr>
        <p:txBody>
          <a:bodyPr wrap="square" lIns="0" tIns="0" rIns="0" bIns="0"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Why SQL JOINs?</a:t>
            </a:r>
            <a:endParaRPr lang="en-US" sz="3000" dirty="0"/>
          </a:p>
        </p:txBody>
      </p:sp>
      <p:sp>
        <p:nvSpPr>
          <p:cNvPr id="4" name="Shape 2"/>
          <p:cNvSpPr/>
          <p:nvPr/>
        </p:nvSpPr>
        <p:spPr>
          <a:xfrm>
            <a:off x="548640" y="1691640"/>
            <a:ext cx="3063240" cy="777240"/>
          </a:xfrm>
          <a:prstGeom prst="roundRect">
            <a:avLst>
              <a:gd name="adj" fmla="val 10588"/>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5" name="Shape 3"/>
          <p:cNvSpPr/>
          <p:nvPr/>
        </p:nvSpPr>
        <p:spPr>
          <a:xfrm>
            <a:off x="731520" y="1860804"/>
            <a:ext cx="438912" cy="438912"/>
          </a:xfrm>
          <a:prstGeom prst="ellipse">
            <a:avLst/>
          </a:prstGeom>
          <a:solidFill>
            <a:srgbClr val="1B3F73"/>
          </a:solidFill>
          <a:ln/>
        </p:spPr>
      </p:sp>
      <p:sp>
        <p:nvSpPr>
          <p:cNvPr id="6" name="Text 4"/>
          <p:cNvSpPr/>
          <p:nvPr/>
        </p:nvSpPr>
        <p:spPr>
          <a:xfrm>
            <a:off x="731520" y="186080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7" name="Text 5"/>
          <p:cNvSpPr/>
          <p:nvPr/>
        </p:nvSpPr>
        <p:spPr>
          <a:xfrm>
            <a:off x="1325880" y="1691640"/>
            <a:ext cx="2148840" cy="777240"/>
          </a:xfrm>
          <a:prstGeom prst="rect">
            <a:avLst/>
          </a:prstGeom>
          <a:noFill/>
          <a:ln/>
        </p:spPr>
        <p:txBody>
          <a:bodyPr wrap="square" lIns="0" tIns="0" rIns="0" bIns="0" rtlCol="0" anchor="ctr"/>
          <a:lstStyle/>
          <a:p>
            <a:pPr indent="0" marL="0">
              <a:buNone/>
            </a:pPr>
            <a:r>
              <a:rPr lang="en-US" sz="1500" b="1" dirty="0">
                <a:solidFill>
                  <a:srgbClr val="112036"/>
                </a:solidFill>
                <a:latin typeface="Calibri" pitchFamily="34" charset="0"/>
                <a:ea typeface="Calibri" pitchFamily="34" charset="-122"/>
                <a:cs typeface="Calibri" pitchFamily="34" charset="-120"/>
              </a:rPr>
              <a:t>Customers</a:t>
            </a:r>
            <a:endParaRPr lang="en-US" sz="1500" dirty="0"/>
          </a:p>
        </p:txBody>
      </p:sp>
      <p:sp>
        <p:nvSpPr>
          <p:cNvPr id="8" name="Shape 6"/>
          <p:cNvSpPr/>
          <p:nvPr/>
        </p:nvSpPr>
        <p:spPr>
          <a:xfrm>
            <a:off x="548640" y="2651760"/>
            <a:ext cx="3063240" cy="777240"/>
          </a:xfrm>
          <a:prstGeom prst="roundRect">
            <a:avLst>
              <a:gd name="adj" fmla="val 10588"/>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9" name="Shape 7"/>
          <p:cNvSpPr/>
          <p:nvPr/>
        </p:nvSpPr>
        <p:spPr>
          <a:xfrm>
            <a:off x="731520" y="2820924"/>
            <a:ext cx="438912" cy="438912"/>
          </a:xfrm>
          <a:prstGeom prst="ellipse">
            <a:avLst/>
          </a:prstGeom>
          <a:solidFill>
            <a:srgbClr val="1B3F73"/>
          </a:solidFill>
          <a:ln/>
        </p:spPr>
      </p:sp>
      <p:sp>
        <p:nvSpPr>
          <p:cNvPr id="10" name="Text 8"/>
          <p:cNvSpPr/>
          <p:nvPr/>
        </p:nvSpPr>
        <p:spPr>
          <a:xfrm>
            <a:off x="731520" y="282092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a:t>
            </a:r>
            <a:endParaRPr lang="en-US" sz="1400" dirty="0"/>
          </a:p>
        </p:txBody>
      </p:sp>
      <p:sp>
        <p:nvSpPr>
          <p:cNvPr id="11" name="Text 9"/>
          <p:cNvSpPr/>
          <p:nvPr/>
        </p:nvSpPr>
        <p:spPr>
          <a:xfrm>
            <a:off x="1325880" y="2651760"/>
            <a:ext cx="2148840" cy="777240"/>
          </a:xfrm>
          <a:prstGeom prst="rect">
            <a:avLst/>
          </a:prstGeom>
          <a:noFill/>
          <a:ln/>
        </p:spPr>
        <p:txBody>
          <a:bodyPr wrap="square" lIns="0" tIns="0" rIns="0" bIns="0" rtlCol="0" anchor="ctr"/>
          <a:lstStyle/>
          <a:p>
            <a:pPr indent="0" marL="0">
              <a:buNone/>
            </a:pPr>
            <a:r>
              <a:rPr lang="en-US" sz="1500" b="1" dirty="0">
                <a:solidFill>
                  <a:srgbClr val="112036"/>
                </a:solidFill>
                <a:latin typeface="Calibri" pitchFamily="34" charset="0"/>
                <a:ea typeface="Calibri" pitchFamily="34" charset="-122"/>
                <a:cs typeface="Calibri" pitchFamily="34" charset="-120"/>
              </a:rPr>
              <a:t>Orders</a:t>
            </a:r>
            <a:endParaRPr lang="en-US" sz="1500" dirty="0"/>
          </a:p>
        </p:txBody>
      </p:sp>
      <p:sp>
        <p:nvSpPr>
          <p:cNvPr id="12" name="Shape 10"/>
          <p:cNvSpPr/>
          <p:nvPr/>
        </p:nvSpPr>
        <p:spPr>
          <a:xfrm>
            <a:off x="548640" y="3611880"/>
            <a:ext cx="3063240" cy="777240"/>
          </a:xfrm>
          <a:prstGeom prst="roundRect">
            <a:avLst>
              <a:gd name="adj" fmla="val 10588"/>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13" name="Shape 11"/>
          <p:cNvSpPr/>
          <p:nvPr/>
        </p:nvSpPr>
        <p:spPr>
          <a:xfrm>
            <a:off x="731520" y="3781044"/>
            <a:ext cx="438912" cy="438912"/>
          </a:xfrm>
          <a:prstGeom prst="ellipse">
            <a:avLst/>
          </a:prstGeom>
          <a:solidFill>
            <a:srgbClr val="1B3F73"/>
          </a:solidFill>
          <a:ln/>
        </p:spPr>
      </p:sp>
      <p:sp>
        <p:nvSpPr>
          <p:cNvPr id="14" name="Text 12"/>
          <p:cNvSpPr/>
          <p:nvPr/>
        </p:nvSpPr>
        <p:spPr>
          <a:xfrm>
            <a:off x="731520" y="378104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t>
            </a:r>
            <a:endParaRPr lang="en-US" sz="1400" dirty="0"/>
          </a:p>
        </p:txBody>
      </p:sp>
      <p:sp>
        <p:nvSpPr>
          <p:cNvPr id="15" name="Text 13"/>
          <p:cNvSpPr/>
          <p:nvPr/>
        </p:nvSpPr>
        <p:spPr>
          <a:xfrm>
            <a:off x="1325880" y="3611880"/>
            <a:ext cx="2148840" cy="777240"/>
          </a:xfrm>
          <a:prstGeom prst="rect">
            <a:avLst/>
          </a:prstGeom>
          <a:noFill/>
          <a:ln/>
        </p:spPr>
        <p:txBody>
          <a:bodyPr wrap="square" lIns="0" tIns="0" rIns="0" bIns="0" rtlCol="0" anchor="ctr"/>
          <a:lstStyle/>
          <a:p>
            <a:pPr indent="0" marL="0">
              <a:buNone/>
            </a:pPr>
            <a:r>
              <a:rPr lang="en-US" sz="1500" b="1" dirty="0">
                <a:solidFill>
                  <a:srgbClr val="112036"/>
                </a:solidFill>
                <a:latin typeface="Calibri" pitchFamily="34" charset="0"/>
                <a:ea typeface="Calibri" pitchFamily="34" charset="-122"/>
                <a:cs typeface="Calibri" pitchFamily="34" charset="-120"/>
              </a:rPr>
              <a:t>Products</a:t>
            </a:r>
            <a:endParaRPr lang="en-US" sz="1500" dirty="0"/>
          </a:p>
        </p:txBody>
      </p:sp>
      <p:sp>
        <p:nvSpPr>
          <p:cNvPr id="16" name="Text 14"/>
          <p:cNvSpPr/>
          <p:nvPr/>
        </p:nvSpPr>
        <p:spPr>
          <a:xfrm>
            <a:off x="548640" y="1325880"/>
            <a:ext cx="3063240" cy="274320"/>
          </a:xfrm>
          <a:prstGeom prst="rect">
            <a:avLst/>
          </a:prstGeom>
          <a:noFill/>
          <a:ln/>
        </p:spPr>
        <p:txBody>
          <a:bodyPr wrap="square" lIns="0" tIns="0" rIns="0" bIns="0" rtlCol="0" anchor="ctr"/>
          <a:lstStyle/>
          <a:p>
            <a:pPr indent="0" marL="0">
              <a:buNone/>
            </a:pPr>
            <a:r>
              <a:rPr lang="en-US" sz="1150" b="1" spc="100" kern="0" dirty="0">
                <a:solidFill>
                  <a:srgbClr val="62728A"/>
                </a:solidFill>
                <a:latin typeface="Calibri" pitchFamily="34" charset="0"/>
                <a:ea typeface="Calibri" pitchFamily="34" charset="-122"/>
                <a:cs typeface="Calibri" pitchFamily="34" charset="-120"/>
              </a:rPr>
              <a:t>Separate, Normalized Tables</a:t>
            </a:r>
            <a:endParaRPr lang="en-US" sz="1150" dirty="0"/>
          </a:p>
        </p:txBody>
      </p:sp>
      <p:sp>
        <p:nvSpPr>
          <p:cNvPr id="17" name="Shape 15"/>
          <p:cNvSpPr/>
          <p:nvPr/>
        </p:nvSpPr>
        <p:spPr>
          <a:xfrm>
            <a:off x="3977640" y="2560320"/>
            <a:ext cx="914400" cy="914400"/>
          </a:xfrm>
          <a:prstGeom prst="ellipse">
            <a:avLst/>
          </a:prstGeom>
          <a:solidFill>
            <a:srgbClr val="14B8A6">
              <a:alpha val="65000"/>
            </a:srgbClr>
          </a:solidFill>
          <a:ln w="19050">
            <a:solidFill>
              <a:srgbClr val="14B8A6"/>
            </a:solidFill>
            <a:prstDash val="solid"/>
          </a:ln>
        </p:spPr>
      </p:sp>
      <p:sp>
        <p:nvSpPr>
          <p:cNvPr id="18" name="Shape 16"/>
          <p:cNvSpPr/>
          <p:nvPr/>
        </p:nvSpPr>
        <p:spPr>
          <a:xfrm>
            <a:off x="4480560" y="2560320"/>
            <a:ext cx="914400" cy="914400"/>
          </a:xfrm>
          <a:prstGeom prst="ellipse">
            <a:avLst/>
          </a:prstGeom>
          <a:solidFill>
            <a:srgbClr val="1B3F73">
              <a:alpha val="65000"/>
            </a:srgbClr>
          </a:solidFill>
          <a:ln w="19050">
            <a:solidFill>
              <a:srgbClr val="1B3F73"/>
            </a:solidFill>
            <a:prstDash val="solid"/>
          </a:ln>
        </p:spPr>
      </p:sp>
      <p:sp>
        <p:nvSpPr>
          <p:cNvPr id="19" name="Text 17"/>
          <p:cNvSpPr/>
          <p:nvPr/>
        </p:nvSpPr>
        <p:spPr>
          <a:xfrm>
            <a:off x="3776472" y="2862072"/>
            <a:ext cx="13716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JOIN</a:t>
            </a:r>
            <a:endParaRPr lang="en-US" sz="1400" dirty="0"/>
          </a:p>
        </p:txBody>
      </p:sp>
      <p:sp>
        <p:nvSpPr>
          <p:cNvPr id="20" name="Text 18"/>
          <p:cNvSpPr/>
          <p:nvPr/>
        </p:nvSpPr>
        <p:spPr>
          <a:xfrm>
            <a:off x="5532120" y="1325880"/>
            <a:ext cx="6080760" cy="274320"/>
          </a:xfrm>
          <a:prstGeom prst="rect">
            <a:avLst/>
          </a:prstGeom>
          <a:noFill/>
          <a:ln/>
        </p:spPr>
        <p:txBody>
          <a:bodyPr wrap="square" lIns="0" tIns="0" rIns="0" bIns="0" rtlCol="0" anchor="ctr"/>
          <a:lstStyle/>
          <a:p>
            <a:pPr indent="0" marL="0">
              <a:buNone/>
            </a:pPr>
            <a:r>
              <a:rPr lang="en-US" sz="1150" b="1" spc="100" kern="0" dirty="0">
                <a:solidFill>
                  <a:srgbClr val="62728A"/>
                </a:solidFill>
                <a:latin typeface="Calibri" pitchFamily="34" charset="0"/>
                <a:ea typeface="Calibri" pitchFamily="34" charset="-122"/>
                <a:cs typeface="Calibri" pitchFamily="34" charset="-120"/>
              </a:rPr>
              <a:t>One Business Report</a:t>
            </a:r>
            <a:endParaRPr lang="en-US" sz="1150" dirty="0"/>
          </a:p>
        </p:txBody>
      </p:sp>
      <p:sp>
        <p:nvSpPr>
          <p:cNvPr id="21" name="Shape 19"/>
          <p:cNvSpPr/>
          <p:nvPr/>
        </p:nvSpPr>
        <p:spPr>
          <a:xfrm>
            <a:off x="5532120" y="1691640"/>
            <a:ext cx="6080760" cy="2697480"/>
          </a:xfrm>
          <a:prstGeom prst="roundRect">
            <a:avLst>
              <a:gd name="adj" fmla="val 3051"/>
            </a:avLst>
          </a:prstGeom>
          <a:solidFill>
            <a:srgbClr val="FFFFFF"/>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22" name="Shape 20"/>
          <p:cNvSpPr/>
          <p:nvPr/>
        </p:nvSpPr>
        <p:spPr>
          <a:xfrm>
            <a:off x="5806440" y="1892808"/>
            <a:ext cx="1828800" cy="384048"/>
          </a:xfrm>
          <a:prstGeom prst="rect">
            <a:avLst/>
          </a:prstGeom>
          <a:solidFill>
            <a:srgbClr val="0B2545"/>
          </a:solidFill>
          <a:ln/>
        </p:spPr>
      </p:sp>
      <p:sp>
        <p:nvSpPr>
          <p:cNvPr id="23" name="Text 21"/>
          <p:cNvSpPr/>
          <p:nvPr/>
        </p:nvSpPr>
        <p:spPr>
          <a:xfrm>
            <a:off x="5806440" y="1892808"/>
            <a:ext cx="18288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Customer</a:t>
            </a:r>
            <a:endParaRPr lang="en-US" sz="1200" dirty="0"/>
          </a:p>
        </p:txBody>
      </p:sp>
      <p:sp>
        <p:nvSpPr>
          <p:cNvPr id="24" name="Shape 22"/>
          <p:cNvSpPr/>
          <p:nvPr/>
        </p:nvSpPr>
        <p:spPr>
          <a:xfrm>
            <a:off x="7635240" y="1892808"/>
            <a:ext cx="1828800" cy="384048"/>
          </a:xfrm>
          <a:prstGeom prst="rect">
            <a:avLst/>
          </a:prstGeom>
          <a:solidFill>
            <a:srgbClr val="0B2545"/>
          </a:solidFill>
          <a:ln/>
        </p:spPr>
      </p:sp>
      <p:sp>
        <p:nvSpPr>
          <p:cNvPr id="25" name="Text 23"/>
          <p:cNvSpPr/>
          <p:nvPr/>
        </p:nvSpPr>
        <p:spPr>
          <a:xfrm>
            <a:off x="7635240" y="1892808"/>
            <a:ext cx="18288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Order</a:t>
            </a:r>
            <a:endParaRPr lang="en-US" sz="1200" dirty="0"/>
          </a:p>
        </p:txBody>
      </p:sp>
      <p:sp>
        <p:nvSpPr>
          <p:cNvPr id="26" name="Shape 24"/>
          <p:cNvSpPr/>
          <p:nvPr/>
        </p:nvSpPr>
        <p:spPr>
          <a:xfrm>
            <a:off x="9464040" y="1892808"/>
            <a:ext cx="1828800" cy="384048"/>
          </a:xfrm>
          <a:prstGeom prst="rect">
            <a:avLst/>
          </a:prstGeom>
          <a:solidFill>
            <a:srgbClr val="0B2545"/>
          </a:solidFill>
          <a:ln/>
        </p:spPr>
      </p:sp>
      <p:sp>
        <p:nvSpPr>
          <p:cNvPr id="27" name="Text 25"/>
          <p:cNvSpPr/>
          <p:nvPr/>
        </p:nvSpPr>
        <p:spPr>
          <a:xfrm>
            <a:off x="9464040" y="1892808"/>
            <a:ext cx="18288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Product</a:t>
            </a:r>
            <a:endParaRPr lang="en-US" sz="1200" dirty="0"/>
          </a:p>
        </p:txBody>
      </p:sp>
      <p:sp>
        <p:nvSpPr>
          <p:cNvPr id="28" name="Shape 26"/>
          <p:cNvSpPr/>
          <p:nvPr/>
        </p:nvSpPr>
        <p:spPr>
          <a:xfrm>
            <a:off x="5806440" y="2276856"/>
            <a:ext cx="1828800" cy="420624"/>
          </a:xfrm>
          <a:prstGeom prst="rect">
            <a:avLst/>
          </a:prstGeom>
          <a:solidFill>
            <a:srgbClr val="FFFFFF"/>
          </a:solidFill>
          <a:ln w="9525">
            <a:solidFill>
              <a:srgbClr val="E7ECF1"/>
            </a:solidFill>
            <a:prstDash val="solid"/>
          </a:ln>
        </p:spPr>
      </p:sp>
      <p:sp>
        <p:nvSpPr>
          <p:cNvPr id="29" name="Text 27"/>
          <p:cNvSpPr/>
          <p:nvPr/>
        </p:nvSpPr>
        <p:spPr>
          <a:xfrm>
            <a:off x="5806440" y="2276856"/>
            <a:ext cx="1828800" cy="420624"/>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Amit Sharma</a:t>
            </a:r>
            <a:endParaRPr lang="en-US" sz="1150" dirty="0"/>
          </a:p>
        </p:txBody>
      </p:sp>
      <p:sp>
        <p:nvSpPr>
          <p:cNvPr id="30" name="Shape 28"/>
          <p:cNvSpPr/>
          <p:nvPr/>
        </p:nvSpPr>
        <p:spPr>
          <a:xfrm>
            <a:off x="7635240" y="2276856"/>
            <a:ext cx="1828800" cy="420624"/>
          </a:xfrm>
          <a:prstGeom prst="rect">
            <a:avLst/>
          </a:prstGeom>
          <a:solidFill>
            <a:srgbClr val="FFFFFF"/>
          </a:solidFill>
          <a:ln w="9525">
            <a:solidFill>
              <a:srgbClr val="E7ECF1"/>
            </a:solidFill>
            <a:prstDash val="solid"/>
          </a:ln>
        </p:spPr>
      </p:sp>
      <p:sp>
        <p:nvSpPr>
          <p:cNvPr id="31" name="Text 29"/>
          <p:cNvSpPr/>
          <p:nvPr/>
        </p:nvSpPr>
        <p:spPr>
          <a:xfrm>
            <a:off x="7635240" y="2276856"/>
            <a:ext cx="1828800" cy="420624"/>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1001</a:t>
            </a:r>
            <a:endParaRPr lang="en-US" sz="1150" dirty="0"/>
          </a:p>
        </p:txBody>
      </p:sp>
      <p:sp>
        <p:nvSpPr>
          <p:cNvPr id="32" name="Shape 30"/>
          <p:cNvSpPr/>
          <p:nvPr/>
        </p:nvSpPr>
        <p:spPr>
          <a:xfrm>
            <a:off x="9464040" y="2276856"/>
            <a:ext cx="1828800" cy="420624"/>
          </a:xfrm>
          <a:prstGeom prst="rect">
            <a:avLst/>
          </a:prstGeom>
          <a:solidFill>
            <a:srgbClr val="FFFFFF"/>
          </a:solidFill>
          <a:ln w="9525">
            <a:solidFill>
              <a:srgbClr val="E7ECF1"/>
            </a:solidFill>
            <a:prstDash val="solid"/>
          </a:ln>
        </p:spPr>
      </p:sp>
      <p:sp>
        <p:nvSpPr>
          <p:cNvPr id="33" name="Text 31"/>
          <p:cNvSpPr/>
          <p:nvPr/>
        </p:nvSpPr>
        <p:spPr>
          <a:xfrm>
            <a:off x="9464040" y="2276856"/>
            <a:ext cx="1828800" cy="420624"/>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Laptop</a:t>
            </a:r>
            <a:endParaRPr lang="en-US" sz="1150" dirty="0"/>
          </a:p>
        </p:txBody>
      </p:sp>
      <p:sp>
        <p:nvSpPr>
          <p:cNvPr id="34" name="Shape 32"/>
          <p:cNvSpPr/>
          <p:nvPr/>
        </p:nvSpPr>
        <p:spPr>
          <a:xfrm>
            <a:off x="5806440" y="2697480"/>
            <a:ext cx="1828800" cy="420624"/>
          </a:xfrm>
          <a:prstGeom prst="rect">
            <a:avLst/>
          </a:prstGeom>
          <a:solidFill>
            <a:srgbClr val="F3F6F9"/>
          </a:solidFill>
          <a:ln w="9525">
            <a:solidFill>
              <a:srgbClr val="E7ECF1"/>
            </a:solidFill>
            <a:prstDash val="solid"/>
          </a:ln>
        </p:spPr>
      </p:sp>
      <p:sp>
        <p:nvSpPr>
          <p:cNvPr id="35" name="Text 33"/>
          <p:cNvSpPr/>
          <p:nvPr/>
        </p:nvSpPr>
        <p:spPr>
          <a:xfrm>
            <a:off x="5806440" y="2697480"/>
            <a:ext cx="1828800" cy="420624"/>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Priya Singh</a:t>
            </a:r>
            <a:endParaRPr lang="en-US" sz="1150" dirty="0"/>
          </a:p>
        </p:txBody>
      </p:sp>
      <p:sp>
        <p:nvSpPr>
          <p:cNvPr id="36" name="Shape 34"/>
          <p:cNvSpPr/>
          <p:nvPr/>
        </p:nvSpPr>
        <p:spPr>
          <a:xfrm>
            <a:off x="7635240" y="2697480"/>
            <a:ext cx="1828800" cy="420624"/>
          </a:xfrm>
          <a:prstGeom prst="rect">
            <a:avLst/>
          </a:prstGeom>
          <a:solidFill>
            <a:srgbClr val="F3F6F9"/>
          </a:solidFill>
          <a:ln w="9525">
            <a:solidFill>
              <a:srgbClr val="E7ECF1"/>
            </a:solidFill>
            <a:prstDash val="solid"/>
          </a:ln>
        </p:spPr>
      </p:sp>
      <p:sp>
        <p:nvSpPr>
          <p:cNvPr id="37" name="Text 35"/>
          <p:cNvSpPr/>
          <p:nvPr/>
        </p:nvSpPr>
        <p:spPr>
          <a:xfrm>
            <a:off x="7635240" y="2697480"/>
            <a:ext cx="1828800" cy="420624"/>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1002</a:t>
            </a:r>
            <a:endParaRPr lang="en-US" sz="1150" dirty="0"/>
          </a:p>
        </p:txBody>
      </p:sp>
      <p:sp>
        <p:nvSpPr>
          <p:cNvPr id="38" name="Shape 36"/>
          <p:cNvSpPr/>
          <p:nvPr/>
        </p:nvSpPr>
        <p:spPr>
          <a:xfrm>
            <a:off x="9464040" y="2697480"/>
            <a:ext cx="1828800" cy="420624"/>
          </a:xfrm>
          <a:prstGeom prst="rect">
            <a:avLst/>
          </a:prstGeom>
          <a:solidFill>
            <a:srgbClr val="F3F6F9"/>
          </a:solidFill>
          <a:ln w="9525">
            <a:solidFill>
              <a:srgbClr val="E7ECF1"/>
            </a:solidFill>
            <a:prstDash val="solid"/>
          </a:ln>
        </p:spPr>
      </p:sp>
      <p:sp>
        <p:nvSpPr>
          <p:cNvPr id="39" name="Text 37"/>
          <p:cNvSpPr/>
          <p:nvPr/>
        </p:nvSpPr>
        <p:spPr>
          <a:xfrm>
            <a:off x="9464040" y="2697480"/>
            <a:ext cx="1828800" cy="420624"/>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Keyboard</a:t>
            </a:r>
            <a:endParaRPr lang="en-US" sz="1150" dirty="0"/>
          </a:p>
        </p:txBody>
      </p:sp>
      <p:sp>
        <p:nvSpPr>
          <p:cNvPr id="40" name="Shape 38"/>
          <p:cNvSpPr/>
          <p:nvPr/>
        </p:nvSpPr>
        <p:spPr>
          <a:xfrm>
            <a:off x="5806440" y="3118104"/>
            <a:ext cx="1828800" cy="420624"/>
          </a:xfrm>
          <a:prstGeom prst="rect">
            <a:avLst/>
          </a:prstGeom>
          <a:solidFill>
            <a:srgbClr val="FFFFFF"/>
          </a:solidFill>
          <a:ln w="9525">
            <a:solidFill>
              <a:srgbClr val="E7ECF1"/>
            </a:solidFill>
            <a:prstDash val="solid"/>
          </a:ln>
        </p:spPr>
      </p:sp>
      <p:sp>
        <p:nvSpPr>
          <p:cNvPr id="41" name="Text 39"/>
          <p:cNvSpPr/>
          <p:nvPr/>
        </p:nvSpPr>
        <p:spPr>
          <a:xfrm>
            <a:off x="5806440" y="3118104"/>
            <a:ext cx="1828800" cy="420624"/>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Rahul Verma</a:t>
            </a:r>
            <a:endParaRPr lang="en-US" sz="1150" dirty="0"/>
          </a:p>
        </p:txBody>
      </p:sp>
      <p:sp>
        <p:nvSpPr>
          <p:cNvPr id="42" name="Shape 40"/>
          <p:cNvSpPr/>
          <p:nvPr/>
        </p:nvSpPr>
        <p:spPr>
          <a:xfrm>
            <a:off x="7635240" y="3118104"/>
            <a:ext cx="1828800" cy="420624"/>
          </a:xfrm>
          <a:prstGeom prst="rect">
            <a:avLst/>
          </a:prstGeom>
          <a:solidFill>
            <a:srgbClr val="FFFFFF"/>
          </a:solidFill>
          <a:ln w="9525">
            <a:solidFill>
              <a:srgbClr val="E7ECF1"/>
            </a:solidFill>
            <a:prstDash val="solid"/>
          </a:ln>
        </p:spPr>
      </p:sp>
      <p:sp>
        <p:nvSpPr>
          <p:cNvPr id="43" name="Text 41"/>
          <p:cNvSpPr/>
          <p:nvPr/>
        </p:nvSpPr>
        <p:spPr>
          <a:xfrm>
            <a:off x="7635240" y="3118104"/>
            <a:ext cx="1828800" cy="420624"/>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1003</a:t>
            </a:r>
            <a:endParaRPr lang="en-US" sz="1150" dirty="0"/>
          </a:p>
        </p:txBody>
      </p:sp>
      <p:sp>
        <p:nvSpPr>
          <p:cNvPr id="44" name="Shape 42"/>
          <p:cNvSpPr/>
          <p:nvPr/>
        </p:nvSpPr>
        <p:spPr>
          <a:xfrm>
            <a:off x="9464040" y="3118104"/>
            <a:ext cx="1828800" cy="420624"/>
          </a:xfrm>
          <a:prstGeom prst="rect">
            <a:avLst/>
          </a:prstGeom>
          <a:solidFill>
            <a:srgbClr val="FFFFFF"/>
          </a:solidFill>
          <a:ln w="9525">
            <a:solidFill>
              <a:srgbClr val="E7ECF1"/>
            </a:solidFill>
            <a:prstDash val="solid"/>
          </a:ln>
        </p:spPr>
      </p:sp>
      <p:sp>
        <p:nvSpPr>
          <p:cNvPr id="45" name="Text 43"/>
          <p:cNvSpPr/>
          <p:nvPr/>
        </p:nvSpPr>
        <p:spPr>
          <a:xfrm>
            <a:off x="9464040" y="3118104"/>
            <a:ext cx="1828800" cy="420624"/>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Office Chair</a:t>
            </a:r>
            <a:endParaRPr lang="en-US" sz="1150" dirty="0"/>
          </a:p>
        </p:txBody>
      </p:sp>
      <p:sp>
        <p:nvSpPr>
          <p:cNvPr id="46" name="Shape 44"/>
          <p:cNvSpPr/>
          <p:nvPr/>
        </p:nvSpPr>
        <p:spPr>
          <a:xfrm>
            <a:off x="5806440" y="3538728"/>
            <a:ext cx="1828800" cy="420624"/>
          </a:xfrm>
          <a:prstGeom prst="rect">
            <a:avLst/>
          </a:prstGeom>
          <a:solidFill>
            <a:srgbClr val="F3F6F9"/>
          </a:solidFill>
          <a:ln w="9525">
            <a:solidFill>
              <a:srgbClr val="E7ECF1"/>
            </a:solidFill>
            <a:prstDash val="solid"/>
          </a:ln>
        </p:spPr>
      </p:sp>
      <p:sp>
        <p:nvSpPr>
          <p:cNvPr id="47" name="Text 45"/>
          <p:cNvSpPr/>
          <p:nvPr/>
        </p:nvSpPr>
        <p:spPr>
          <a:xfrm>
            <a:off x="5806440" y="3538728"/>
            <a:ext cx="1828800" cy="420624"/>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Sneha Gupta</a:t>
            </a:r>
            <a:endParaRPr lang="en-US" sz="1150" dirty="0"/>
          </a:p>
        </p:txBody>
      </p:sp>
      <p:sp>
        <p:nvSpPr>
          <p:cNvPr id="48" name="Shape 46"/>
          <p:cNvSpPr/>
          <p:nvPr/>
        </p:nvSpPr>
        <p:spPr>
          <a:xfrm>
            <a:off x="7635240" y="3538728"/>
            <a:ext cx="1828800" cy="420624"/>
          </a:xfrm>
          <a:prstGeom prst="rect">
            <a:avLst/>
          </a:prstGeom>
          <a:solidFill>
            <a:srgbClr val="F3F6F9"/>
          </a:solidFill>
          <a:ln w="9525">
            <a:solidFill>
              <a:srgbClr val="E7ECF1"/>
            </a:solidFill>
            <a:prstDash val="solid"/>
          </a:ln>
        </p:spPr>
      </p:sp>
      <p:sp>
        <p:nvSpPr>
          <p:cNvPr id="49" name="Text 47"/>
          <p:cNvSpPr/>
          <p:nvPr/>
        </p:nvSpPr>
        <p:spPr>
          <a:xfrm>
            <a:off x="7635240" y="3538728"/>
            <a:ext cx="1828800" cy="420624"/>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1004</a:t>
            </a:r>
            <a:endParaRPr lang="en-US" sz="1150" dirty="0"/>
          </a:p>
        </p:txBody>
      </p:sp>
      <p:sp>
        <p:nvSpPr>
          <p:cNvPr id="50" name="Shape 48"/>
          <p:cNvSpPr/>
          <p:nvPr/>
        </p:nvSpPr>
        <p:spPr>
          <a:xfrm>
            <a:off x="9464040" y="3538728"/>
            <a:ext cx="1828800" cy="420624"/>
          </a:xfrm>
          <a:prstGeom prst="rect">
            <a:avLst/>
          </a:prstGeom>
          <a:solidFill>
            <a:srgbClr val="F3F6F9"/>
          </a:solidFill>
          <a:ln w="9525">
            <a:solidFill>
              <a:srgbClr val="E7ECF1"/>
            </a:solidFill>
            <a:prstDash val="solid"/>
          </a:ln>
        </p:spPr>
      </p:sp>
      <p:sp>
        <p:nvSpPr>
          <p:cNvPr id="51" name="Text 49"/>
          <p:cNvSpPr/>
          <p:nvPr/>
        </p:nvSpPr>
        <p:spPr>
          <a:xfrm>
            <a:off x="9464040" y="3538728"/>
            <a:ext cx="1828800" cy="420624"/>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Dining Table</a:t>
            </a:r>
            <a:endParaRPr lang="en-US" sz="1150" dirty="0"/>
          </a:p>
        </p:txBody>
      </p:sp>
      <p:sp>
        <p:nvSpPr>
          <p:cNvPr id="52" name="Shape 50"/>
          <p:cNvSpPr/>
          <p:nvPr/>
        </p:nvSpPr>
        <p:spPr>
          <a:xfrm>
            <a:off x="548640" y="4617720"/>
            <a:ext cx="11109960" cy="1417320"/>
          </a:xfrm>
          <a:prstGeom prst="roundRect">
            <a:avLst>
              <a:gd name="adj" fmla="val 5161"/>
            </a:avLst>
          </a:prstGeom>
          <a:solidFill>
            <a:srgbClr val="0B2545"/>
          </a:solidFill>
          <a:ln/>
          <a:effectLst>
            <a:outerShdw sx="100000" sy="100000" kx="0" ky="0" algn="bl" rotWithShape="0" blurRad="76200" dist="25400" dir="5400000">
              <a:srgbClr val="10203A">
                <a:alpha val="35000"/>
              </a:srgbClr>
            </a:outerShdw>
          </a:effectLst>
        </p:spPr>
      </p:sp>
      <p:sp>
        <p:nvSpPr>
          <p:cNvPr id="53" name="Text 51"/>
          <p:cNvSpPr/>
          <p:nvPr/>
        </p:nvSpPr>
        <p:spPr>
          <a:xfrm>
            <a:off x="804672" y="4745736"/>
            <a:ext cx="10597896" cy="256032"/>
          </a:xfrm>
          <a:prstGeom prst="rect">
            <a:avLst/>
          </a:prstGeom>
          <a:noFill/>
          <a:ln/>
        </p:spPr>
        <p:txBody>
          <a:bodyPr wrap="square" lIns="0" tIns="0" rIns="0" bIns="0" rtlCol="0" anchor="ctr"/>
          <a:lstStyle/>
          <a:p>
            <a:pPr indent="0" marL="0">
              <a:buNone/>
            </a:pPr>
            <a:r>
              <a:rPr lang="en-US" sz="1100" b="1" spc="150" kern="0" dirty="0">
                <a:solidFill>
                  <a:srgbClr val="14B8A6"/>
                </a:solidFill>
                <a:latin typeface="Calibri" pitchFamily="34" charset="0"/>
                <a:ea typeface="Calibri" pitchFamily="34" charset="-122"/>
                <a:cs typeface="Calibri" pitchFamily="34" charset="-120"/>
              </a:rPr>
              <a:t>BOTTOM TAKEAWAY</a:t>
            </a:r>
            <a:endParaRPr lang="en-US" sz="1100" dirty="0"/>
          </a:p>
        </p:txBody>
      </p:sp>
      <p:sp>
        <p:nvSpPr>
          <p:cNvPr id="54" name="Text 52"/>
          <p:cNvSpPr/>
          <p:nvPr/>
        </p:nvSpPr>
        <p:spPr>
          <a:xfrm>
            <a:off x="804672" y="5020056"/>
            <a:ext cx="10597896" cy="886968"/>
          </a:xfrm>
          <a:prstGeom prst="rect">
            <a:avLst/>
          </a:prstGeom>
          <a:noFill/>
          <a:ln/>
        </p:spPr>
        <p:txBody>
          <a:bodyPr wrap="square" lIns="0" tIns="0" rIns="0" bIns="0" rtlCol="0" anchor="t"/>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SQL JOIN combines related tables using Primary &amp; Foreign Keys — turning normalized, storage-efficient tables back into the single readable report the business actually asked for.</a:t>
            </a:r>
            <a:endParaRPr lang="en-US" sz="1250" dirty="0"/>
          </a:p>
        </p:txBody>
      </p:sp>
      <p:sp>
        <p:nvSpPr>
          <p:cNvPr id="55" name="Text 53"/>
          <p:cNvSpPr/>
          <p:nvPr/>
        </p:nvSpPr>
        <p:spPr>
          <a:xfrm>
            <a:off x="457200" y="6528816"/>
            <a:ext cx="6400800" cy="274320"/>
          </a:xfrm>
          <a:prstGeom prst="rect">
            <a:avLst/>
          </a:prstGeom>
          <a:noFill/>
          <a:ln/>
        </p:spPr>
        <p:txBody>
          <a:bodyPr wrap="square" rtlCol="0" anchor="ctr"/>
          <a:lstStyle/>
          <a:p>
            <a:pPr algn="l" indent="0" marL="0">
              <a:buNone/>
            </a:pPr>
            <a:r>
              <a:rPr lang="en-US" sz="900" i="1" dirty="0">
                <a:solidFill>
                  <a:srgbClr val="62728A"/>
                </a:solidFill>
                <a:latin typeface="Calibri" pitchFamily="34" charset="0"/>
                <a:ea typeface="Calibri" pitchFamily="34" charset="-122"/>
                <a:cs typeface="Calibri" pitchFamily="34" charset="-120"/>
              </a:rPr>
              <a:t>Shalinee Priya   |   Data Analyst  ·  SQL Trainer</a:t>
            </a:r>
            <a:endParaRPr lang="en-US" sz="900" dirty="0"/>
          </a:p>
        </p:txBody>
      </p:sp>
      <p:sp>
        <p:nvSpPr>
          <p:cNvPr id="56" name="Shape 54"/>
          <p:cNvSpPr/>
          <p:nvPr/>
        </p:nvSpPr>
        <p:spPr>
          <a:xfrm>
            <a:off x="10561320" y="6510528"/>
            <a:ext cx="1170432" cy="292608"/>
          </a:xfrm>
          <a:prstGeom prst="rect">
            <a:avLst>
              <a:gd name="adj" fmla="val 50000"/>
            </a:avLst>
          </a:prstGeom>
          <a:solidFill>
            <a:srgbClr val="0B2545"/>
          </a:solidFill>
          <a:ln/>
        </p:spPr>
      </p:sp>
      <p:sp>
        <p:nvSpPr>
          <p:cNvPr id="57" name="Text 55"/>
          <p:cNvSpPr/>
          <p:nvPr/>
        </p:nvSpPr>
        <p:spPr>
          <a:xfrm>
            <a:off x="10561320" y="6510528"/>
            <a:ext cx="11704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4/10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algn="l" indent="0" marL="0">
              <a:buNone/>
            </a:pPr>
            <a:r>
              <a:rPr lang="en-US" sz="1200" b="1" spc="200" kern="0" dirty="0">
                <a:solidFill>
                  <a:srgbClr val="0C7C71"/>
                </a:solidFill>
                <a:latin typeface="Calibri" pitchFamily="34" charset="0"/>
                <a:ea typeface="Calibri" pitchFamily="34" charset="-122"/>
                <a:cs typeface="Calibri" pitchFamily="34" charset="-120"/>
              </a:rPr>
              <a:t>THE MOST-USED JOIN</a:t>
            </a:r>
            <a:endParaRPr lang="en-US" sz="1200" dirty="0"/>
          </a:p>
        </p:txBody>
      </p:sp>
      <p:sp>
        <p:nvSpPr>
          <p:cNvPr id="3" name="Text 1"/>
          <p:cNvSpPr/>
          <p:nvPr/>
        </p:nvSpPr>
        <p:spPr>
          <a:xfrm>
            <a:off x="530352" y="530352"/>
            <a:ext cx="10607040" cy="566928"/>
          </a:xfrm>
          <a:prstGeom prst="rect">
            <a:avLst/>
          </a:prstGeom>
          <a:noFill/>
          <a:ln/>
        </p:spPr>
        <p:txBody>
          <a:bodyPr wrap="square" lIns="0" tIns="0" rIns="0" bIns="0"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INNER JOIN</a:t>
            </a:r>
            <a:endParaRPr lang="en-US" sz="3000" dirty="0"/>
          </a:p>
        </p:txBody>
      </p:sp>
      <p:sp>
        <p:nvSpPr>
          <p:cNvPr id="4" name="Shape 2"/>
          <p:cNvSpPr/>
          <p:nvPr/>
        </p:nvSpPr>
        <p:spPr>
          <a:xfrm>
            <a:off x="548640" y="1508760"/>
            <a:ext cx="4297680" cy="2788920"/>
          </a:xfrm>
          <a:prstGeom prst="roundRect">
            <a:avLst>
              <a:gd name="adj" fmla="val 2951"/>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5" name="Shape 3"/>
          <p:cNvSpPr/>
          <p:nvPr/>
        </p:nvSpPr>
        <p:spPr>
          <a:xfrm>
            <a:off x="960120" y="1828800"/>
            <a:ext cx="1965960" cy="1965960"/>
          </a:xfrm>
          <a:prstGeom prst="ellipse">
            <a:avLst/>
          </a:prstGeom>
          <a:solidFill>
            <a:srgbClr val="1B3F73">
              <a:alpha val="75000"/>
            </a:srgbClr>
          </a:solidFill>
          <a:ln w="19050">
            <a:solidFill>
              <a:srgbClr val="1B3F73"/>
            </a:solidFill>
            <a:prstDash val="solid"/>
          </a:ln>
        </p:spPr>
      </p:sp>
      <p:sp>
        <p:nvSpPr>
          <p:cNvPr id="6" name="Shape 4"/>
          <p:cNvSpPr/>
          <p:nvPr/>
        </p:nvSpPr>
        <p:spPr>
          <a:xfrm>
            <a:off x="2331720" y="1828800"/>
            <a:ext cx="1965960" cy="1965960"/>
          </a:xfrm>
          <a:prstGeom prst="ellipse">
            <a:avLst/>
          </a:prstGeom>
          <a:solidFill>
            <a:srgbClr val="14B8A6">
              <a:alpha val="75000"/>
            </a:srgbClr>
          </a:solidFill>
          <a:ln w="19050">
            <a:solidFill>
              <a:srgbClr val="0C7C71"/>
            </a:solidFill>
            <a:prstDash val="solid"/>
          </a:ln>
        </p:spPr>
      </p:sp>
      <p:sp>
        <p:nvSpPr>
          <p:cNvPr id="7" name="Shape 5"/>
          <p:cNvSpPr/>
          <p:nvPr/>
        </p:nvSpPr>
        <p:spPr>
          <a:xfrm>
            <a:off x="1965960" y="2148840"/>
            <a:ext cx="1051560" cy="1325880"/>
          </a:xfrm>
          <a:prstGeom prst="ellipse">
            <a:avLst/>
          </a:prstGeom>
          <a:solidFill>
            <a:srgbClr val="0C7C71">
              <a:alpha val="92000"/>
            </a:srgbClr>
          </a:solidFill>
          <a:ln/>
        </p:spPr>
      </p:sp>
      <p:sp>
        <p:nvSpPr>
          <p:cNvPr id="8" name="Text 6"/>
          <p:cNvSpPr/>
          <p:nvPr/>
        </p:nvSpPr>
        <p:spPr>
          <a:xfrm>
            <a:off x="914400" y="3794760"/>
            <a:ext cx="1737360" cy="274320"/>
          </a:xfrm>
          <a:prstGeom prst="rect">
            <a:avLst/>
          </a:prstGeom>
          <a:noFill/>
          <a:ln/>
        </p:spPr>
        <p:txBody>
          <a:bodyPr wrap="square" lIns="0" tIns="0" rIns="0" bIns="0" rtlCol="0" anchor="ctr"/>
          <a:lstStyle/>
          <a:p>
            <a:pPr algn="ctr" indent="0" marL="0">
              <a:buNone/>
            </a:pPr>
            <a:r>
              <a:rPr lang="en-US" sz="1150" b="1" dirty="0">
                <a:solidFill>
                  <a:srgbClr val="1B3F73"/>
                </a:solidFill>
                <a:latin typeface="Calibri" pitchFamily="34" charset="0"/>
                <a:ea typeface="Calibri" pitchFamily="34" charset="-122"/>
                <a:cs typeface="Calibri" pitchFamily="34" charset="-120"/>
              </a:rPr>
              <a:t>Employees</a:t>
            </a:r>
            <a:endParaRPr lang="en-US" sz="1150" dirty="0"/>
          </a:p>
        </p:txBody>
      </p:sp>
      <p:sp>
        <p:nvSpPr>
          <p:cNvPr id="9" name="Text 7"/>
          <p:cNvSpPr/>
          <p:nvPr/>
        </p:nvSpPr>
        <p:spPr>
          <a:xfrm>
            <a:off x="2514600" y="3794760"/>
            <a:ext cx="1737360" cy="274320"/>
          </a:xfrm>
          <a:prstGeom prst="rect">
            <a:avLst/>
          </a:prstGeom>
          <a:noFill/>
          <a:ln/>
        </p:spPr>
        <p:txBody>
          <a:bodyPr wrap="square" lIns="0" tIns="0" rIns="0" bIns="0" rtlCol="0" anchor="ctr"/>
          <a:lstStyle/>
          <a:p>
            <a:pPr algn="ctr" indent="0" marL="0">
              <a:buNone/>
            </a:pPr>
            <a:r>
              <a:rPr lang="en-US" sz="1150" b="1" dirty="0">
                <a:solidFill>
                  <a:srgbClr val="0C7C71"/>
                </a:solidFill>
                <a:latin typeface="Calibri" pitchFamily="34" charset="0"/>
                <a:ea typeface="Calibri" pitchFamily="34" charset="-122"/>
                <a:cs typeface="Calibri" pitchFamily="34" charset="-120"/>
              </a:rPr>
              <a:t>Departments</a:t>
            </a:r>
            <a:endParaRPr lang="en-US" sz="1150" dirty="0"/>
          </a:p>
        </p:txBody>
      </p:sp>
      <p:sp>
        <p:nvSpPr>
          <p:cNvPr id="10" name="Text 8"/>
          <p:cNvSpPr/>
          <p:nvPr/>
        </p:nvSpPr>
        <p:spPr>
          <a:xfrm>
            <a:off x="1874520" y="2651760"/>
            <a:ext cx="114300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1" name="Text 9"/>
          <p:cNvSpPr/>
          <p:nvPr/>
        </p:nvSpPr>
        <p:spPr>
          <a:xfrm>
            <a:off x="5074920" y="1536192"/>
            <a:ext cx="6583680" cy="256032"/>
          </a:xfrm>
          <a:prstGeom prst="rect">
            <a:avLst/>
          </a:prstGeom>
          <a:noFill/>
          <a:ln/>
        </p:spPr>
        <p:txBody>
          <a:bodyPr wrap="square" lIns="0" tIns="0" rIns="0" bIns="0" rtlCol="0" anchor="ctr"/>
          <a:lstStyle/>
          <a:p>
            <a:pPr indent="0" marL="0">
              <a:buNone/>
            </a:pPr>
            <a:r>
              <a:rPr lang="en-US" sz="1100" b="1" spc="150" kern="0" dirty="0">
                <a:solidFill>
                  <a:srgbClr val="0C7C71"/>
                </a:solidFill>
                <a:latin typeface="Calibri" pitchFamily="34" charset="0"/>
                <a:ea typeface="Calibri" pitchFamily="34" charset="-122"/>
                <a:cs typeface="Calibri" pitchFamily="34" charset="-120"/>
              </a:rPr>
              <a:t>DEFINITION</a:t>
            </a:r>
            <a:endParaRPr lang="en-US" sz="1100" dirty="0"/>
          </a:p>
        </p:txBody>
      </p:sp>
      <p:sp>
        <p:nvSpPr>
          <p:cNvPr id="12" name="Text 10"/>
          <p:cNvSpPr/>
          <p:nvPr/>
        </p:nvSpPr>
        <p:spPr>
          <a:xfrm>
            <a:off x="5074920" y="1783080"/>
            <a:ext cx="6583680" cy="502920"/>
          </a:xfrm>
          <a:prstGeom prst="rect">
            <a:avLst/>
          </a:prstGeom>
          <a:noFill/>
          <a:ln/>
        </p:spPr>
        <p:txBody>
          <a:bodyPr wrap="square" lIns="0" tIns="0" rIns="0" bIns="0" rtlCol="0" anchor="ctr"/>
          <a:lstStyle/>
          <a:p>
            <a:pPr indent="0" marL="0">
              <a:lnSpc>
                <a:spcPct val="115000"/>
              </a:lnSpc>
              <a:buNone/>
            </a:pPr>
            <a:r>
              <a:rPr lang="en-US" sz="1400" dirty="0">
                <a:solidFill>
                  <a:srgbClr val="112036"/>
                </a:solidFill>
                <a:latin typeface="Calibri" pitchFamily="34" charset="0"/>
                <a:ea typeface="Calibri" pitchFamily="34" charset="-122"/>
                <a:cs typeface="Calibri" pitchFamily="34" charset="-120"/>
              </a:rPr>
              <a:t>Returns only the rows where a match exists in BOTH tables.</a:t>
            </a:r>
            <a:endParaRPr lang="en-US" sz="1400" dirty="0"/>
          </a:p>
        </p:txBody>
      </p:sp>
      <p:sp>
        <p:nvSpPr>
          <p:cNvPr id="13" name="Shape 11"/>
          <p:cNvSpPr/>
          <p:nvPr/>
        </p:nvSpPr>
        <p:spPr>
          <a:xfrm>
            <a:off x="5074920" y="2331720"/>
            <a:ext cx="6583680" cy="1417320"/>
          </a:xfrm>
          <a:prstGeom prst="roundRect">
            <a:avLst>
              <a:gd name="adj" fmla="val 3871"/>
            </a:avLst>
          </a:prstGeom>
          <a:solidFill>
            <a:srgbClr val="0B2545"/>
          </a:solidFill>
          <a:ln/>
        </p:spPr>
      </p:sp>
      <p:sp>
        <p:nvSpPr>
          <p:cNvPr id="14" name="Text 12"/>
          <p:cNvSpPr/>
          <p:nvPr/>
        </p:nvSpPr>
        <p:spPr>
          <a:xfrm>
            <a:off x="5276088" y="2459736"/>
            <a:ext cx="6181344" cy="1161288"/>
          </a:xfrm>
          <a:prstGeom prst="rect">
            <a:avLst/>
          </a:prstGeom>
          <a:noFill/>
          <a:ln/>
        </p:spPr>
        <p:txBody>
          <a:bodyPr wrap="square" lIns="0" tIns="0" rIns="0" bIns="0" rtlCol="0" anchor="t"/>
          <a:lstStyle/>
          <a:p>
            <a:pPr indent="0" marL="0">
              <a:lnSpc>
                <a:spcPct val="112000"/>
              </a:lnSpc>
              <a:buNone/>
            </a:pPr>
            <a:r>
              <a:rPr lang="en-US" sz="1250" dirty="0">
                <a:solidFill>
                  <a:srgbClr val="CFEFE9"/>
                </a:solidFill>
                <a:latin typeface="Courier New" pitchFamily="34" charset="0"/>
                <a:ea typeface="Courier New" pitchFamily="34" charset="-122"/>
                <a:cs typeface="Courier New" pitchFamily="34" charset="-120"/>
              </a:rPr>
              <a:t>SELECT e.EmployeeName, d.DepartmentName</a:t>
            </a:r>
            <a:endParaRPr lang="en-US" sz="1250" dirty="0"/>
          </a:p>
          <a:p>
            <a:pPr indent="0" marL="0">
              <a:lnSpc>
                <a:spcPct val="112000"/>
              </a:lnSpc>
              <a:buNone/>
            </a:pPr>
            <a:r>
              <a:rPr lang="en-US" sz="1250" dirty="0">
                <a:solidFill>
                  <a:srgbClr val="CFEFE9"/>
                </a:solidFill>
                <a:latin typeface="Courier New" pitchFamily="34" charset="0"/>
                <a:ea typeface="Courier New" pitchFamily="34" charset="-122"/>
                <a:cs typeface="Courier New" pitchFamily="34" charset="-120"/>
              </a:rPr>
              <a:t>FROM   Employees e</a:t>
            </a:r>
            <a:endParaRPr lang="en-US" sz="1250" dirty="0"/>
          </a:p>
          <a:p>
            <a:pPr indent="0" marL="0">
              <a:lnSpc>
                <a:spcPct val="112000"/>
              </a:lnSpc>
              <a:buNone/>
            </a:pPr>
            <a:r>
              <a:rPr lang="en-US" sz="1250" dirty="0">
                <a:solidFill>
                  <a:srgbClr val="CFEFE9"/>
                </a:solidFill>
                <a:latin typeface="Courier New" pitchFamily="34" charset="0"/>
                <a:ea typeface="Courier New" pitchFamily="34" charset="-122"/>
                <a:cs typeface="Courier New" pitchFamily="34" charset="-120"/>
              </a:rPr>
              <a:t>INNER JOIN Departments d</a:t>
            </a:r>
            <a:endParaRPr lang="en-US" sz="1250" dirty="0"/>
          </a:p>
          <a:p>
            <a:pPr indent="0" marL="0">
              <a:lnSpc>
                <a:spcPct val="112000"/>
              </a:lnSpc>
              <a:buNone/>
            </a:pPr>
            <a:r>
              <a:rPr lang="en-US" sz="1250" dirty="0">
                <a:solidFill>
                  <a:srgbClr val="CFEFE9"/>
                </a:solidFill>
                <a:latin typeface="Courier New" pitchFamily="34" charset="0"/>
                <a:ea typeface="Courier New" pitchFamily="34" charset="-122"/>
                <a:cs typeface="Courier New" pitchFamily="34" charset="-120"/>
              </a:rPr>
              <a:t>       ON e.DeptID = d.DeptID;</a:t>
            </a:r>
            <a:endParaRPr lang="en-US" sz="1250" dirty="0"/>
          </a:p>
        </p:txBody>
      </p:sp>
      <p:sp>
        <p:nvSpPr>
          <p:cNvPr id="15" name="Shape 13"/>
          <p:cNvSpPr/>
          <p:nvPr/>
        </p:nvSpPr>
        <p:spPr>
          <a:xfrm>
            <a:off x="548640" y="4480560"/>
            <a:ext cx="5394960" cy="1143000"/>
          </a:xfrm>
          <a:prstGeom prst="roundRect">
            <a:avLst>
              <a:gd name="adj" fmla="val 7200"/>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16" name="Text 14"/>
          <p:cNvSpPr/>
          <p:nvPr/>
        </p:nvSpPr>
        <p:spPr>
          <a:xfrm>
            <a:off x="777240" y="4572000"/>
            <a:ext cx="4937760" cy="228600"/>
          </a:xfrm>
          <a:prstGeom prst="rect">
            <a:avLst/>
          </a:prstGeom>
          <a:noFill/>
          <a:ln/>
        </p:spPr>
        <p:txBody>
          <a:bodyPr wrap="square" lIns="0" tIns="0" rIns="0" bIns="0" rtlCol="0" anchor="ctr"/>
          <a:lstStyle/>
          <a:p>
            <a:pPr indent="0" marL="0">
              <a:buNone/>
            </a:pPr>
            <a:r>
              <a:rPr lang="en-US" sz="1050" b="1" spc="100" kern="0" dirty="0">
                <a:solidFill>
                  <a:srgbClr val="1B3F73"/>
                </a:solidFill>
                <a:latin typeface="Calibri" pitchFamily="34" charset="0"/>
                <a:ea typeface="Calibri" pitchFamily="34" charset="-122"/>
                <a:cs typeface="Calibri" pitchFamily="34" charset="-120"/>
              </a:rPr>
              <a:t>HR EXAMPLE</a:t>
            </a:r>
            <a:endParaRPr lang="en-US" sz="1050" dirty="0"/>
          </a:p>
        </p:txBody>
      </p:sp>
      <p:sp>
        <p:nvSpPr>
          <p:cNvPr id="17" name="Text 15"/>
          <p:cNvSpPr/>
          <p:nvPr/>
        </p:nvSpPr>
        <p:spPr>
          <a:xfrm>
            <a:off x="777240" y="4828032"/>
            <a:ext cx="4937760" cy="685800"/>
          </a:xfrm>
          <a:prstGeom prst="rect">
            <a:avLst/>
          </a:prstGeom>
          <a:noFill/>
          <a:ln/>
        </p:spPr>
        <p:txBody>
          <a:bodyPr wrap="square" lIns="0" tIns="0" rIns="0" bIns="0" rtlCol="0" anchor="ctr"/>
          <a:lstStyle/>
          <a:p>
            <a:pPr indent="0" marL="0">
              <a:lnSpc>
                <a:spcPct val="115000"/>
              </a:lnSpc>
              <a:buNone/>
            </a:pPr>
            <a:r>
              <a:rPr lang="en-US" sz="1200" dirty="0">
                <a:solidFill>
                  <a:srgbClr val="112036"/>
                </a:solidFill>
                <a:latin typeface="Calibri" pitchFamily="34" charset="0"/>
                <a:ea typeface="Calibri" pitchFamily="34" charset="-122"/>
                <a:cs typeface="Calibri" pitchFamily="34" charset="-120"/>
              </a:rPr>
              <a:t>Employees + Departments → show employees who belong to a valid department.</a:t>
            </a:r>
            <a:endParaRPr lang="en-US" sz="1200" dirty="0"/>
          </a:p>
        </p:txBody>
      </p:sp>
      <p:sp>
        <p:nvSpPr>
          <p:cNvPr id="18" name="Shape 16"/>
          <p:cNvSpPr/>
          <p:nvPr/>
        </p:nvSpPr>
        <p:spPr>
          <a:xfrm>
            <a:off x="6172200" y="4480560"/>
            <a:ext cx="5486400" cy="1143000"/>
          </a:xfrm>
          <a:prstGeom prst="roundRect">
            <a:avLst>
              <a:gd name="adj" fmla="val 7200"/>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19" name="Text 17"/>
          <p:cNvSpPr/>
          <p:nvPr/>
        </p:nvSpPr>
        <p:spPr>
          <a:xfrm>
            <a:off x="6400800" y="4572000"/>
            <a:ext cx="5029200" cy="228600"/>
          </a:xfrm>
          <a:prstGeom prst="rect">
            <a:avLst/>
          </a:prstGeom>
          <a:noFill/>
          <a:ln/>
        </p:spPr>
        <p:txBody>
          <a:bodyPr wrap="square" lIns="0" tIns="0" rIns="0" bIns="0" rtlCol="0" anchor="ctr"/>
          <a:lstStyle/>
          <a:p>
            <a:pPr indent="0" marL="0">
              <a:buNone/>
            </a:pPr>
            <a:r>
              <a:rPr lang="en-US" sz="1050" b="1" spc="100" kern="0" dirty="0">
                <a:solidFill>
                  <a:srgbClr val="0C7C71"/>
                </a:solidFill>
                <a:latin typeface="Calibri" pitchFamily="34" charset="0"/>
                <a:ea typeface="Calibri" pitchFamily="34" charset="-122"/>
                <a:cs typeface="Calibri" pitchFamily="34" charset="-120"/>
              </a:rPr>
              <a:t>E-COMMERCE EXAMPLE</a:t>
            </a:r>
            <a:endParaRPr lang="en-US" sz="1050" dirty="0"/>
          </a:p>
        </p:txBody>
      </p:sp>
      <p:sp>
        <p:nvSpPr>
          <p:cNvPr id="20" name="Text 18"/>
          <p:cNvSpPr/>
          <p:nvPr/>
        </p:nvSpPr>
        <p:spPr>
          <a:xfrm>
            <a:off x="6400800" y="4828032"/>
            <a:ext cx="5029200" cy="685800"/>
          </a:xfrm>
          <a:prstGeom prst="rect">
            <a:avLst/>
          </a:prstGeom>
          <a:noFill/>
          <a:ln/>
        </p:spPr>
        <p:txBody>
          <a:bodyPr wrap="square" lIns="0" tIns="0" rIns="0" bIns="0" rtlCol="0" anchor="ctr"/>
          <a:lstStyle/>
          <a:p>
            <a:pPr indent="0" marL="0">
              <a:lnSpc>
                <a:spcPct val="115000"/>
              </a:lnSpc>
              <a:buNone/>
            </a:pPr>
            <a:r>
              <a:rPr lang="en-US" sz="1200" dirty="0">
                <a:solidFill>
                  <a:srgbClr val="112036"/>
                </a:solidFill>
                <a:latin typeface="Calibri" pitchFamily="34" charset="0"/>
                <a:ea typeface="Calibri" pitchFamily="34" charset="-122"/>
                <a:cs typeface="Calibri" pitchFamily="34" charset="-120"/>
              </a:rPr>
              <a:t>Customers + Orders → display customers who actually placed orders.</a:t>
            </a:r>
            <a:endParaRPr lang="en-US" sz="1200" dirty="0"/>
          </a:p>
        </p:txBody>
      </p:sp>
      <p:sp>
        <p:nvSpPr>
          <p:cNvPr id="21" name="Text 19"/>
          <p:cNvSpPr/>
          <p:nvPr/>
        </p:nvSpPr>
        <p:spPr>
          <a:xfrm>
            <a:off x="548640" y="5742432"/>
            <a:ext cx="7315200" cy="274320"/>
          </a:xfrm>
          <a:prstGeom prst="rect">
            <a:avLst/>
          </a:prstGeom>
          <a:noFill/>
          <a:ln/>
        </p:spPr>
        <p:txBody>
          <a:bodyPr wrap="square" lIns="0" tIns="0" rIns="0" bIns="0" rtlCol="0" anchor="ctr"/>
          <a:lstStyle/>
          <a:p>
            <a:pPr indent="0" marL="0">
              <a:buNone/>
            </a:pPr>
            <a:r>
              <a:rPr lang="en-US" sz="1000" i="1" dirty="0">
                <a:solidFill>
                  <a:srgbClr val="62728A"/>
                </a:solidFill>
                <a:latin typeface="Calibri" pitchFamily="34" charset="0"/>
                <a:ea typeface="Calibri" pitchFamily="34" charset="-122"/>
                <a:cs typeface="Calibri" pitchFamily="34" charset="-120"/>
              </a:rPr>
              <a:t>Reference: DAY_10_SQL_JOINS_CONCEPT_NOTES.docx</a:t>
            </a:r>
            <a:endParaRPr lang="en-US" sz="1000" dirty="0"/>
          </a:p>
        </p:txBody>
      </p:sp>
      <p:sp>
        <p:nvSpPr>
          <p:cNvPr id="22" name="Text 20"/>
          <p:cNvSpPr/>
          <p:nvPr/>
        </p:nvSpPr>
        <p:spPr>
          <a:xfrm>
            <a:off x="457200" y="6528816"/>
            <a:ext cx="6400800" cy="274320"/>
          </a:xfrm>
          <a:prstGeom prst="rect">
            <a:avLst/>
          </a:prstGeom>
          <a:noFill/>
          <a:ln/>
        </p:spPr>
        <p:txBody>
          <a:bodyPr wrap="square" rtlCol="0" anchor="ctr"/>
          <a:lstStyle/>
          <a:p>
            <a:pPr algn="l" indent="0" marL="0">
              <a:buNone/>
            </a:pPr>
            <a:r>
              <a:rPr lang="en-US" sz="900" i="1" dirty="0">
                <a:solidFill>
                  <a:srgbClr val="62728A"/>
                </a:solidFill>
                <a:latin typeface="Calibri" pitchFamily="34" charset="0"/>
                <a:ea typeface="Calibri" pitchFamily="34" charset="-122"/>
                <a:cs typeface="Calibri" pitchFamily="34" charset="-120"/>
              </a:rPr>
              <a:t>Shalinee Priya   |   Data Analyst  ·  SQL Trainer</a:t>
            </a:r>
            <a:endParaRPr lang="en-US" sz="900" dirty="0"/>
          </a:p>
        </p:txBody>
      </p:sp>
      <p:sp>
        <p:nvSpPr>
          <p:cNvPr id="23" name="Shape 21"/>
          <p:cNvSpPr/>
          <p:nvPr/>
        </p:nvSpPr>
        <p:spPr>
          <a:xfrm>
            <a:off x="10561320" y="6510528"/>
            <a:ext cx="1170432" cy="292608"/>
          </a:xfrm>
          <a:prstGeom prst="rect">
            <a:avLst>
              <a:gd name="adj" fmla="val 50000"/>
            </a:avLst>
          </a:prstGeom>
          <a:solidFill>
            <a:srgbClr val="0B2545"/>
          </a:solidFill>
          <a:ln/>
        </p:spPr>
      </p:sp>
      <p:sp>
        <p:nvSpPr>
          <p:cNvPr id="24" name="Text 22"/>
          <p:cNvSpPr/>
          <p:nvPr/>
        </p:nvSpPr>
        <p:spPr>
          <a:xfrm>
            <a:off x="10561320" y="6510528"/>
            <a:ext cx="11704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5/10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algn="l" indent="0" marL="0">
              <a:buNone/>
            </a:pPr>
            <a:r>
              <a:rPr lang="en-US" sz="1200" b="1" spc="200" kern="0" dirty="0">
                <a:solidFill>
                  <a:srgbClr val="0C7C71"/>
                </a:solidFill>
                <a:latin typeface="Calibri" pitchFamily="34" charset="0"/>
                <a:ea typeface="Calibri" pitchFamily="34" charset="-122"/>
                <a:cs typeface="Calibri" pitchFamily="34" charset="-120"/>
              </a:rPr>
              <a:t>COMPARISON CARDS</a:t>
            </a:r>
            <a:endParaRPr lang="en-US" sz="1200" dirty="0"/>
          </a:p>
        </p:txBody>
      </p:sp>
      <p:sp>
        <p:nvSpPr>
          <p:cNvPr id="3" name="Text 1"/>
          <p:cNvSpPr/>
          <p:nvPr/>
        </p:nvSpPr>
        <p:spPr>
          <a:xfrm>
            <a:off x="530352" y="530352"/>
            <a:ext cx="10607040" cy="566928"/>
          </a:xfrm>
          <a:prstGeom prst="rect">
            <a:avLst/>
          </a:prstGeom>
          <a:noFill/>
          <a:ln/>
        </p:spPr>
        <p:txBody>
          <a:bodyPr wrap="square" lIns="0" tIns="0" rIns="0" bIns="0"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LEFT JOIN vs RIGHT JOIN</a:t>
            </a:r>
            <a:endParaRPr lang="en-US" sz="3000" dirty="0"/>
          </a:p>
        </p:txBody>
      </p:sp>
      <p:sp>
        <p:nvSpPr>
          <p:cNvPr id="4" name="Shape 2"/>
          <p:cNvSpPr/>
          <p:nvPr/>
        </p:nvSpPr>
        <p:spPr>
          <a:xfrm>
            <a:off x="548640" y="1508760"/>
            <a:ext cx="5349240" cy="2331720"/>
          </a:xfrm>
          <a:prstGeom prst="roundRect">
            <a:avLst>
              <a:gd name="adj" fmla="val 3529"/>
            </a:avLst>
          </a:prstGeom>
          <a:solidFill>
            <a:srgbClr val="0B2545"/>
          </a:solidFill>
          <a:ln/>
          <a:effectLst>
            <a:outerShdw sx="100000" sy="100000" kx="0" ky="0" algn="bl" rotWithShape="0" blurRad="101600" dist="25400" dir="5400000">
              <a:srgbClr val="8095AC">
                <a:alpha val="18000"/>
              </a:srgbClr>
            </a:outerShdw>
          </a:effectLst>
        </p:spPr>
      </p:sp>
      <p:sp>
        <p:nvSpPr>
          <p:cNvPr id="5" name="Text 3"/>
          <p:cNvSpPr/>
          <p:nvPr/>
        </p:nvSpPr>
        <p:spPr>
          <a:xfrm>
            <a:off x="868680" y="1691640"/>
            <a:ext cx="4754880" cy="36576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LEFT JOIN</a:t>
            </a:r>
            <a:endParaRPr lang="en-US" sz="2000" dirty="0"/>
          </a:p>
        </p:txBody>
      </p:sp>
      <p:sp>
        <p:nvSpPr>
          <p:cNvPr id="6" name="Shape 4"/>
          <p:cNvSpPr/>
          <p:nvPr/>
        </p:nvSpPr>
        <p:spPr>
          <a:xfrm>
            <a:off x="868680" y="2212848"/>
            <a:ext cx="256032" cy="256032"/>
          </a:xfrm>
          <a:prstGeom prst="ellipse">
            <a:avLst/>
          </a:prstGeom>
          <a:solidFill>
            <a:srgbClr val="14B8A6"/>
          </a:solidFill>
          <a:ln/>
        </p:spPr>
      </p:sp>
      <p:sp>
        <p:nvSpPr>
          <p:cNvPr id="7" name="Text 5"/>
          <p:cNvSpPr/>
          <p:nvPr/>
        </p:nvSpPr>
        <p:spPr>
          <a:xfrm>
            <a:off x="868680" y="2212848"/>
            <a:ext cx="256032" cy="2560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243584" y="2194560"/>
            <a:ext cx="4480560" cy="457200"/>
          </a:xfrm>
          <a:prstGeom prst="rect">
            <a:avLst/>
          </a:prstGeom>
          <a:noFill/>
          <a:ln/>
        </p:spPr>
        <p:txBody>
          <a:bodyPr wrap="square" lIns="0" tIns="0" rIns="0" bIns="0" rtlCol="0" anchor="ctr"/>
          <a:lstStyle/>
          <a:p>
            <a:pPr indent="0" marL="0">
              <a:buNone/>
            </a:pPr>
            <a:r>
              <a:rPr lang="en-US" sz="1300" dirty="0">
                <a:solidFill>
                  <a:srgbClr val="E7EEF8"/>
                </a:solidFill>
                <a:latin typeface="Calibri" pitchFamily="34" charset="0"/>
                <a:ea typeface="Calibri" pitchFamily="34" charset="-122"/>
                <a:cs typeface="Calibri" pitchFamily="34" charset="-120"/>
              </a:rPr>
              <a:t>All left-table records</a:t>
            </a:r>
            <a:endParaRPr lang="en-US" sz="1300" dirty="0"/>
          </a:p>
        </p:txBody>
      </p:sp>
      <p:sp>
        <p:nvSpPr>
          <p:cNvPr id="9" name="Shape 7"/>
          <p:cNvSpPr/>
          <p:nvPr/>
        </p:nvSpPr>
        <p:spPr>
          <a:xfrm>
            <a:off x="868680" y="2715768"/>
            <a:ext cx="256032" cy="256032"/>
          </a:xfrm>
          <a:prstGeom prst="ellipse">
            <a:avLst/>
          </a:prstGeom>
          <a:solidFill>
            <a:srgbClr val="14B8A6"/>
          </a:solidFill>
          <a:ln/>
        </p:spPr>
      </p:sp>
      <p:sp>
        <p:nvSpPr>
          <p:cNvPr id="10" name="Text 8"/>
          <p:cNvSpPr/>
          <p:nvPr/>
        </p:nvSpPr>
        <p:spPr>
          <a:xfrm>
            <a:off x="868680" y="2715768"/>
            <a:ext cx="256032" cy="2560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1243584" y="2697480"/>
            <a:ext cx="4480560" cy="457200"/>
          </a:xfrm>
          <a:prstGeom prst="rect">
            <a:avLst/>
          </a:prstGeom>
          <a:noFill/>
          <a:ln/>
        </p:spPr>
        <p:txBody>
          <a:bodyPr wrap="square" lIns="0" tIns="0" rIns="0" bIns="0" rtlCol="0" anchor="ctr"/>
          <a:lstStyle/>
          <a:p>
            <a:pPr indent="0" marL="0">
              <a:buNone/>
            </a:pPr>
            <a:r>
              <a:rPr lang="en-US" sz="1300" dirty="0">
                <a:solidFill>
                  <a:srgbClr val="E7EEF8"/>
                </a:solidFill>
                <a:latin typeface="Calibri" pitchFamily="34" charset="0"/>
                <a:ea typeface="Calibri" pitchFamily="34" charset="-122"/>
                <a:cs typeface="Calibri" pitchFamily="34" charset="-120"/>
              </a:rPr>
              <a:t>Matching rows from the right table</a:t>
            </a:r>
            <a:endParaRPr lang="en-US" sz="1300" dirty="0"/>
          </a:p>
        </p:txBody>
      </p:sp>
      <p:sp>
        <p:nvSpPr>
          <p:cNvPr id="12" name="Shape 10"/>
          <p:cNvSpPr/>
          <p:nvPr/>
        </p:nvSpPr>
        <p:spPr>
          <a:xfrm>
            <a:off x="868680" y="3218688"/>
            <a:ext cx="256032" cy="256032"/>
          </a:xfrm>
          <a:prstGeom prst="ellipse">
            <a:avLst/>
          </a:prstGeom>
          <a:solidFill>
            <a:srgbClr val="14B8A6"/>
          </a:solidFill>
          <a:ln/>
        </p:spPr>
      </p:sp>
      <p:sp>
        <p:nvSpPr>
          <p:cNvPr id="13" name="Text 11"/>
          <p:cNvSpPr/>
          <p:nvPr/>
        </p:nvSpPr>
        <p:spPr>
          <a:xfrm>
            <a:off x="868680" y="3218688"/>
            <a:ext cx="256032" cy="2560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1243584" y="3200400"/>
            <a:ext cx="4480560" cy="457200"/>
          </a:xfrm>
          <a:prstGeom prst="rect">
            <a:avLst/>
          </a:prstGeom>
          <a:noFill/>
          <a:ln/>
        </p:spPr>
        <p:txBody>
          <a:bodyPr wrap="square" lIns="0" tIns="0" rIns="0" bIns="0" rtlCol="0" anchor="ctr"/>
          <a:lstStyle/>
          <a:p>
            <a:pPr indent="0" marL="0">
              <a:buNone/>
            </a:pPr>
            <a:r>
              <a:rPr lang="en-US" sz="1300" dirty="0">
                <a:solidFill>
                  <a:srgbClr val="E7EEF8"/>
                </a:solidFill>
                <a:latin typeface="Calibri" pitchFamily="34" charset="0"/>
                <a:ea typeface="Calibri" pitchFamily="34" charset="-122"/>
                <a:cs typeface="Calibri" pitchFamily="34" charset="-120"/>
              </a:rPr>
              <a:t>NULL returned when no match exists</a:t>
            </a:r>
            <a:endParaRPr lang="en-US" sz="1300" dirty="0"/>
          </a:p>
        </p:txBody>
      </p:sp>
      <p:sp>
        <p:nvSpPr>
          <p:cNvPr id="15" name="Shape 13"/>
          <p:cNvSpPr/>
          <p:nvPr/>
        </p:nvSpPr>
        <p:spPr>
          <a:xfrm>
            <a:off x="6172200" y="1508760"/>
            <a:ext cx="5486400" cy="2331720"/>
          </a:xfrm>
          <a:prstGeom prst="roundRect">
            <a:avLst>
              <a:gd name="adj" fmla="val 3529"/>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16" name="Text 14"/>
          <p:cNvSpPr/>
          <p:nvPr/>
        </p:nvSpPr>
        <p:spPr>
          <a:xfrm>
            <a:off x="6492240" y="1691640"/>
            <a:ext cx="4846320" cy="365760"/>
          </a:xfrm>
          <a:prstGeom prst="rect">
            <a:avLst/>
          </a:prstGeom>
          <a:noFill/>
          <a:ln/>
        </p:spPr>
        <p:txBody>
          <a:bodyPr wrap="square" lIns="0" tIns="0" rIns="0" bIns="0" rtlCol="0" anchor="ctr"/>
          <a:lstStyle/>
          <a:p>
            <a:pPr indent="0" marL="0">
              <a:buNone/>
            </a:pPr>
            <a:r>
              <a:rPr lang="en-US" sz="2000" b="1" dirty="0">
                <a:solidFill>
                  <a:srgbClr val="0B2545"/>
                </a:solidFill>
                <a:latin typeface="Cambria" pitchFamily="34" charset="0"/>
                <a:ea typeface="Cambria" pitchFamily="34" charset="-122"/>
                <a:cs typeface="Cambria" pitchFamily="34" charset="-120"/>
              </a:rPr>
              <a:t>RIGHT JOIN</a:t>
            </a:r>
            <a:endParaRPr lang="en-US" sz="2000" dirty="0"/>
          </a:p>
        </p:txBody>
      </p:sp>
      <p:sp>
        <p:nvSpPr>
          <p:cNvPr id="17" name="Shape 15"/>
          <p:cNvSpPr/>
          <p:nvPr/>
        </p:nvSpPr>
        <p:spPr>
          <a:xfrm>
            <a:off x="6492240" y="2212848"/>
            <a:ext cx="256032" cy="256032"/>
          </a:xfrm>
          <a:prstGeom prst="ellipse">
            <a:avLst/>
          </a:prstGeom>
          <a:solidFill>
            <a:srgbClr val="1B3F73"/>
          </a:solidFill>
          <a:ln/>
        </p:spPr>
      </p:sp>
      <p:sp>
        <p:nvSpPr>
          <p:cNvPr id="18" name="Text 16"/>
          <p:cNvSpPr/>
          <p:nvPr/>
        </p:nvSpPr>
        <p:spPr>
          <a:xfrm>
            <a:off x="6492240" y="2212848"/>
            <a:ext cx="256032" cy="2560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7"/>
          <p:cNvSpPr/>
          <p:nvPr/>
        </p:nvSpPr>
        <p:spPr>
          <a:xfrm>
            <a:off x="6867144" y="2194560"/>
            <a:ext cx="4663440" cy="457200"/>
          </a:xfrm>
          <a:prstGeom prst="rect">
            <a:avLst/>
          </a:prstGeom>
          <a:noFill/>
          <a:ln/>
        </p:spPr>
        <p:txBody>
          <a:bodyPr wrap="square" lIns="0" tIns="0" rIns="0" bIns="0" rtlCol="0" anchor="ctr"/>
          <a:lstStyle/>
          <a:p>
            <a:pPr indent="0" marL="0">
              <a:buNone/>
            </a:pPr>
            <a:r>
              <a:rPr lang="en-US" sz="1300" dirty="0">
                <a:solidFill>
                  <a:srgbClr val="112036"/>
                </a:solidFill>
                <a:latin typeface="Calibri" pitchFamily="34" charset="0"/>
                <a:ea typeface="Calibri" pitchFamily="34" charset="-122"/>
                <a:cs typeface="Calibri" pitchFamily="34" charset="-120"/>
              </a:rPr>
              <a:t>All right-table records</a:t>
            </a:r>
            <a:endParaRPr lang="en-US" sz="1300" dirty="0"/>
          </a:p>
        </p:txBody>
      </p:sp>
      <p:sp>
        <p:nvSpPr>
          <p:cNvPr id="20" name="Shape 18"/>
          <p:cNvSpPr/>
          <p:nvPr/>
        </p:nvSpPr>
        <p:spPr>
          <a:xfrm>
            <a:off x="6492240" y="2715768"/>
            <a:ext cx="256032" cy="256032"/>
          </a:xfrm>
          <a:prstGeom prst="ellipse">
            <a:avLst/>
          </a:prstGeom>
          <a:solidFill>
            <a:srgbClr val="1B3F73"/>
          </a:solidFill>
          <a:ln/>
        </p:spPr>
      </p:sp>
      <p:sp>
        <p:nvSpPr>
          <p:cNvPr id="21" name="Text 19"/>
          <p:cNvSpPr/>
          <p:nvPr/>
        </p:nvSpPr>
        <p:spPr>
          <a:xfrm>
            <a:off x="6492240" y="2715768"/>
            <a:ext cx="256032" cy="2560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p:nvPr/>
        </p:nvSpPr>
        <p:spPr>
          <a:xfrm>
            <a:off x="6867144" y="2697480"/>
            <a:ext cx="4663440" cy="457200"/>
          </a:xfrm>
          <a:prstGeom prst="rect">
            <a:avLst/>
          </a:prstGeom>
          <a:noFill/>
          <a:ln/>
        </p:spPr>
        <p:txBody>
          <a:bodyPr wrap="square" lIns="0" tIns="0" rIns="0" bIns="0" rtlCol="0" anchor="ctr"/>
          <a:lstStyle/>
          <a:p>
            <a:pPr indent="0" marL="0">
              <a:buNone/>
            </a:pPr>
            <a:r>
              <a:rPr lang="en-US" sz="1300" dirty="0">
                <a:solidFill>
                  <a:srgbClr val="112036"/>
                </a:solidFill>
                <a:latin typeface="Calibri" pitchFamily="34" charset="0"/>
                <a:ea typeface="Calibri" pitchFamily="34" charset="-122"/>
                <a:cs typeface="Calibri" pitchFamily="34" charset="-120"/>
              </a:rPr>
              <a:t>Matching rows from the left table</a:t>
            </a:r>
            <a:endParaRPr lang="en-US" sz="1300" dirty="0"/>
          </a:p>
        </p:txBody>
      </p:sp>
      <p:sp>
        <p:nvSpPr>
          <p:cNvPr id="23" name="Shape 21"/>
          <p:cNvSpPr/>
          <p:nvPr/>
        </p:nvSpPr>
        <p:spPr>
          <a:xfrm>
            <a:off x="6492240" y="3218688"/>
            <a:ext cx="256032" cy="256032"/>
          </a:xfrm>
          <a:prstGeom prst="ellipse">
            <a:avLst/>
          </a:prstGeom>
          <a:solidFill>
            <a:srgbClr val="1B3F73"/>
          </a:solidFill>
          <a:ln/>
        </p:spPr>
      </p:sp>
      <p:sp>
        <p:nvSpPr>
          <p:cNvPr id="24" name="Text 22"/>
          <p:cNvSpPr/>
          <p:nvPr/>
        </p:nvSpPr>
        <p:spPr>
          <a:xfrm>
            <a:off x="6492240" y="3218688"/>
            <a:ext cx="256032" cy="2560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5" name="Text 23"/>
          <p:cNvSpPr/>
          <p:nvPr/>
        </p:nvSpPr>
        <p:spPr>
          <a:xfrm>
            <a:off x="6867144" y="3200400"/>
            <a:ext cx="4663440" cy="457200"/>
          </a:xfrm>
          <a:prstGeom prst="rect">
            <a:avLst/>
          </a:prstGeom>
          <a:noFill/>
          <a:ln/>
        </p:spPr>
        <p:txBody>
          <a:bodyPr wrap="square" lIns="0" tIns="0" rIns="0" bIns="0" rtlCol="0" anchor="ctr"/>
          <a:lstStyle/>
          <a:p>
            <a:pPr indent="0" marL="0">
              <a:buNone/>
            </a:pPr>
            <a:r>
              <a:rPr lang="en-US" sz="1300" dirty="0">
                <a:solidFill>
                  <a:srgbClr val="112036"/>
                </a:solidFill>
                <a:latin typeface="Calibri" pitchFamily="34" charset="0"/>
                <a:ea typeface="Calibri" pitchFamily="34" charset="-122"/>
                <a:cs typeface="Calibri" pitchFamily="34" charset="-120"/>
              </a:rPr>
              <a:t>LEFT JOIN is preferred in industry</a:t>
            </a:r>
            <a:endParaRPr lang="en-US" sz="1300" dirty="0"/>
          </a:p>
        </p:txBody>
      </p:sp>
      <p:sp>
        <p:nvSpPr>
          <p:cNvPr id="26" name="Text 24"/>
          <p:cNvSpPr/>
          <p:nvPr/>
        </p:nvSpPr>
        <p:spPr>
          <a:xfrm>
            <a:off x="548640" y="4023360"/>
            <a:ext cx="7315200" cy="274320"/>
          </a:xfrm>
          <a:prstGeom prst="rect">
            <a:avLst/>
          </a:prstGeom>
          <a:noFill/>
          <a:ln/>
        </p:spPr>
        <p:txBody>
          <a:bodyPr wrap="square" lIns="0" tIns="0" rIns="0" bIns="0" rtlCol="0" anchor="ctr"/>
          <a:lstStyle/>
          <a:p>
            <a:pPr indent="0" marL="0">
              <a:buNone/>
            </a:pPr>
            <a:r>
              <a:rPr lang="en-US" sz="1100" b="1" spc="100" kern="0" dirty="0">
                <a:solidFill>
                  <a:srgbClr val="0C7C71"/>
                </a:solidFill>
                <a:latin typeface="Calibri" pitchFamily="34" charset="0"/>
                <a:ea typeface="Calibri" pitchFamily="34" charset="-122"/>
                <a:cs typeface="Calibri" pitchFamily="34" charset="-120"/>
              </a:rPr>
              <a:t>SAMPLE OUTPUT — LEFT JOIN (Customers → Orders)</a:t>
            </a:r>
            <a:endParaRPr lang="en-US" sz="1100" dirty="0"/>
          </a:p>
        </p:txBody>
      </p:sp>
      <p:sp>
        <p:nvSpPr>
          <p:cNvPr id="27" name="Shape 25"/>
          <p:cNvSpPr/>
          <p:nvPr/>
        </p:nvSpPr>
        <p:spPr>
          <a:xfrm>
            <a:off x="548640" y="4343400"/>
            <a:ext cx="3200400" cy="384048"/>
          </a:xfrm>
          <a:prstGeom prst="rect">
            <a:avLst/>
          </a:prstGeom>
          <a:solidFill>
            <a:srgbClr val="0B2545"/>
          </a:solidFill>
          <a:ln/>
        </p:spPr>
      </p:sp>
      <p:sp>
        <p:nvSpPr>
          <p:cNvPr id="28" name="Text 26"/>
          <p:cNvSpPr/>
          <p:nvPr/>
        </p:nvSpPr>
        <p:spPr>
          <a:xfrm>
            <a:off x="548640" y="4343400"/>
            <a:ext cx="32004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CustomerName</a:t>
            </a:r>
            <a:endParaRPr lang="en-US" sz="1200" dirty="0"/>
          </a:p>
        </p:txBody>
      </p:sp>
      <p:sp>
        <p:nvSpPr>
          <p:cNvPr id="29" name="Shape 27"/>
          <p:cNvSpPr/>
          <p:nvPr/>
        </p:nvSpPr>
        <p:spPr>
          <a:xfrm>
            <a:off x="3749040" y="4343400"/>
            <a:ext cx="3200400" cy="384048"/>
          </a:xfrm>
          <a:prstGeom prst="rect">
            <a:avLst/>
          </a:prstGeom>
          <a:solidFill>
            <a:srgbClr val="0B2545"/>
          </a:solidFill>
          <a:ln/>
        </p:spPr>
      </p:sp>
      <p:sp>
        <p:nvSpPr>
          <p:cNvPr id="30" name="Text 28"/>
          <p:cNvSpPr/>
          <p:nvPr/>
        </p:nvSpPr>
        <p:spPr>
          <a:xfrm>
            <a:off x="3749040" y="4343400"/>
            <a:ext cx="32004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OrderID</a:t>
            </a:r>
            <a:endParaRPr lang="en-US" sz="1200" dirty="0"/>
          </a:p>
        </p:txBody>
      </p:sp>
      <p:sp>
        <p:nvSpPr>
          <p:cNvPr id="31" name="Shape 29"/>
          <p:cNvSpPr/>
          <p:nvPr/>
        </p:nvSpPr>
        <p:spPr>
          <a:xfrm>
            <a:off x="548640" y="4727448"/>
            <a:ext cx="3200400" cy="384048"/>
          </a:xfrm>
          <a:prstGeom prst="rect">
            <a:avLst/>
          </a:prstGeom>
          <a:solidFill>
            <a:srgbClr val="FFFFFF"/>
          </a:solidFill>
          <a:ln w="9525">
            <a:solidFill>
              <a:srgbClr val="E7ECF1"/>
            </a:solidFill>
            <a:prstDash val="solid"/>
          </a:ln>
        </p:spPr>
      </p:sp>
      <p:sp>
        <p:nvSpPr>
          <p:cNvPr id="32" name="Text 30"/>
          <p:cNvSpPr/>
          <p:nvPr/>
        </p:nvSpPr>
        <p:spPr>
          <a:xfrm>
            <a:off x="548640" y="4727448"/>
            <a:ext cx="3200400" cy="384048"/>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Amit Sharma</a:t>
            </a:r>
            <a:endParaRPr lang="en-US" sz="1150" dirty="0"/>
          </a:p>
        </p:txBody>
      </p:sp>
      <p:sp>
        <p:nvSpPr>
          <p:cNvPr id="33" name="Shape 31"/>
          <p:cNvSpPr/>
          <p:nvPr/>
        </p:nvSpPr>
        <p:spPr>
          <a:xfrm>
            <a:off x="3749040" y="4727448"/>
            <a:ext cx="3200400" cy="384048"/>
          </a:xfrm>
          <a:prstGeom prst="rect">
            <a:avLst/>
          </a:prstGeom>
          <a:solidFill>
            <a:srgbClr val="FFFFFF"/>
          </a:solidFill>
          <a:ln w="9525">
            <a:solidFill>
              <a:srgbClr val="E7ECF1"/>
            </a:solidFill>
            <a:prstDash val="solid"/>
          </a:ln>
        </p:spPr>
      </p:sp>
      <p:sp>
        <p:nvSpPr>
          <p:cNvPr id="34" name="Text 32"/>
          <p:cNvSpPr/>
          <p:nvPr/>
        </p:nvSpPr>
        <p:spPr>
          <a:xfrm>
            <a:off x="3749040" y="4727448"/>
            <a:ext cx="3200400" cy="384048"/>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1001</a:t>
            </a:r>
            <a:endParaRPr lang="en-US" sz="1150" dirty="0"/>
          </a:p>
        </p:txBody>
      </p:sp>
      <p:sp>
        <p:nvSpPr>
          <p:cNvPr id="35" name="Shape 33"/>
          <p:cNvSpPr/>
          <p:nvPr/>
        </p:nvSpPr>
        <p:spPr>
          <a:xfrm>
            <a:off x="548640" y="5111496"/>
            <a:ext cx="3200400" cy="384048"/>
          </a:xfrm>
          <a:prstGeom prst="rect">
            <a:avLst/>
          </a:prstGeom>
          <a:solidFill>
            <a:srgbClr val="F3F6F9"/>
          </a:solidFill>
          <a:ln w="9525">
            <a:solidFill>
              <a:srgbClr val="E7ECF1"/>
            </a:solidFill>
            <a:prstDash val="solid"/>
          </a:ln>
        </p:spPr>
      </p:sp>
      <p:sp>
        <p:nvSpPr>
          <p:cNvPr id="36" name="Text 34"/>
          <p:cNvSpPr/>
          <p:nvPr/>
        </p:nvSpPr>
        <p:spPr>
          <a:xfrm>
            <a:off x="548640" y="5111496"/>
            <a:ext cx="3200400" cy="384048"/>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Karan Malhotra</a:t>
            </a:r>
            <a:endParaRPr lang="en-US" sz="1150" dirty="0"/>
          </a:p>
        </p:txBody>
      </p:sp>
      <p:sp>
        <p:nvSpPr>
          <p:cNvPr id="37" name="Shape 35"/>
          <p:cNvSpPr/>
          <p:nvPr/>
        </p:nvSpPr>
        <p:spPr>
          <a:xfrm>
            <a:off x="3749040" y="5111496"/>
            <a:ext cx="3200400" cy="384048"/>
          </a:xfrm>
          <a:prstGeom prst="rect">
            <a:avLst/>
          </a:prstGeom>
          <a:solidFill>
            <a:srgbClr val="F3F6F9"/>
          </a:solidFill>
          <a:ln w="9525">
            <a:solidFill>
              <a:srgbClr val="E7ECF1"/>
            </a:solidFill>
            <a:prstDash val="solid"/>
          </a:ln>
        </p:spPr>
      </p:sp>
      <p:sp>
        <p:nvSpPr>
          <p:cNvPr id="38" name="Text 36"/>
          <p:cNvSpPr/>
          <p:nvPr/>
        </p:nvSpPr>
        <p:spPr>
          <a:xfrm>
            <a:off x="3749040" y="5111496"/>
            <a:ext cx="3200400" cy="384048"/>
          </a:xfrm>
          <a:prstGeom prst="rect">
            <a:avLst/>
          </a:prstGeom>
          <a:noFill/>
          <a:ln/>
        </p:spPr>
        <p:txBody>
          <a:bodyPr wrap="square" lIns="0" tIns="0" rIns="0" bIns="0" rtlCol="0" anchor="ctr"/>
          <a:lstStyle/>
          <a:p>
            <a:pPr algn="ctr" indent="0" marL="0">
              <a:buNone/>
            </a:pPr>
            <a:r>
              <a:rPr lang="en-US" sz="1150" b="1" i="1" dirty="0">
                <a:solidFill>
                  <a:srgbClr val="C74B4B"/>
                </a:solidFill>
                <a:latin typeface="Calibri" pitchFamily="34" charset="0"/>
                <a:ea typeface="Calibri" pitchFamily="34" charset="-122"/>
                <a:cs typeface="Calibri" pitchFamily="34" charset="-120"/>
              </a:rPr>
              <a:t>NULL</a:t>
            </a:r>
            <a:endParaRPr lang="en-US" sz="1150" dirty="0"/>
          </a:p>
        </p:txBody>
      </p:sp>
      <p:sp>
        <p:nvSpPr>
          <p:cNvPr id="39" name="Shape 37"/>
          <p:cNvSpPr/>
          <p:nvPr/>
        </p:nvSpPr>
        <p:spPr>
          <a:xfrm>
            <a:off x="548640" y="5495544"/>
            <a:ext cx="3200400" cy="384048"/>
          </a:xfrm>
          <a:prstGeom prst="rect">
            <a:avLst/>
          </a:prstGeom>
          <a:solidFill>
            <a:srgbClr val="FFFFFF"/>
          </a:solidFill>
          <a:ln w="9525">
            <a:solidFill>
              <a:srgbClr val="E7ECF1"/>
            </a:solidFill>
            <a:prstDash val="solid"/>
          </a:ln>
        </p:spPr>
      </p:sp>
      <p:sp>
        <p:nvSpPr>
          <p:cNvPr id="40" name="Text 38"/>
          <p:cNvSpPr/>
          <p:nvPr/>
        </p:nvSpPr>
        <p:spPr>
          <a:xfrm>
            <a:off x="548640" y="5495544"/>
            <a:ext cx="3200400" cy="384048"/>
          </a:xfrm>
          <a:prstGeom prst="rect">
            <a:avLst/>
          </a:prstGeom>
          <a:noFill/>
          <a:ln/>
        </p:spPr>
        <p:txBody>
          <a:bodyPr wrap="square" lIns="0" tIns="0" rIns="0" bIns="0" rtlCol="0" anchor="ctr"/>
          <a:lstStyle/>
          <a:p>
            <a:pPr algn="ctr" indent="0" marL="0">
              <a:buNone/>
            </a:pPr>
            <a:r>
              <a:rPr lang="en-US" sz="1150" dirty="0">
                <a:solidFill>
                  <a:srgbClr val="112036"/>
                </a:solidFill>
                <a:latin typeface="Calibri" pitchFamily="34" charset="0"/>
                <a:ea typeface="Calibri" pitchFamily="34" charset="-122"/>
                <a:cs typeface="Calibri" pitchFamily="34" charset="-120"/>
              </a:rPr>
              <a:t>Pooja Jain</a:t>
            </a:r>
            <a:endParaRPr lang="en-US" sz="1150" dirty="0"/>
          </a:p>
        </p:txBody>
      </p:sp>
      <p:sp>
        <p:nvSpPr>
          <p:cNvPr id="41" name="Shape 39"/>
          <p:cNvSpPr/>
          <p:nvPr/>
        </p:nvSpPr>
        <p:spPr>
          <a:xfrm>
            <a:off x="3749040" y="5495544"/>
            <a:ext cx="3200400" cy="384048"/>
          </a:xfrm>
          <a:prstGeom prst="rect">
            <a:avLst/>
          </a:prstGeom>
          <a:solidFill>
            <a:srgbClr val="FFFFFF"/>
          </a:solidFill>
          <a:ln w="9525">
            <a:solidFill>
              <a:srgbClr val="E7ECF1"/>
            </a:solidFill>
            <a:prstDash val="solid"/>
          </a:ln>
        </p:spPr>
      </p:sp>
      <p:sp>
        <p:nvSpPr>
          <p:cNvPr id="42" name="Text 40"/>
          <p:cNvSpPr/>
          <p:nvPr/>
        </p:nvSpPr>
        <p:spPr>
          <a:xfrm>
            <a:off x="3749040" y="5495544"/>
            <a:ext cx="3200400" cy="384048"/>
          </a:xfrm>
          <a:prstGeom prst="rect">
            <a:avLst/>
          </a:prstGeom>
          <a:noFill/>
          <a:ln/>
        </p:spPr>
        <p:txBody>
          <a:bodyPr wrap="square" lIns="0" tIns="0" rIns="0" bIns="0" rtlCol="0" anchor="ctr"/>
          <a:lstStyle/>
          <a:p>
            <a:pPr algn="ctr" indent="0" marL="0">
              <a:buNone/>
            </a:pPr>
            <a:r>
              <a:rPr lang="en-US" sz="1150" b="1" i="1" dirty="0">
                <a:solidFill>
                  <a:srgbClr val="C74B4B"/>
                </a:solidFill>
                <a:latin typeface="Calibri" pitchFamily="34" charset="0"/>
                <a:ea typeface="Calibri" pitchFamily="34" charset="-122"/>
                <a:cs typeface="Calibri" pitchFamily="34" charset="-120"/>
              </a:rPr>
              <a:t>NULL</a:t>
            </a:r>
            <a:endParaRPr lang="en-US" sz="1150" dirty="0"/>
          </a:p>
        </p:txBody>
      </p:sp>
      <p:sp>
        <p:nvSpPr>
          <p:cNvPr id="43" name="Shape 41"/>
          <p:cNvSpPr/>
          <p:nvPr/>
        </p:nvSpPr>
        <p:spPr>
          <a:xfrm>
            <a:off x="7955280" y="4023360"/>
            <a:ext cx="3566160" cy="2148840"/>
          </a:xfrm>
          <a:prstGeom prst="roundRect">
            <a:avLst>
              <a:gd name="adj" fmla="val 3404"/>
            </a:avLst>
          </a:prstGeom>
          <a:solidFill>
            <a:srgbClr val="0B2545"/>
          </a:solidFill>
          <a:ln/>
          <a:effectLst>
            <a:outerShdw sx="100000" sy="100000" kx="0" ky="0" algn="bl" rotWithShape="0" blurRad="76200" dist="25400" dir="5400000">
              <a:srgbClr val="10203A">
                <a:alpha val="35000"/>
              </a:srgbClr>
            </a:outerShdw>
          </a:effectLst>
        </p:spPr>
      </p:sp>
      <p:sp>
        <p:nvSpPr>
          <p:cNvPr id="44" name="Text 42"/>
          <p:cNvSpPr/>
          <p:nvPr/>
        </p:nvSpPr>
        <p:spPr>
          <a:xfrm>
            <a:off x="8211312" y="4151376"/>
            <a:ext cx="3054096" cy="256032"/>
          </a:xfrm>
          <a:prstGeom prst="rect">
            <a:avLst/>
          </a:prstGeom>
          <a:noFill/>
          <a:ln/>
        </p:spPr>
        <p:txBody>
          <a:bodyPr wrap="square" lIns="0" tIns="0" rIns="0" bIns="0" rtlCol="0" anchor="ctr"/>
          <a:lstStyle/>
          <a:p>
            <a:pPr indent="0" marL="0">
              <a:buNone/>
            </a:pPr>
            <a:r>
              <a:rPr lang="en-US" sz="1100" b="1" spc="150" kern="0" dirty="0">
                <a:solidFill>
                  <a:srgbClr val="14B8A6"/>
                </a:solidFill>
                <a:latin typeface="Calibri" pitchFamily="34" charset="0"/>
                <a:ea typeface="Calibri" pitchFamily="34" charset="-122"/>
                <a:cs typeface="Calibri" pitchFamily="34" charset="-120"/>
              </a:rPr>
              <a:t>INDUSTRY NOTE</a:t>
            </a:r>
            <a:endParaRPr lang="en-US" sz="1100" dirty="0"/>
          </a:p>
        </p:txBody>
      </p:sp>
      <p:sp>
        <p:nvSpPr>
          <p:cNvPr id="45" name="Text 43"/>
          <p:cNvSpPr/>
          <p:nvPr/>
        </p:nvSpPr>
        <p:spPr>
          <a:xfrm>
            <a:off x="8211312" y="4425696"/>
            <a:ext cx="3054096" cy="1618488"/>
          </a:xfrm>
          <a:prstGeom prst="rect">
            <a:avLst/>
          </a:prstGeom>
          <a:noFill/>
          <a:ln/>
        </p:spPr>
        <p:txBody>
          <a:bodyPr wrap="square" lIns="0" tIns="0" rIns="0" bIns="0" rtlCol="0" anchor="t"/>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RIGHT JOIN and LEFT JOIN can always produce the same result by swapping table order. Teams standardize on LEFT JOIN for consistency and readability.</a:t>
            </a:r>
            <a:endParaRPr lang="en-US" sz="1250" dirty="0"/>
          </a:p>
        </p:txBody>
      </p:sp>
      <p:sp>
        <p:nvSpPr>
          <p:cNvPr id="46" name="Text 44"/>
          <p:cNvSpPr/>
          <p:nvPr/>
        </p:nvSpPr>
        <p:spPr>
          <a:xfrm>
            <a:off x="457200" y="6528816"/>
            <a:ext cx="6400800" cy="274320"/>
          </a:xfrm>
          <a:prstGeom prst="rect">
            <a:avLst/>
          </a:prstGeom>
          <a:noFill/>
          <a:ln/>
        </p:spPr>
        <p:txBody>
          <a:bodyPr wrap="square" rtlCol="0" anchor="ctr"/>
          <a:lstStyle/>
          <a:p>
            <a:pPr algn="l" indent="0" marL="0">
              <a:buNone/>
            </a:pPr>
            <a:r>
              <a:rPr lang="en-US" sz="900" i="1" dirty="0">
                <a:solidFill>
                  <a:srgbClr val="62728A"/>
                </a:solidFill>
                <a:latin typeface="Calibri" pitchFamily="34" charset="0"/>
                <a:ea typeface="Calibri" pitchFamily="34" charset="-122"/>
                <a:cs typeface="Calibri" pitchFamily="34" charset="-120"/>
              </a:rPr>
              <a:t>Shalinee Priya   |   Data Analyst  ·  SQL Trainer</a:t>
            </a:r>
            <a:endParaRPr lang="en-US" sz="900" dirty="0"/>
          </a:p>
        </p:txBody>
      </p:sp>
      <p:sp>
        <p:nvSpPr>
          <p:cNvPr id="47" name="Shape 45"/>
          <p:cNvSpPr/>
          <p:nvPr/>
        </p:nvSpPr>
        <p:spPr>
          <a:xfrm>
            <a:off x="10561320" y="6510528"/>
            <a:ext cx="1170432" cy="292608"/>
          </a:xfrm>
          <a:prstGeom prst="rect">
            <a:avLst>
              <a:gd name="adj" fmla="val 50000"/>
            </a:avLst>
          </a:prstGeom>
          <a:solidFill>
            <a:srgbClr val="0B2545"/>
          </a:solidFill>
          <a:ln/>
        </p:spPr>
      </p:sp>
      <p:sp>
        <p:nvSpPr>
          <p:cNvPr id="48" name="Text 46"/>
          <p:cNvSpPr/>
          <p:nvPr/>
        </p:nvSpPr>
        <p:spPr>
          <a:xfrm>
            <a:off x="10561320" y="6510528"/>
            <a:ext cx="11704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6/10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algn="l" indent="0" marL="0">
              <a:buNone/>
            </a:pPr>
            <a:r>
              <a:rPr lang="en-US" sz="1200" b="1" spc="200" kern="0" dirty="0">
                <a:solidFill>
                  <a:srgbClr val="0C7C71"/>
                </a:solidFill>
                <a:latin typeface="Calibri" pitchFamily="34" charset="0"/>
                <a:ea typeface="Calibri" pitchFamily="34" charset="-122"/>
                <a:cs typeface="Calibri" pitchFamily="34" charset="-120"/>
              </a:rPr>
              <a:t>TWO MORE PATTERNS</a:t>
            </a:r>
            <a:endParaRPr lang="en-US" sz="1200" dirty="0"/>
          </a:p>
        </p:txBody>
      </p:sp>
      <p:sp>
        <p:nvSpPr>
          <p:cNvPr id="3" name="Text 1"/>
          <p:cNvSpPr/>
          <p:nvPr/>
        </p:nvSpPr>
        <p:spPr>
          <a:xfrm>
            <a:off x="530352" y="530352"/>
            <a:ext cx="10607040" cy="566928"/>
          </a:xfrm>
          <a:prstGeom prst="rect">
            <a:avLst/>
          </a:prstGeom>
          <a:noFill/>
          <a:ln/>
        </p:spPr>
        <p:txBody>
          <a:bodyPr wrap="square" lIns="0" tIns="0" rIns="0" bIns="0"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FULL OUTER JOIN &amp; CROSS JOIN</a:t>
            </a:r>
            <a:endParaRPr lang="en-US" sz="3000" dirty="0"/>
          </a:p>
        </p:txBody>
      </p:sp>
      <p:sp>
        <p:nvSpPr>
          <p:cNvPr id="4" name="Shape 2"/>
          <p:cNvSpPr/>
          <p:nvPr/>
        </p:nvSpPr>
        <p:spPr>
          <a:xfrm>
            <a:off x="548640" y="1417320"/>
            <a:ext cx="11109960" cy="1965960"/>
          </a:xfrm>
          <a:prstGeom prst="roundRect">
            <a:avLst>
              <a:gd name="adj" fmla="val 4186"/>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5" name="Text 3"/>
          <p:cNvSpPr/>
          <p:nvPr/>
        </p:nvSpPr>
        <p:spPr>
          <a:xfrm>
            <a:off x="822960" y="1554480"/>
            <a:ext cx="4572000" cy="320040"/>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FULL OUTER JOIN</a:t>
            </a:r>
            <a:endParaRPr lang="en-US" sz="1700" dirty="0"/>
          </a:p>
        </p:txBody>
      </p:sp>
      <p:sp>
        <p:nvSpPr>
          <p:cNvPr id="6" name="Text 4"/>
          <p:cNvSpPr/>
          <p:nvPr/>
        </p:nvSpPr>
        <p:spPr>
          <a:xfrm>
            <a:off x="822960" y="1901952"/>
            <a:ext cx="4846320" cy="502920"/>
          </a:xfrm>
          <a:prstGeom prst="rect">
            <a:avLst/>
          </a:prstGeom>
          <a:noFill/>
          <a:ln/>
        </p:spPr>
        <p:txBody>
          <a:bodyPr wrap="square" lIns="0" tIns="0" rIns="0" bIns="0" rtlCol="0" anchor="ctr"/>
          <a:lstStyle/>
          <a:p>
            <a:pPr indent="0" marL="0">
              <a:lnSpc>
                <a:spcPct val="115000"/>
              </a:lnSpc>
              <a:buNone/>
            </a:pPr>
            <a:r>
              <a:rPr lang="en-US" sz="1250" dirty="0">
                <a:solidFill>
                  <a:srgbClr val="112036"/>
                </a:solidFill>
                <a:latin typeface="Calibri" pitchFamily="34" charset="0"/>
                <a:ea typeface="Calibri" pitchFamily="34" charset="-122"/>
                <a:cs typeface="Calibri" pitchFamily="34" charset="-120"/>
              </a:rPr>
              <a:t>MySQL doesn't support FULL OUTER JOIN directly — it is simulated:</a:t>
            </a:r>
            <a:endParaRPr lang="en-US" sz="1250" dirty="0"/>
          </a:p>
        </p:txBody>
      </p:sp>
      <p:sp>
        <p:nvSpPr>
          <p:cNvPr id="7" name="Shape 5"/>
          <p:cNvSpPr/>
          <p:nvPr/>
        </p:nvSpPr>
        <p:spPr>
          <a:xfrm>
            <a:off x="822960" y="2450592"/>
            <a:ext cx="4846320" cy="822960"/>
          </a:xfrm>
          <a:prstGeom prst="roundRect">
            <a:avLst>
              <a:gd name="adj" fmla="val 6667"/>
            </a:avLst>
          </a:prstGeom>
          <a:solidFill>
            <a:srgbClr val="0B2545"/>
          </a:solidFill>
          <a:ln/>
        </p:spPr>
      </p:sp>
      <p:sp>
        <p:nvSpPr>
          <p:cNvPr id="8" name="Text 6"/>
          <p:cNvSpPr/>
          <p:nvPr/>
        </p:nvSpPr>
        <p:spPr>
          <a:xfrm>
            <a:off x="1024128" y="2578608"/>
            <a:ext cx="4443984" cy="566928"/>
          </a:xfrm>
          <a:prstGeom prst="rect">
            <a:avLst/>
          </a:prstGeom>
          <a:noFill/>
          <a:ln/>
        </p:spPr>
        <p:txBody>
          <a:bodyPr wrap="square" lIns="0" tIns="0" rIns="0" bIns="0" rtlCol="0" anchor="t"/>
          <a:lstStyle/>
          <a:p>
            <a:pPr indent="0" marL="0">
              <a:lnSpc>
                <a:spcPct val="112000"/>
              </a:lnSpc>
              <a:buNone/>
            </a:pPr>
            <a:r>
              <a:rPr lang="en-US" sz="1250" dirty="0">
                <a:solidFill>
                  <a:srgbClr val="CFEFE9"/>
                </a:solidFill>
                <a:latin typeface="Courier New" pitchFamily="34" charset="0"/>
                <a:ea typeface="Courier New" pitchFamily="34" charset="-122"/>
                <a:cs typeface="Courier New" pitchFamily="34" charset="-120"/>
              </a:rPr>
              <a:t>LEFT JOIN</a:t>
            </a:r>
            <a:endParaRPr lang="en-US" sz="1250" dirty="0"/>
          </a:p>
          <a:p>
            <a:pPr indent="0" marL="0">
              <a:lnSpc>
                <a:spcPct val="112000"/>
              </a:lnSpc>
              <a:buNone/>
            </a:pPr>
            <a:r>
              <a:rPr lang="en-US" sz="1250" dirty="0">
                <a:solidFill>
                  <a:srgbClr val="CFEFE9"/>
                </a:solidFill>
                <a:latin typeface="Courier New" pitchFamily="34" charset="0"/>
                <a:ea typeface="Courier New" pitchFamily="34" charset="-122"/>
                <a:cs typeface="Courier New" pitchFamily="34" charset="-120"/>
              </a:rPr>
              <a:t>   UNION</a:t>
            </a:r>
            <a:endParaRPr lang="en-US" sz="1250" dirty="0"/>
          </a:p>
          <a:p>
            <a:pPr indent="0" marL="0">
              <a:lnSpc>
                <a:spcPct val="112000"/>
              </a:lnSpc>
              <a:buNone/>
            </a:pPr>
            <a:r>
              <a:rPr lang="en-US" sz="1250" dirty="0">
                <a:solidFill>
                  <a:srgbClr val="CFEFE9"/>
                </a:solidFill>
                <a:latin typeface="Courier New" pitchFamily="34" charset="0"/>
                <a:ea typeface="Courier New" pitchFamily="34" charset="-122"/>
                <a:cs typeface="Courier New" pitchFamily="34" charset="-120"/>
              </a:rPr>
              <a:t>RIGHT JOIN</a:t>
            </a:r>
            <a:endParaRPr lang="en-US" sz="1250" dirty="0"/>
          </a:p>
        </p:txBody>
      </p:sp>
      <p:sp>
        <p:nvSpPr>
          <p:cNvPr id="9" name="Shape 7"/>
          <p:cNvSpPr/>
          <p:nvPr/>
        </p:nvSpPr>
        <p:spPr>
          <a:xfrm>
            <a:off x="6400800" y="1737360"/>
            <a:ext cx="1371600" cy="1371600"/>
          </a:xfrm>
          <a:prstGeom prst="ellipse">
            <a:avLst/>
          </a:prstGeom>
          <a:solidFill>
            <a:srgbClr val="1B3F73">
              <a:alpha val="70000"/>
            </a:srgbClr>
          </a:solidFill>
          <a:ln w="19050">
            <a:solidFill>
              <a:srgbClr val="1B3F73"/>
            </a:solidFill>
            <a:prstDash val="solid"/>
          </a:ln>
        </p:spPr>
      </p:sp>
      <p:sp>
        <p:nvSpPr>
          <p:cNvPr id="10" name="Shape 8"/>
          <p:cNvSpPr/>
          <p:nvPr/>
        </p:nvSpPr>
        <p:spPr>
          <a:xfrm>
            <a:off x="7155180" y="1737360"/>
            <a:ext cx="1371600" cy="1371600"/>
          </a:xfrm>
          <a:prstGeom prst="ellipse">
            <a:avLst/>
          </a:prstGeom>
          <a:solidFill>
            <a:srgbClr val="14B8A6">
              <a:alpha val="70000"/>
            </a:srgbClr>
          </a:solidFill>
          <a:ln w="19050">
            <a:solidFill>
              <a:srgbClr val="14B8A6"/>
            </a:solidFill>
            <a:prstDash val="solid"/>
          </a:ln>
        </p:spPr>
      </p:sp>
      <p:sp>
        <p:nvSpPr>
          <p:cNvPr id="11" name="Text 9"/>
          <p:cNvSpPr/>
          <p:nvPr/>
        </p:nvSpPr>
        <p:spPr>
          <a:xfrm>
            <a:off x="6263640" y="2148840"/>
            <a:ext cx="164592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ALL ROWS,</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BOTH SIDES</a:t>
            </a:r>
            <a:endParaRPr lang="en-US" sz="1050" dirty="0"/>
          </a:p>
        </p:txBody>
      </p:sp>
      <p:sp>
        <p:nvSpPr>
          <p:cNvPr id="12" name="Shape 10"/>
          <p:cNvSpPr/>
          <p:nvPr/>
        </p:nvSpPr>
        <p:spPr>
          <a:xfrm>
            <a:off x="8275320" y="1600200"/>
            <a:ext cx="3200400" cy="1600200"/>
          </a:xfrm>
          <a:prstGeom prst="roundRect">
            <a:avLst>
              <a:gd name="adj" fmla="val 5143"/>
            </a:avLst>
          </a:prstGeom>
          <a:solidFill>
            <a:srgbClr val="FFFFFF"/>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13" name="Text 11"/>
          <p:cNvSpPr/>
          <p:nvPr/>
        </p:nvSpPr>
        <p:spPr>
          <a:xfrm>
            <a:off x="8458200" y="1709928"/>
            <a:ext cx="2834640" cy="274320"/>
          </a:xfrm>
          <a:prstGeom prst="rect">
            <a:avLst/>
          </a:prstGeom>
          <a:noFill/>
          <a:ln/>
        </p:spPr>
        <p:txBody>
          <a:bodyPr wrap="square" lIns="0" tIns="0" rIns="0" bIns="0" rtlCol="0" anchor="ctr"/>
          <a:lstStyle/>
          <a:p>
            <a:pPr indent="0" marL="0">
              <a:buNone/>
            </a:pPr>
            <a:r>
              <a:rPr lang="en-US" sz="1150" b="1" dirty="0">
                <a:solidFill>
                  <a:srgbClr val="0C7C71"/>
                </a:solidFill>
                <a:latin typeface="Calibri" pitchFamily="34" charset="0"/>
                <a:ea typeface="Calibri" pitchFamily="34" charset="-122"/>
                <a:cs typeface="Calibri" pitchFamily="34" charset="-120"/>
              </a:rPr>
              <a:t>Customers ∪ Orders</a:t>
            </a:r>
            <a:endParaRPr lang="en-US" sz="1150" dirty="0"/>
          </a:p>
        </p:txBody>
      </p:sp>
      <p:sp>
        <p:nvSpPr>
          <p:cNvPr id="14" name="Text 12"/>
          <p:cNvSpPr/>
          <p:nvPr/>
        </p:nvSpPr>
        <p:spPr>
          <a:xfrm>
            <a:off x="8458200" y="2011680"/>
            <a:ext cx="2834640" cy="320040"/>
          </a:xfrm>
          <a:prstGeom prst="rect">
            <a:avLst/>
          </a:prstGeom>
          <a:noFill/>
          <a:ln/>
        </p:spPr>
        <p:txBody>
          <a:bodyPr wrap="square" lIns="0" tIns="0" rIns="0" bIns="0" rtlCol="0" anchor="ctr"/>
          <a:lstStyle/>
          <a:p>
            <a:pPr indent="0" marL="0">
              <a:buNone/>
            </a:pPr>
            <a:r>
              <a:rPr lang="en-US" sz="1100" dirty="0">
                <a:solidFill>
                  <a:srgbClr val="112036"/>
                </a:solidFill>
                <a:latin typeface="Calibri" pitchFamily="34" charset="0"/>
                <a:ea typeface="Calibri" pitchFamily="34" charset="-122"/>
                <a:cs typeface="Calibri" pitchFamily="34" charset="-120"/>
              </a:rPr>
              <a:t>Amit Sharma  →  1001</a:t>
            </a:r>
            <a:endParaRPr lang="en-US" sz="1100" dirty="0"/>
          </a:p>
        </p:txBody>
      </p:sp>
      <p:sp>
        <p:nvSpPr>
          <p:cNvPr id="15" name="Text 13"/>
          <p:cNvSpPr/>
          <p:nvPr/>
        </p:nvSpPr>
        <p:spPr>
          <a:xfrm>
            <a:off x="8458200" y="2377440"/>
            <a:ext cx="2834640" cy="320040"/>
          </a:xfrm>
          <a:prstGeom prst="rect">
            <a:avLst/>
          </a:prstGeom>
          <a:noFill/>
          <a:ln/>
        </p:spPr>
        <p:txBody>
          <a:bodyPr wrap="square" lIns="0" tIns="0" rIns="0" bIns="0" rtlCol="0" anchor="ctr"/>
          <a:lstStyle/>
          <a:p>
            <a:pPr indent="0" marL="0">
              <a:buNone/>
            </a:pPr>
            <a:r>
              <a:rPr lang="en-US" sz="1100" dirty="0">
                <a:solidFill>
                  <a:srgbClr val="112036"/>
                </a:solidFill>
                <a:latin typeface="Calibri" pitchFamily="34" charset="0"/>
                <a:ea typeface="Calibri" pitchFamily="34" charset="-122"/>
                <a:cs typeface="Calibri" pitchFamily="34" charset="-120"/>
              </a:rPr>
              <a:t>Karan Malhotra  →  NULL</a:t>
            </a:r>
            <a:endParaRPr lang="en-US" sz="1100" dirty="0"/>
          </a:p>
        </p:txBody>
      </p:sp>
      <p:sp>
        <p:nvSpPr>
          <p:cNvPr id="16" name="Text 14"/>
          <p:cNvSpPr/>
          <p:nvPr/>
        </p:nvSpPr>
        <p:spPr>
          <a:xfrm>
            <a:off x="8458200" y="2743200"/>
            <a:ext cx="2834640" cy="320040"/>
          </a:xfrm>
          <a:prstGeom prst="rect">
            <a:avLst/>
          </a:prstGeom>
          <a:noFill/>
          <a:ln/>
        </p:spPr>
        <p:txBody>
          <a:bodyPr wrap="square" lIns="0" tIns="0" rIns="0" bIns="0" rtlCol="0" anchor="ctr"/>
          <a:lstStyle/>
          <a:p>
            <a:pPr indent="0" marL="0">
              <a:buNone/>
            </a:pPr>
            <a:r>
              <a:rPr lang="en-US" sz="1100" dirty="0">
                <a:solidFill>
                  <a:srgbClr val="112036"/>
                </a:solidFill>
                <a:latin typeface="Calibri" pitchFamily="34" charset="0"/>
                <a:ea typeface="Calibri" pitchFamily="34" charset="-122"/>
                <a:cs typeface="Calibri" pitchFamily="34" charset="-120"/>
              </a:rPr>
              <a:t>—  →  1002 (Priya)</a:t>
            </a:r>
            <a:endParaRPr lang="en-US" sz="1100" dirty="0"/>
          </a:p>
        </p:txBody>
      </p:sp>
      <p:sp>
        <p:nvSpPr>
          <p:cNvPr id="17" name="Shape 15"/>
          <p:cNvSpPr/>
          <p:nvPr/>
        </p:nvSpPr>
        <p:spPr>
          <a:xfrm>
            <a:off x="548640" y="3566160"/>
            <a:ext cx="11109960" cy="2606040"/>
          </a:xfrm>
          <a:prstGeom prst="roundRect">
            <a:avLst>
              <a:gd name="adj" fmla="val 3158"/>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18" name="Text 16"/>
          <p:cNvSpPr/>
          <p:nvPr/>
        </p:nvSpPr>
        <p:spPr>
          <a:xfrm>
            <a:off x="822960" y="3703320"/>
            <a:ext cx="4572000" cy="320040"/>
          </a:xfrm>
          <a:prstGeom prst="rect">
            <a:avLst/>
          </a:prstGeom>
          <a:noFill/>
          <a:ln/>
        </p:spPr>
        <p:txBody>
          <a:bodyPr wrap="square" lIns="0" tIns="0" rIns="0" bIns="0" rtlCol="0" anchor="ctr"/>
          <a:lstStyle/>
          <a:p>
            <a:pPr indent="0" marL="0">
              <a:buNone/>
            </a:pPr>
            <a:r>
              <a:rPr lang="en-US" sz="1700" b="1" dirty="0">
                <a:solidFill>
                  <a:srgbClr val="0B2545"/>
                </a:solidFill>
                <a:latin typeface="Cambria" pitchFamily="34" charset="0"/>
                <a:ea typeface="Cambria" pitchFamily="34" charset="-122"/>
                <a:cs typeface="Cambria" pitchFamily="34" charset="-120"/>
              </a:rPr>
              <a:t>CROSS JOIN</a:t>
            </a:r>
            <a:endParaRPr lang="en-US" sz="1700" dirty="0"/>
          </a:p>
        </p:txBody>
      </p:sp>
      <p:sp>
        <p:nvSpPr>
          <p:cNvPr id="19" name="Text 17"/>
          <p:cNvSpPr/>
          <p:nvPr/>
        </p:nvSpPr>
        <p:spPr>
          <a:xfrm>
            <a:off x="822960" y="4041648"/>
            <a:ext cx="4572000" cy="365760"/>
          </a:xfrm>
          <a:prstGeom prst="rect">
            <a:avLst/>
          </a:prstGeom>
          <a:noFill/>
          <a:ln/>
        </p:spPr>
        <p:txBody>
          <a:bodyPr wrap="square" lIns="0" tIns="0" rIns="0" bIns="0" rtlCol="0" anchor="ctr"/>
          <a:lstStyle/>
          <a:p>
            <a:pPr indent="0" marL="0">
              <a:buNone/>
            </a:pPr>
            <a:r>
              <a:rPr lang="en-US" sz="1300" b="1" dirty="0">
                <a:solidFill>
                  <a:srgbClr val="0C7C71"/>
                </a:solidFill>
                <a:latin typeface="Calibri" pitchFamily="34" charset="0"/>
                <a:ea typeface="Calibri" pitchFamily="34" charset="-122"/>
                <a:cs typeface="Calibri" pitchFamily="34" charset="-120"/>
              </a:rPr>
              <a:t>3 Customers × 2 Plans = 6 combinations</a:t>
            </a:r>
            <a:endParaRPr lang="en-US" sz="1300" dirty="0"/>
          </a:p>
        </p:txBody>
      </p:sp>
      <p:sp>
        <p:nvSpPr>
          <p:cNvPr id="20" name="Shape 18"/>
          <p:cNvSpPr/>
          <p:nvPr/>
        </p:nvSpPr>
        <p:spPr>
          <a:xfrm>
            <a:off x="822960" y="4526280"/>
            <a:ext cx="1691640" cy="502920"/>
          </a:xfrm>
          <a:prstGeom prst="roundRect">
            <a:avLst>
              <a:gd name="adj" fmla="val 9091"/>
            </a:avLst>
          </a:prstGeom>
          <a:solidFill>
            <a:srgbClr val="14B8A6"/>
          </a:solidFill>
          <a:ln/>
        </p:spPr>
      </p:sp>
      <p:sp>
        <p:nvSpPr>
          <p:cNvPr id="21" name="Text 19"/>
          <p:cNvSpPr/>
          <p:nvPr/>
        </p:nvSpPr>
        <p:spPr>
          <a:xfrm>
            <a:off x="822960" y="4526280"/>
            <a:ext cx="169164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Amit × Basic</a:t>
            </a:r>
            <a:endParaRPr lang="en-US" sz="1050" dirty="0"/>
          </a:p>
        </p:txBody>
      </p:sp>
      <p:sp>
        <p:nvSpPr>
          <p:cNvPr id="22" name="Shape 20"/>
          <p:cNvSpPr/>
          <p:nvPr/>
        </p:nvSpPr>
        <p:spPr>
          <a:xfrm>
            <a:off x="2624328" y="4526280"/>
            <a:ext cx="1691640" cy="502920"/>
          </a:xfrm>
          <a:prstGeom prst="roundRect">
            <a:avLst>
              <a:gd name="adj" fmla="val 9091"/>
            </a:avLst>
          </a:prstGeom>
          <a:solidFill>
            <a:srgbClr val="1B3F73"/>
          </a:solidFill>
          <a:ln/>
        </p:spPr>
      </p:sp>
      <p:sp>
        <p:nvSpPr>
          <p:cNvPr id="23" name="Text 21"/>
          <p:cNvSpPr/>
          <p:nvPr/>
        </p:nvSpPr>
        <p:spPr>
          <a:xfrm>
            <a:off x="2624328" y="4526280"/>
            <a:ext cx="169164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Amit × Premium</a:t>
            </a:r>
            <a:endParaRPr lang="en-US" sz="1050" dirty="0"/>
          </a:p>
        </p:txBody>
      </p:sp>
      <p:sp>
        <p:nvSpPr>
          <p:cNvPr id="24" name="Shape 22"/>
          <p:cNvSpPr/>
          <p:nvPr/>
        </p:nvSpPr>
        <p:spPr>
          <a:xfrm>
            <a:off x="4425696" y="4526280"/>
            <a:ext cx="1691640" cy="502920"/>
          </a:xfrm>
          <a:prstGeom prst="roundRect">
            <a:avLst>
              <a:gd name="adj" fmla="val 9091"/>
            </a:avLst>
          </a:prstGeom>
          <a:solidFill>
            <a:srgbClr val="14B8A6"/>
          </a:solidFill>
          <a:ln/>
        </p:spPr>
      </p:sp>
      <p:sp>
        <p:nvSpPr>
          <p:cNvPr id="25" name="Text 23"/>
          <p:cNvSpPr/>
          <p:nvPr/>
        </p:nvSpPr>
        <p:spPr>
          <a:xfrm>
            <a:off x="4425696" y="4526280"/>
            <a:ext cx="169164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Priya × Basic</a:t>
            </a:r>
            <a:endParaRPr lang="en-US" sz="1050" dirty="0"/>
          </a:p>
        </p:txBody>
      </p:sp>
      <p:sp>
        <p:nvSpPr>
          <p:cNvPr id="26" name="Shape 24"/>
          <p:cNvSpPr/>
          <p:nvPr/>
        </p:nvSpPr>
        <p:spPr>
          <a:xfrm>
            <a:off x="822960" y="5138928"/>
            <a:ext cx="1691640" cy="502920"/>
          </a:xfrm>
          <a:prstGeom prst="roundRect">
            <a:avLst>
              <a:gd name="adj" fmla="val 9091"/>
            </a:avLst>
          </a:prstGeom>
          <a:solidFill>
            <a:srgbClr val="1B3F73"/>
          </a:solidFill>
          <a:ln/>
        </p:spPr>
      </p:sp>
      <p:sp>
        <p:nvSpPr>
          <p:cNvPr id="27" name="Text 25"/>
          <p:cNvSpPr/>
          <p:nvPr/>
        </p:nvSpPr>
        <p:spPr>
          <a:xfrm>
            <a:off x="822960" y="5138928"/>
            <a:ext cx="169164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Priya × Premium</a:t>
            </a:r>
            <a:endParaRPr lang="en-US" sz="1050" dirty="0"/>
          </a:p>
        </p:txBody>
      </p:sp>
      <p:sp>
        <p:nvSpPr>
          <p:cNvPr id="28" name="Shape 26"/>
          <p:cNvSpPr/>
          <p:nvPr/>
        </p:nvSpPr>
        <p:spPr>
          <a:xfrm>
            <a:off x="2624328" y="5138928"/>
            <a:ext cx="1691640" cy="502920"/>
          </a:xfrm>
          <a:prstGeom prst="roundRect">
            <a:avLst>
              <a:gd name="adj" fmla="val 9091"/>
            </a:avLst>
          </a:prstGeom>
          <a:solidFill>
            <a:srgbClr val="14B8A6"/>
          </a:solidFill>
          <a:ln/>
        </p:spPr>
      </p:sp>
      <p:sp>
        <p:nvSpPr>
          <p:cNvPr id="29" name="Text 27"/>
          <p:cNvSpPr/>
          <p:nvPr/>
        </p:nvSpPr>
        <p:spPr>
          <a:xfrm>
            <a:off x="2624328" y="5138928"/>
            <a:ext cx="169164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Rahul × Basic</a:t>
            </a:r>
            <a:endParaRPr lang="en-US" sz="1050" dirty="0"/>
          </a:p>
        </p:txBody>
      </p:sp>
      <p:sp>
        <p:nvSpPr>
          <p:cNvPr id="30" name="Shape 28"/>
          <p:cNvSpPr/>
          <p:nvPr/>
        </p:nvSpPr>
        <p:spPr>
          <a:xfrm>
            <a:off x="4425696" y="5138928"/>
            <a:ext cx="1691640" cy="502920"/>
          </a:xfrm>
          <a:prstGeom prst="roundRect">
            <a:avLst>
              <a:gd name="adj" fmla="val 9091"/>
            </a:avLst>
          </a:prstGeom>
          <a:solidFill>
            <a:srgbClr val="1B3F73"/>
          </a:solidFill>
          <a:ln/>
        </p:spPr>
      </p:sp>
      <p:sp>
        <p:nvSpPr>
          <p:cNvPr id="31" name="Text 29"/>
          <p:cNvSpPr/>
          <p:nvPr/>
        </p:nvSpPr>
        <p:spPr>
          <a:xfrm>
            <a:off x="4425696" y="5138928"/>
            <a:ext cx="1691640" cy="5029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Rahul × Premium</a:t>
            </a:r>
            <a:endParaRPr lang="en-US" sz="1050" dirty="0"/>
          </a:p>
        </p:txBody>
      </p:sp>
      <p:sp>
        <p:nvSpPr>
          <p:cNvPr id="32" name="Shape 30"/>
          <p:cNvSpPr/>
          <p:nvPr/>
        </p:nvSpPr>
        <p:spPr>
          <a:xfrm>
            <a:off x="6720840" y="4023360"/>
            <a:ext cx="4754880" cy="1783080"/>
          </a:xfrm>
          <a:prstGeom prst="roundRect">
            <a:avLst>
              <a:gd name="adj" fmla="val 4103"/>
            </a:avLst>
          </a:prstGeom>
          <a:solidFill>
            <a:srgbClr val="0B2545"/>
          </a:solidFill>
          <a:ln/>
        </p:spPr>
      </p:sp>
      <p:sp>
        <p:nvSpPr>
          <p:cNvPr id="33" name="Text 31"/>
          <p:cNvSpPr/>
          <p:nvPr/>
        </p:nvSpPr>
        <p:spPr>
          <a:xfrm>
            <a:off x="6949440" y="4169664"/>
            <a:ext cx="4297680" cy="320040"/>
          </a:xfrm>
          <a:prstGeom prst="rect">
            <a:avLst/>
          </a:prstGeom>
          <a:noFill/>
          <a:ln/>
        </p:spPr>
        <p:txBody>
          <a:bodyPr wrap="square" lIns="0" tIns="0" rIns="0" bIns="0" rtlCol="0" anchor="ctr"/>
          <a:lstStyle/>
          <a:p>
            <a:pPr indent="0" marL="0">
              <a:buNone/>
            </a:pPr>
            <a:r>
              <a:rPr lang="en-US" sz="1300" b="1" dirty="0">
                <a:solidFill>
                  <a:srgbClr val="14B8A6"/>
                </a:solidFill>
                <a:latin typeface="Calibri" pitchFamily="34" charset="0"/>
                <a:ea typeface="Calibri" pitchFamily="34" charset="-122"/>
                <a:cs typeface="Calibri" pitchFamily="34" charset="-120"/>
              </a:rPr>
              <a:t>⚠  CARTESIAN PRODUCT</a:t>
            </a:r>
            <a:endParaRPr lang="en-US" sz="1300" dirty="0"/>
          </a:p>
        </p:txBody>
      </p:sp>
      <p:sp>
        <p:nvSpPr>
          <p:cNvPr id="34" name="Text 32"/>
          <p:cNvSpPr/>
          <p:nvPr/>
        </p:nvSpPr>
        <p:spPr>
          <a:xfrm>
            <a:off x="6949440" y="4517136"/>
            <a:ext cx="4297680" cy="1188720"/>
          </a:xfrm>
          <a:prstGeom prst="rect">
            <a:avLst/>
          </a:prstGeom>
          <a:noFill/>
          <a:ln/>
        </p:spPr>
        <p:txBody>
          <a:bodyPr wrap="square" lIns="0" tIns="0" rIns="0" bIns="0" rtlCol="0" anchor="ctr"/>
          <a:lstStyle/>
          <a:p>
            <a:pPr indent="0" marL="0">
              <a:lnSpc>
                <a:spcPct val="120000"/>
              </a:lnSpc>
              <a:buNone/>
            </a:pPr>
            <a:r>
              <a:rPr lang="en-US" sz="1200" dirty="0">
                <a:solidFill>
                  <a:srgbClr val="FFFFFF"/>
                </a:solidFill>
                <a:latin typeface="Calibri" pitchFamily="34" charset="0"/>
                <a:ea typeface="Calibri" pitchFamily="34" charset="-122"/>
                <a:cs typeface="Calibri" pitchFamily="34" charset="-120"/>
              </a:rPr>
              <a:t>Every possible combination of Table A × Table B. Powerful for promotions and test data — dangerous on large tables if triggered by accident.</a:t>
            </a:r>
            <a:endParaRPr lang="en-US" sz="1200" dirty="0"/>
          </a:p>
        </p:txBody>
      </p:sp>
      <p:sp>
        <p:nvSpPr>
          <p:cNvPr id="35" name="Text 33"/>
          <p:cNvSpPr/>
          <p:nvPr/>
        </p:nvSpPr>
        <p:spPr>
          <a:xfrm>
            <a:off x="548640" y="6263640"/>
            <a:ext cx="7315200" cy="256032"/>
          </a:xfrm>
          <a:prstGeom prst="rect">
            <a:avLst/>
          </a:prstGeom>
          <a:noFill/>
          <a:ln/>
        </p:spPr>
        <p:txBody>
          <a:bodyPr wrap="square" lIns="0" tIns="0" rIns="0" bIns="0" rtlCol="0" anchor="ctr"/>
          <a:lstStyle/>
          <a:p>
            <a:pPr indent="0" marL="0">
              <a:buNone/>
            </a:pPr>
            <a:r>
              <a:rPr lang="en-US" sz="1000" i="1" dirty="0">
                <a:solidFill>
                  <a:srgbClr val="62728A"/>
                </a:solidFill>
                <a:latin typeface="Calibri" pitchFamily="34" charset="0"/>
                <a:ea typeface="Calibri" pitchFamily="34" charset="-122"/>
                <a:cs typeface="Calibri" pitchFamily="34" charset="-120"/>
              </a:rPr>
              <a:t>Reference: DAY_10_SQL_JOINS_CONCEPT_NOTES.docx</a:t>
            </a:r>
            <a:endParaRPr lang="en-US" sz="1000" dirty="0"/>
          </a:p>
        </p:txBody>
      </p:sp>
      <p:sp>
        <p:nvSpPr>
          <p:cNvPr id="36" name="Text 34"/>
          <p:cNvSpPr/>
          <p:nvPr/>
        </p:nvSpPr>
        <p:spPr>
          <a:xfrm>
            <a:off x="457200" y="6528816"/>
            <a:ext cx="6400800" cy="274320"/>
          </a:xfrm>
          <a:prstGeom prst="rect">
            <a:avLst/>
          </a:prstGeom>
          <a:noFill/>
          <a:ln/>
        </p:spPr>
        <p:txBody>
          <a:bodyPr wrap="square" rtlCol="0" anchor="ctr"/>
          <a:lstStyle/>
          <a:p>
            <a:pPr algn="l" indent="0" marL="0">
              <a:buNone/>
            </a:pPr>
            <a:r>
              <a:rPr lang="en-US" sz="900" i="1" dirty="0">
                <a:solidFill>
                  <a:srgbClr val="62728A"/>
                </a:solidFill>
                <a:latin typeface="Calibri" pitchFamily="34" charset="0"/>
                <a:ea typeface="Calibri" pitchFamily="34" charset="-122"/>
                <a:cs typeface="Calibri" pitchFamily="34" charset="-120"/>
              </a:rPr>
              <a:t>Shalinee Priya   |   Data Analyst  ·  SQL Trainer</a:t>
            </a:r>
            <a:endParaRPr lang="en-US" sz="900" dirty="0"/>
          </a:p>
        </p:txBody>
      </p:sp>
      <p:sp>
        <p:nvSpPr>
          <p:cNvPr id="37" name="Shape 35"/>
          <p:cNvSpPr/>
          <p:nvPr/>
        </p:nvSpPr>
        <p:spPr>
          <a:xfrm>
            <a:off x="10561320" y="6510528"/>
            <a:ext cx="1170432" cy="292608"/>
          </a:xfrm>
          <a:prstGeom prst="rect">
            <a:avLst>
              <a:gd name="adj" fmla="val 50000"/>
            </a:avLst>
          </a:prstGeom>
          <a:solidFill>
            <a:srgbClr val="0B2545"/>
          </a:solidFill>
          <a:ln/>
        </p:spPr>
      </p:sp>
      <p:sp>
        <p:nvSpPr>
          <p:cNvPr id="38" name="Text 36"/>
          <p:cNvSpPr/>
          <p:nvPr/>
        </p:nvSpPr>
        <p:spPr>
          <a:xfrm>
            <a:off x="10561320" y="6510528"/>
            <a:ext cx="11704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7/10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algn="l" indent="0" marL="0">
              <a:buNone/>
            </a:pPr>
            <a:r>
              <a:rPr lang="en-US" sz="1200" b="1" spc="200" kern="0" dirty="0">
                <a:solidFill>
                  <a:srgbClr val="0C7C71"/>
                </a:solidFill>
                <a:latin typeface="Calibri" pitchFamily="34" charset="0"/>
                <a:ea typeface="Calibri" pitchFamily="34" charset="-122"/>
                <a:cs typeface="Calibri" pitchFamily="34" charset="-120"/>
              </a:rPr>
              <a:t>PROCESS DIAGRAM</a:t>
            </a:r>
            <a:endParaRPr lang="en-US" sz="1200" dirty="0"/>
          </a:p>
        </p:txBody>
      </p:sp>
      <p:sp>
        <p:nvSpPr>
          <p:cNvPr id="3" name="Text 1"/>
          <p:cNvSpPr/>
          <p:nvPr/>
        </p:nvSpPr>
        <p:spPr>
          <a:xfrm>
            <a:off x="530352" y="530352"/>
            <a:ext cx="10607040" cy="566928"/>
          </a:xfrm>
          <a:prstGeom prst="rect">
            <a:avLst/>
          </a:prstGeom>
          <a:noFill/>
          <a:ln/>
        </p:spPr>
        <p:txBody>
          <a:bodyPr wrap="square" lIns="0" tIns="0" rIns="0" bIns="0"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JOIN Execution Flow</a:t>
            </a:r>
            <a:endParaRPr lang="en-US" sz="3000" dirty="0"/>
          </a:p>
        </p:txBody>
      </p:sp>
      <p:sp>
        <p:nvSpPr>
          <p:cNvPr id="4" name="Shape 2"/>
          <p:cNvSpPr/>
          <p:nvPr/>
        </p:nvSpPr>
        <p:spPr>
          <a:xfrm>
            <a:off x="1234440" y="1508760"/>
            <a:ext cx="4572000" cy="731520"/>
          </a:xfrm>
          <a:prstGeom prst="roundRect">
            <a:avLst>
              <a:gd name="adj" fmla="val 11250"/>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5" name="Shape 3"/>
          <p:cNvSpPr/>
          <p:nvPr/>
        </p:nvSpPr>
        <p:spPr>
          <a:xfrm>
            <a:off x="1399032" y="1655064"/>
            <a:ext cx="438912" cy="438912"/>
          </a:xfrm>
          <a:prstGeom prst="ellipse">
            <a:avLst/>
          </a:prstGeom>
          <a:solidFill>
            <a:srgbClr val="1B3F73"/>
          </a:solidFill>
          <a:ln/>
        </p:spPr>
      </p:sp>
      <p:sp>
        <p:nvSpPr>
          <p:cNvPr id="6" name="Text 4"/>
          <p:cNvSpPr/>
          <p:nvPr/>
        </p:nvSpPr>
        <p:spPr>
          <a:xfrm>
            <a:off x="1399032" y="1655064"/>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2011680" y="1508760"/>
            <a:ext cx="3657600" cy="731520"/>
          </a:xfrm>
          <a:prstGeom prst="rect">
            <a:avLst/>
          </a:prstGeom>
          <a:noFill/>
          <a:ln/>
        </p:spPr>
        <p:txBody>
          <a:bodyPr wrap="square" lIns="0" tIns="0" rIns="0" bIns="0" rtlCol="0" anchor="ctr"/>
          <a:lstStyle/>
          <a:p>
            <a:pPr indent="0" marL="0">
              <a:buNone/>
            </a:pPr>
            <a:r>
              <a:rPr lang="en-US" sz="1450" b="1" dirty="0">
                <a:solidFill>
                  <a:srgbClr val="112036"/>
                </a:solidFill>
                <a:latin typeface="Calibri" pitchFamily="34" charset="0"/>
                <a:ea typeface="Calibri" pitchFamily="34" charset="-122"/>
                <a:cs typeface="Calibri" pitchFamily="34" charset="-120"/>
              </a:rPr>
              <a:t>Read Customers</a:t>
            </a:r>
            <a:endParaRPr lang="en-US" sz="1450" dirty="0"/>
          </a:p>
        </p:txBody>
      </p:sp>
      <p:sp>
        <p:nvSpPr>
          <p:cNvPr id="8" name="Text 6"/>
          <p:cNvSpPr/>
          <p:nvPr/>
        </p:nvSpPr>
        <p:spPr>
          <a:xfrm>
            <a:off x="3246120" y="2240280"/>
            <a:ext cx="548640" cy="256032"/>
          </a:xfrm>
          <a:prstGeom prst="rect">
            <a:avLst/>
          </a:prstGeom>
          <a:noFill/>
          <a:ln/>
        </p:spPr>
        <p:txBody>
          <a:bodyPr wrap="square" lIns="0" tIns="0" rIns="0" bIns="0" rtlCol="0" anchor="ctr"/>
          <a:lstStyle/>
          <a:p>
            <a:pPr algn="ctr" indent="0" marL="0">
              <a:buNone/>
            </a:pPr>
            <a:r>
              <a:rPr lang="en-US" sz="1600" b="1" dirty="0">
                <a:solidFill>
                  <a:srgbClr val="0C7C71"/>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1234440" y="2496312"/>
            <a:ext cx="4572000" cy="731520"/>
          </a:xfrm>
          <a:prstGeom prst="roundRect">
            <a:avLst>
              <a:gd name="adj" fmla="val 11250"/>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10" name="Shape 8"/>
          <p:cNvSpPr/>
          <p:nvPr/>
        </p:nvSpPr>
        <p:spPr>
          <a:xfrm>
            <a:off x="1399032" y="2642616"/>
            <a:ext cx="438912" cy="438912"/>
          </a:xfrm>
          <a:prstGeom prst="ellipse">
            <a:avLst/>
          </a:prstGeom>
          <a:solidFill>
            <a:srgbClr val="1B3F73"/>
          </a:solidFill>
          <a:ln/>
        </p:spPr>
      </p:sp>
      <p:sp>
        <p:nvSpPr>
          <p:cNvPr id="11" name="Text 9"/>
          <p:cNvSpPr/>
          <p:nvPr/>
        </p:nvSpPr>
        <p:spPr>
          <a:xfrm>
            <a:off x="1399032" y="2642616"/>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2011680" y="2496312"/>
            <a:ext cx="3657600" cy="731520"/>
          </a:xfrm>
          <a:prstGeom prst="rect">
            <a:avLst/>
          </a:prstGeom>
          <a:noFill/>
          <a:ln/>
        </p:spPr>
        <p:txBody>
          <a:bodyPr wrap="square" lIns="0" tIns="0" rIns="0" bIns="0" rtlCol="0" anchor="ctr"/>
          <a:lstStyle/>
          <a:p>
            <a:pPr indent="0" marL="0">
              <a:buNone/>
            </a:pPr>
            <a:r>
              <a:rPr lang="en-US" sz="1450" b="1" dirty="0">
                <a:solidFill>
                  <a:srgbClr val="112036"/>
                </a:solidFill>
                <a:latin typeface="Calibri" pitchFamily="34" charset="0"/>
                <a:ea typeface="Calibri" pitchFamily="34" charset="-122"/>
                <a:cs typeface="Calibri" pitchFamily="34" charset="-120"/>
              </a:rPr>
              <a:t>Read Orders</a:t>
            </a:r>
            <a:endParaRPr lang="en-US" sz="1450" dirty="0"/>
          </a:p>
        </p:txBody>
      </p:sp>
      <p:sp>
        <p:nvSpPr>
          <p:cNvPr id="13" name="Text 11"/>
          <p:cNvSpPr/>
          <p:nvPr/>
        </p:nvSpPr>
        <p:spPr>
          <a:xfrm>
            <a:off x="3246120" y="3227832"/>
            <a:ext cx="548640" cy="256032"/>
          </a:xfrm>
          <a:prstGeom prst="rect">
            <a:avLst/>
          </a:prstGeom>
          <a:noFill/>
          <a:ln/>
        </p:spPr>
        <p:txBody>
          <a:bodyPr wrap="square" lIns="0" tIns="0" rIns="0" bIns="0" rtlCol="0" anchor="ctr"/>
          <a:lstStyle/>
          <a:p>
            <a:pPr algn="ctr" indent="0" marL="0">
              <a:buNone/>
            </a:pPr>
            <a:r>
              <a:rPr lang="en-US" sz="1600" b="1" dirty="0">
                <a:solidFill>
                  <a:srgbClr val="0C7C71"/>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1234440" y="3483864"/>
            <a:ext cx="4572000" cy="731520"/>
          </a:xfrm>
          <a:prstGeom prst="roundRect">
            <a:avLst>
              <a:gd name="adj" fmla="val 11250"/>
            </a:avLst>
          </a:prstGeom>
          <a:solidFill>
            <a:srgbClr val="0B2545"/>
          </a:solidFill>
          <a:ln/>
          <a:effectLst>
            <a:outerShdw sx="100000" sy="100000" kx="0" ky="0" algn="bl" rotWithShape="0" blurRad="101600" dist="25400" dir="5400000">
              <a:srgbClr val="8095AC">
                <a:alpha val="18000"/>
              </a:srgbClr>
            </a:outerShdw>
          </a:effectLst>
        </p:spPr>
      </p:sp>
      <p:sp>
        <p:nvSpPr>
          <p:cNvPr id="15" name="Shape 13"/>
          <p:cNvSpPr/>
          <p:nvPr/>
        </p:nvSpPr>
        <p:spPr>
          <a:xfrm>
            <a:off x="1399032" y="3630168"/>
            <a:ext cx="438912" cy="438912"/>
          </a:xfrm>
          <a:prstGeom prst="ellipse">
            <a:avLst/>
          </a:prstGeom>
          <a:solidFill>
            <a:srgbClr val="14B8A6"/>
          </a:solidFill>
          <a:ln/>
        </p:spPr>
      </p:sp>
      <p:sp>
        <p:nvSpPr>
          <p:cNvPr id="16" name="Text 14"/>
          <p:cNvSpPr/>
          <p:nvPr/>
        </p:nvSpPr>
        <p:spPr>
          <a:xfrm>
            <a:off x="1399032" y="3630168"/>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2011680" y="3483864"/>
            <a:ext cx="3657600" cy="7315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Match using ON</a:t>
            </a:r>
            <a:endParaRPr lang="en-US" sz="1450" dirty="0"/>
          </a:p>
        </p:txBody>
      </p:sp>
      <p:sp>
        <p:nvSpPr>
          <p:cNvPr id="18" name="Text 16"/>
          <p:cNvSpPr/>
          <p:nvPr/>
        </p:nvSpPr>
        <p:spPr>
          <a:xfrm>
            <a:off x="3246120" y="4215384"/>
            <a:ext cx="548640" cy="256032"/>
          </a:xfrm>
          <a:prstGeom prst="rect">
            <a:avLst/>
          </a:prstGeom>
          <a:noFill/>
          <a:ln/>
        </p:spPr>
        <p:txBody>
          <a:bodyPr wrap="square" lIns="0" tIns="0" rIns="0" bIns="0" rtlCol="0" anchor="ctr"/>
          <a:lstStyle/>
          <a:p>
            <a:pPr algn="ctr" indent="0" marL="0">
              <a:buNone/>
            </a:pPr>
            <a:r>
              <a:rPr lang="en-US" sz="1600" b="1" dirty="0">
                <a:solidFill>
                  <a:srgbClr val="0C7C71"/>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1234440" y="4471416"/>
            <a:ext cx="4572000" cy="731520"/>
          </a:xfrm>
          <a:prstGeom prst="roundRect">
            <a:avLst>
              <a:gd name="adj" fmla="val 11250"/>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20" name="Shape 18"/>
          <p:cNvSpPr/>
          <p:nvPr/>
        </p:nvSpPr>
        <p:spPr>
          <a:xfrm>
            <a:off x="1399032" y="4617720"/>
            <a:ext cx="438912" cy="438912"/>
          </a:xfrm>
          <a:prstGeom prst="ellipse">
            <a:avLst/>
          </a:prstGeom>
          <a:solidFill>
            <a:srgbClr val="1B3F73"/>
          </a:solidFill>
          <a:ln/>
        </p:spPr>
      </p:sp>
      <p:sp>
        <p:nvSpPr>
          <p:cNvPr id="21" name="Text 19"/>
          <p:cNvSpPr/>
          <p:nvPr/>
        </p:nvSpPr>
        <p:spPr>
          <a:xfrm>
            <a:off x="1399032" y="46177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2011680" y="4471416"/>
            <a:ext cx="3657600" cy="731520"/>
          </a:xfrm>
          <a:prstGeom prst="rect">
            <a:avLst/>
          </a:prstGeom>
          <a:noFill/>
          <a:ln/>
        </p:spPr>
        <p:txBody>
          <a:bodyPr wrap="square" lIns="0" tIns="0" rIns="0" bIns="0" rtlCol="0" anchor="ctr"/>
          <a:lstStyle/>
          <a:p>
            <a:pPr indent="0" marL="0">
              <a:buNone/>
            </a:pPr>
            <a:r>
              <a:rPr lang="en-US" sz="1450" b="1" dirty="0">
                <a:solidFill>
                  <a:srgbClr val="112036"/>
                </a:solidFill>
                <a:latin typeface="Calibri" pitchFamily="34" charset="0"/>
                <a:ea typeface="Calibri" pitchFamily="34" charset="-122"/>
                <a:cs typeface="Calibri" pitchFamily="34" charset="-120"/>
              </a:rPr>
              <a:t>Apply WHERE</a:t>
            </a:r>
            <a:endParaRPr lang="en-US" sz="1450" dirty="0"/>
          </a:p>
        </p:txBody>
      </p:sp>
      <p:sp>
        <p:nvSpPr>
          <p:cNvPr id="23" name="Text 21"/>
          <p:cNvSpPr/>
          <p:nvPr/>
        </p:nvSpPr>
        <p:spPr>
          <a:xfrm>
            <a:off x="3246120" y="5202936"/>
            <a:ext cx="548640" cy="256032"/>
          </a:xfrm>
          <a:prstGeom prst="rect">
            <a:avLst/>
          </a:prstGeom>
          <a:noFill/>
          <a:ln/>
        </p:spPr>
        <p:txBody>
          <a:bodyPr wrap="square" lIns="0" tIns="0" rIns="0" bIns="0" rtlCol="0" anchor="ctr"/>
          <a:lstStyle/>
          <a:p>
            <a:pPr algn="ctr" indent="0" marL="0">
              <a:buNone/>
            </a:pPr>
            <a:r>
              <a:rPr lang="en-US" sz="1600" b="1" dirty="0">
                <a:solidFill>
                  <a:srgbClr val="0C7C71"/>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1234440" y="5458968"/>
            <a:ext cx="4572000" cy="731520"/>
          </a:xfrm>
          <a:prstGeom prst="roundRect">
            <a:avLst>
              <a:gd name="adj" fmla="val 11250"/>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25" name="Shape 23"/>
          <p:cNvSpPr/>
          <p:nvPr/>
        </p:nvSpPr>
        <p:spPr>
          <a:xfrm>
            <a:off x="1399032" y="5605272"/>
            <a:ext cx="438912" cy="438912"/>
          </a:xfrm>
          <a:prstGeom prst="ellipse">
            <a:avLst/>
          </a:prstGeom>
          <a:solidFill>
            <a:srgbClr val="1B3F73"/>
          </a:solidFill>
          <a:ln/>
        </p:spPr>
      </p:sp>
      <p:sp>
        <p:nvSpPr>
          <p:cNvPr id="26" name="Text 24"/>
          <p:cNvSpPr/>
          <p:nvPr/>
        </p:nvSpPr>
        <p:spPr>
          <a:xfrm>
            <a:off x="1399032" y="5605272"/>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2011680" y="5458968"/>
            <a:ext cx="3657600" cy="731520"/>
          </a:xfrm>
          <a:prstGeom prst="rect">
            <a:avLst/>
          </a:prstGeom>
          <a:noFill/>
          <a:ln/>
        </p:spPr>
        <p:txBody>
          <a:bodyPr wrap="square" lIns="0" tIns="0" rIns="0" bIns="0" rtlCol="0" anchor="ctr"/>
          <a:lstStyle/>
          <a:p>
            <a:pPr indent="0" marL="0">
              <a:buNone/>
            </a:pPr>
            <a:r>
              <a:rPr lang="en-US" sz="1450" b="1" dirty="0">
                <a:solidFill>
                  <a:srgbClr val="112036"/>
                </a:solidFill>
                <a:latin typeface="Calibri" pitchFamily="34" charset="0"/>
                <a:ea typeface="Calibri" pitchFamily="34" charset="-122"/>
                <a:cs typeface="Calibri" pitchFamily="34" charset="-120"/>
              </a:rPr>
              <a:t>Return Selected Columns</a:t>
            </a:r>
            <a:endParaRPr lang="en-US" sz="1450" dirty="0"/>
          </a:p>
        </p:txBody>
      </p:sp>
      <p:sp>
        <p:nvSpPr>
          <p:cNvPr id="28" name="Shape 26"/>
          <p:cNvSpPr/>
          <p:nvPr/>
        </p:nvSpPr>
        <p:spPr>
          <a:xfrm>
            <a:off x="6492240" y="1737360"/>
            <a:ext cx="5029200" cy="1965960"/>
          </a:xfrm>
          <a:prstGeom prst="roundRect">
            <a:avLst>
              <a:gd name="adj" fmla="val 3721"/>
            </a:avLst>
          </a:prstGeom>
          <a:solidFill>
            <a:srgbClr val="0B2545"/>
          </a:solidFill>
          <a:ln/>
          <a:effectLst>
            <a:outerShdw sx="100000" sy="100000" kx="0" ky="0" algn="bl" rotWithShape="0" blurRad="76200" dist="25400" dir="5400000">
              <a:srgbClr val="10203A">
                <a:alpha val="35000"/>
              </a:srgbClr>
            </a:outerShdw>
          </a:effectLst>
        </p:spPr>
      </p:sp>
      <p:sp>
        <p:nvSpPr>
          <p:cNvPr id="29" name="Text 27"/>
          <p:cNvSpPr/>
          <p:nvPr/>
        </p:nvSpPr>
        <p:spPr>
          <a:xfrm>
            <a:off x="6748272" y="1865376"/>
            <a:ext cx="4517136" cy="256032"/>
          </a:xfrm>
          <a:prstGeom prst="rect">
            <a:avLst/>
          </a:prstGeom>
          <a:noFill/>
          <a:ln/>
        </p:spPr>
        <p:txBody>
          <a:bodyPr wrap="square" lIns="0" tIns="0" rIns="0" bIns="0" rtlCol="0" anchor="ctr"/>
          <a:lstStyle/>
          <a:p>
            <a:pPr indent="0" marL="0">
              <a:buNone/>
            </a:pPr>
            <a:r>
              <a:rPr lang="en-US" sz="1100" b="1" spc="150" kern="0" dirty="0">
                <a:solidFill>
                  <a:srgbClr val="14B8A6"/>
                </a:solidFill>
                <a:latin typeface="Calibri" pitchFamily="34" charset="0"/>
                <a:ea typeface="Calibri" pitchFamily="34" charset="-122"/>
                <a:cs typeface="Calibri" pitchFamily="34" charset="-120"/>
              </a:rPr>
              <a:t>INTERVIEW BOX</a:t>
            </a:r>
            <a:endParaRPr lang="en-US" sz="1100" dirty="0"/>
          </a:p>
        </p:txBody>
      </p:sp>
      <p:sp>
        <p:nvSpPr>
          <p:cNvPr id="30" name="Text 28"/>
          <p:cNvSpPr/>
          <p:nvPr/>
        </p:nvSpPr>
        <p:spPr>
          <a:xfrm>
            <a:off x="6748272" y="2139696"/>
            <a:ext cx="4517136" cy="1435608"/>
          </a:xfrm>
          <a:prstGeom prst="rect">
            <a:avLst/>
          </a:prstGeom>
          <a:noFill/>
          <a:ln/>
        </p:spPr>
        <p:txBody>
          <a:bodyPr wrap="square" lIns="0" tIns="0" rIns="0" bIns="0" rtlCol="0" anchor="t"/>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A missing ON clause makes MySQL pair every row of Table A with every row of Table B — an accidental Cartesian Product. Always pair JOIN with ON.</a:t>
            </a:r>
            <a:endParaRPr lang="en-US" sz="1250" dirty="0"/>
          </a:p>
        </p:txBody>
      </p:sp>
      <p:sp>
        <p:nvSpPr>
          <p:cNvPr id="31" name="Shape 29"/>
          <p:cNvSpPr/>
          <p:nvPr/>
        </p:nvSpPr>
        <p:spPr>
          <a:xfrm>
            <a:off x="6492240" y="3931920"/>
            <a:ext cx="5029200" cy="2148840"/>
          </a:xfrm>
          <a:prstGeom prst="roundRect">
            <a:avLst>
              <a:gd name="adj" fmla="val 3830"/>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32" name="Text 30"/>
          <p:cNvSpPr/>
          <p:nvPr/>
        </p:nvSpPr>
        <p:spPr>
          <a:xfrm>
            <a:off x="6720840" y="4069080"/>
            <a:ext cx="4572000" cy="256032"/>
          </a:xfrm>
          <a:prstGeom prst="rect">
            <a:avLst/>
          </a:prstGeom>
          <a:noFill/>
          <a:ln/>
        </p:spPr>
        <p:txBody>
          <a:bodyPr wrap="square" lIns="0" tIns="0" rIns="0" bIns="0" rtlCol="0" anchor="ctr"/>
          <a:lstStyle/>
          <a:p>
            <a:pPr indent="0" marL="0">
              <a:buNone/>
            </a:pPr>
            <a:r>
              <a:rPr lang="en-US" sz="1100" b="1" spc="120" kern="0" dirty="0">
                <a:solidFill>
                  <a:srgbClr val="0C7C71"/>
                </a:solidFill>
                <a:latin typeface="Calibri" pitchFamily="34" charset="0"/>
                <a:ea typeface="Calibri" pitchFamily="34" charset="-122"/>
                <a:cs typeface="Calibri" pitchFamily="34" charset="-120"/>
              </a:rPr>
              <a:t>WHY ORDER MATTERS</a:t>
            </a:r>
            <a:endParaRPr lang="en-US" sz="1100" dirty="0"/>
          </a:p>
        </p:txBody>
      </p:sp>
      <p:sp>
        <p:nvSpPr>
          <p:cNvPr id="33" name="Text 31"/>
          <p:cNvSpPr/>
          <p:nvPr/>
        </p:nvSpPr>
        <p:spPr>
          <a:xfrm>
            <a:off x="6720840" y="4343400"/>
            <a:ext cx="4572000" cy="1645920"/>
          </a:xfrm>
          <a:prstGeom prst="rect">
            <a:avLst/>
          </a:prstGeom>
          <a:noFill/>
          <a:ln/>
        </p:spPr>
        <p:txBody>
          <a:bodyPr wrap="square" lIns="0" tIns="0" rIns="0" bIns="0" rtlCol="0" anchor="ctr"/>
          <a:lstStyle/>
          <a:p>
            <a:pPr indent="0" marL="0">
              <a:lnSpc>
                <a:spcPct val="122000"/>
              </a:lnSpc>
              <a:buNone/>
            </a:pPr>
            <a:r>
              <a:rPr lang="en-US" sz="1200" dirty="0">
                <a:solidFill>
                  <a:srgbClr val="112036"/>
                </a:solidFill>
                <a:latin typeface="Calibri" pitchFamily="34" charset="0"/>
                <a:ea typeface="Calibri" pitchFamily="34" charset="-122"/>
                <a:cs typeface="Calibri" pitchFamily="34" charset="-120"/>
              </a:rPr>
              <a:t>MySQL logically reads both tables, applies the ON condition to decide which rows belong together, THEN applies WHERE to filter the joined result, and finally returns only the requested columns. Understanding this order explains why ON and WHERE behave differently with LEFT JOIN.</a:t>
            </a:r>
            <a:endParaRPr lang="en-US" sz="1200" dirty="0"/>
          </a:p>
        </p:txBody>
      </p:sp>
      <p:sp>
        <p:nvSpPr>
          <p:cNvPr id="34" name="Text 32"/>
          <p:cNvSpPr/>
          <p:nvPr/>
        </p:nvSpPr>
        <p:spPr>
          <a:xfrm>
            <a:off x="457200" y="6528816"/>
            <a:ext cx="6400800" cy="274320"/>
          </a:xfrm>
          <a:prstGeom prst="rect">
            <a:avLst/>
          </a:prstGeom>
          <a:noFill/>
          <a:ln/>
        </p:spPr>
        <p:txBody>
          <a:bodyPr wrap="square" rtlCol="0" anchor="ctr"/>
          <a:lstStyle/>
          <a:p>
            <a:pPr algn="l" indent="0" marL="0">
              <a:buNone/>
            </a:pPr>
            <a:r>
              <a:rPr lang="en-US" sz="900" i="1" dirty="0">
                <a:solidFill>
                  <a:srgbClr val="62728A"/>
                </a:solidFill>
                <a:latin typeface="Calibri" pitchFamily="34" charset="0"/>
                <a:ea typeface="Calibri" pitchFamily="34" charset="-122"/>
                <a:cs typeface="Calibri" pitchFamily="34" charset="-120"/>
              </a:rPr>
              <a:t>Shalinee Priya   |   Data Analyst  ·  SQL Trainer</a:t>
            </a:r>
            <a:endParaRPr lang="en-US" sz="900" dirty="0"/>
          </a:p>
        </p:txBody>
      </p:sp>
      <p:sp>
        <p:nvSpPr>
          <p:cNvPr id="35" name="Shape 33"/>
          <p:cNvSpPr/>
          <p:nvPr/>
        </p:nvSpPr>
        <p:spPr>
          <a:xfrm>
            <a:off x="10561320" y="6510528"/>
            <a:ext cx="1170432" cy="292608"/>
          </a:xfrm>
          <a:prstGeom prst="rect">
            <a:avLst>
              <a:gd name="adj" fmla="val 50000"/>
            </a:avLst>
          </a:prstGeom>
          <a:solidFill>
            <a:srgbClr val="0B2545"/>
          </a:solidFill>
          <a:ln/>
        </p:spPr>
      </p:sp>
      <p:sp>
        <p:nvSpPr>
          <p:cNvPr id="36" name="Text 34"/>
          <p:cNvSpPr/>
          <p:nvPr/>
        </p:nvSpPr>
        <p:spPr>
          <a:xfrm>
            <a:off x="10561320" y="6510528"/>
            <a:ext cx="11704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8/10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9144000" cy="274320"/>
          </a:xfrm>
          <a:prstGeom prst="rect">
            <a:avLst/>
          </a:prstGeom>
          <a:noFill/>
          <a:ln/>
        </p:spPr>
        <p:txBody>
          <a:bodyPr wrap="square" lIns="0" tIns="0" rIns="0" bIns="0" rtlCol="0" anchor="ctr"/>
          <a:lstStyle/>
          <a:p>
            <a:pPr algn="l" indent="0" marL="0">
              <a:buNone/>
            </a:pPr>
            <a:r>
              <a:rPr lang="en-US" sz="1200" b="1" spc="200" kern="0" dirty="0">
                <a:solidFill>
                  <a:srgbClr val="0C7C71"/>
                </a:solidFill>
                <a:latin typeface="Calibri" pitchFamily="34" charset="0"/>
                <a:ea typeface="Calibri" pitchFamily="34" charset="-122"/>
                <a:cs typeface="Calibri" pitchFamily="34" charset="-120"/>
              </a:rPr>
              <a:t>REAL DATASET</a:t>
            </a:r>
            <a:endParaRPr lang="en-US" sz="1200" dirty="0"/>
          </a:p>
        </p:txBody>
      </p:sp>
      <p:sp>
        <p:nvSpPr>
          <p:cNvPr id="3" name="Text 1"/>
          <p:cNvSpPr/>
          <p:nvPr/>
        </p:nvSpPr>
        <p:spPr>
          <a:xfrm>
            <a:off x="530352" y="530352"/>
            <a:ext cx="10607040" cy="566928"/>
          </a:xfrm>
          <a:prstGeom prst="rect">
            <a:avLst/>
          </a:prstGeom>
          <a:noFill/>
          <a:ln/>
        </p:spPr>
        <p:txBody>
          <a:bodyPr wrap="square" lIns="0" tIns="0" rIns="0" bIns="0" rtlCol="0" anchor="ctr"/>
          <a:lstStyle/>
          <a:p>
            <a:pPr algn="l" indent="0" marL="0">
              <a:buNone/>
            </a:pPr>
            <a:r>
              <a:rPr lang="en-US" sz="3000" b="1" dirty="0">
                <a:solidFill>
                  <a:srgbClr val="0B2545"/>
                </a:solidFill>
                <a:latin typeface="Cambria" pitchFamily="34" charset="0"/>
                <a:ea typeface="Cambria" pitchFamily="34" charset="-122"/>
                <a:cs typeface="Cambria" pitchFamily="34" charset="-120"/>
              </a:rPr>
              <a:t>Business Case Study</a:t>
            </a:r>
            <a:endParaRPr lang="en-US" sz="3000" dirty="0"/>
          </a:p>
        </p:txBody>
      </p:sp>
      <p:sp>
        <p:nvSpPr>
          <p:cNvPr id="4" name="Shape 2"/>
          <p:cNvSpPr/>
          <p:nvPr/>
        </p:nvSpPr>
        <p:spPr>
          <a:xfrm>
            <a:off x="548640" y="1508760"/>
            <a:ext cx="2084832" cy="777240"/>
          </a:xfrm>
          <a:prstGeom prst="roundRect">
            <a:avLst>
              <a:gd name="adj" fmla="val 10588"/>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5" name="Text 3"/>
          <p:cNvSpPr/>
          <p:nvPr/>
        </p:nvSpPr>
        <p:spPr>
          <a:xfrm>
            <a:off x="548640" y="1508760"/>
            <a:ext cx="2084832" cy="777240"/>
          </a:xfrm>
          <a:prstGeom prst="rect">
            <a:avLst/>
          </a:prstGeom>
          <a:noFill/>
          <a:ln/>
        </p:spPr>
        <p:txBody>
          <a:bodyPr wrap="square" lIns="0" tIns="0" rIns="0" bIns="0" rtlCol="0" anchor="ctr"/>
          <a:lstStyle/>
          <a:p>
            <a:pPr algn="ctr" indent="0" marL="0">
              <a:buNone/>
            </a:pPr>
            <a:r>
              <a:rPr lang="en-US" sz="1250" b="1" dirty="0">
                <a:solidFill>
                  <a:srgbClr val="112036"/>
                </a:solidFill>
                <a:latin typeface="Calibri" pitchFamily="34" charset="0"/>
                <a:ea typeface="Calibri" pitchFamily="34" charset="-122"/>
                <a:cs typeface="Calibri" pitchFamily="34" charset="-120"/>
              </a:rPr>
              <a:t>Customers</a:t>
            </a:r>
            <a:endParaRPr lang="en-US" sz="1250" dirty="0"/>
          </a:p>
        </p:txBody>
      </p:sp>
      <p:sp>
        <p:nvSpPr>
          <p:cNvPr id="6" name="Shape 4"/>
          <p:cNvSpPr/>
          <p:nvPr/>
        </p:nvSpPr>
        <p:spPr>
          <a:xfrm>
            <a:off x="2761488" y="1508760"/>
            <a:ext cx="2084832" cy="777240"/>
          </a:xfrm>
          <a:prstGeom prst="roundRect">
            <a:avLst>
              <a:gd name="adj" fmla="val 10588"/>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7" name="Text 5"/>
          <p:cNvSpPr/>
          <p:nvPr/>
        </p:nvSpPr>
        <p:spPr>
          <a:xfrm>
            <a:off x="2761488" y="1508760"/>
            <a:ext cx="2084832" cy="777240"/>
          </a:xfrm>
          <a:prstGeom prst="rect">
            <a:avLst/>
          </a:prstGeom>
          <a:noFill/>
          <a:ln/>
        </p:spPr>
        <p:txBody>
          <a:bodyPr wrap="square" lIns="0" tIns="0" rIns="0" bIns="0" rtlCol="0" anchor="ctr"/>
          <a:lstStyle/>
          <a:p>
            <a:pPr algn="ctr" indent="0" marL="0">
              <a:buNone/>
            </a:pPr>
            <a:r>
              <a:rPr lang="en-US" sz="1250" b="1" dirty="0">
                <a:solidFill>
                  <a:srgbClr val="112036"/>
                </a:solidFill>
                <a:latin typeface="Calibri" pitchFamily="34" charset="0"/>
                <a:ea typeface="Calibri" pitchFamily="34" charset="-122"/>
                <a:cs typeface="Calibri" pitchFamily="34" charset="-120"/>
              </a:rPr>
              <a:t>Orders</a:t>
            </a:r>
            <a:endParaRPr lang="en-US" sz="1250" dirty="0"/>
          </a:p>
        </p:txBody>
      </p:sp>
      <p:sp>
        <p:nvSpPr>
          <p:cNvPr id="8" name="Shape 6"/>
          <p:cNvSpPr/>
          <p:nvPr/>
        </p:nvSpPr>
        <p:spPr>
          <a:xfrm>
            <a:off x="4974336" y="1508760"/>
            <a:ext cx="2084832" cy="777240"/>
          </a:xfrm>
          <a:prstGeom prst="roundRect">
            <a:avLst>
              <a:gd name="adj" fmla="val 10588"/>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9" name="Text 7"/>
          <p:cNvSpPr/>
          <p:nvPr/>
        </p:nvSpPr>
        <p:spPr>
          <a:xfrm>
            <a:off x="4974336" y="1508760"/>
            <a:ext cx="2084832" cy="777240"/>
          </a:xfrm>
          <a:prstGeom prst="rect">
            <a:avLst/>
          </a:prstGeom>
          <a:noFill/>
          <a:ln/>
        </p:spPr>
        <p:txBody>
          <a:bodyPr wrap="square" lIns="0" tIns="0" rIns="0" bIns="0" rtlCol="0" anchor="ctr"/>
          <a:lstStyle/>
          <a:p>
            <a:pPr algn="ctr" indent="0" marL="0">
              <a:buNone/>
            </a:pPr>
            <a:r>
              <a:rPr lang="en-US" sz="1250" b="1" dirty="0">
                <a:solidFill>
                  <a:srgbClr val="112036"/>
                </a:solidFill>
                <a:latin typeface="Calibri" pitchFamily="34" charset="0"/>
                <a:ea typeface="Calibri" pitchFamily="34" charset="-122"/>
                <a:cs typeface="Calibri" pitchFamily="34" charset="-120"/>
              </a:rPr>
              <a:t>Products</a:t>
            </a:r>
            <a:endParaRPr lang="en-US" sz="1250" dirty="0"/>
          </a:p>
        </p:txBody>
      </p:sp>
      <p:sp>
        <p:nvSpPr>
          <p:cNvPr id="10" name="Shape 8"/>
          <p:cNvSpPr/>
          <p:nvPr/>
        </p:nvSpPr>
        <p:spPr>
          <a:xfrm>
            <a:off x="7187184" y="1508760"/>
            <a:ext cx="2084832" cy="777240"/>
          </a:xfrm>
          <a:prstGeom prst="roundRect">
            <a:avLst>
              <a:gd name="adj" fmla="val 10588"/>
            </a:avLst>
          </a:prstGeom>
          <a:solidFill>
            <a:srgbClr val="F3F6F9"/>
          </a:solidFill>
          <a:ln w="12700">
            <a:solidFill>
              <a:srgbClr val="DFE6ED"/>
            </a:solidFill>
            <a:prstDash val="solid"/>
          </a:ln>
          <a:effectLst>
            <a:outerShdw sx="100000" sy="100000" kx="0" ky="0" algn="bl" rotWithShape="0" blurRad="101600" dist="25400" dir="5400000">
              <a:srgbClr val="8095AC">
                <a:alpha val="18000"/>
              </a:srgbClr>
            </a:outerShdw>
          </a:effectLst>
        </p:spPr>
      </p:sp>
      <p:sp>
        <p:nvSpPr>
          <p:cNvPr id="11" name="Text 9"/>
          <p:cNvSpPr/>
          <p:nvPr/>
        </p:nvSpPr>
        <p:spPr>
          <a:xfrm>
            <a:off x="7187184" y="1508760"/>
            <a:ext cx="2084832" cy="777240"/>
          </a:xfrm>
          <a:prstGeom prst="rect">
            <a:avLst/>
          </a:prstGeom>
          <a:noFill/>
          <a:ln/>
        </p:spPr>
        <p:txBody>
          <a:bodyPr wrap="square" lIns="0" tIns="0" rIns="0" bIns="0" rtlCol="0" anchor="ctr"/>
          <a:lstStyle/>
          <a:p>
            <a:pPr algn="ctr" indent="0" marL="0">
              <a:buNone/>
            </a:pPr>
            <a:r>
              <a:rPr lang="en-US" sz="1250" b="1" dirty="0">
                <a:solidFill>
                  <a:srgbClr val="112036"/>
                </a:solidFill>
                <a:latin typeface="Calibri" pitchFamily="34" charset="0"/>
                <a:ea typeface="Calibri" pitchFamily="34" charset="-122"/>
                <a:cs typeface="Calibri" pitchFamily="34" charset="-120"/>
              </a:rPr>
              <a:t>Suppliers</a:t>
            </a:r>
            <a:endParaRPr lang="en-US" sz="1250" dirty="0"/>
          </a:p>
        </p:txBody>
      </p:sp>
      <p:sp>
        <p:nvSpPr>
          <p:cNvPr id="12" name="Shape 10"/>
          <p:cNvSpPr/>
          <p:nvPr/>
        </p:nvSpPr>
        <p:spPr>
          <a:xfrm>
            <a:off x="9400032" y="1508760"/>
            <a:ext cx="2084832" cy="777240"/>
          </a:xfrm>
          <a:prstGeom prst="roundRect">
            <a:avLst>
              <a:gd name="adj" fmla="val 10588"/>
            </a:avLst>
          </a:prstGeom>
          <a:solidFill>
            <a:srgbClr val="0B2545"/>
          </a:solidFill>
          <a:ln/>
          <a:effectLst>
            <a:outerShdw sx="100000" sy="100000" kx="0" ky="0" algn="bl" rotWithShape="0" blurRad="101600" dist="25400" dir="5400000">
              <a:srgbClr val="8095AC">
                <a:alpha val="18000"/>
              </a:srgbClr>
            </a:outerShdw>
          </a:effectLst>
        </p:spPr>
      </p:sp>
      <p:sp>
        <p:nvSpPr>
          <p:cNvPr id="13" name="Text 11"/>
          <p:cNvSpPr/>
          <p:nvPr/>
        </p:nvSpPr>
        <p:spPr>
          <a:xfrm>
            <a:off x="9400032" y="1508760"/>
            <a:ext cx="2084832" cy="7772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OrderDetails</a:t>
            </a:r>
            <a:endParaRPr lang="en-US" sz="1250" dirty="0"/>
          </a:p>
        </p:txBody>
      </p:sp>
      <p:sp>
        <p:nvSpPr>
          <p:cNvPr id="14" name="Text 12"/>
          <p:cNvSpPr/>
          <p:nvPr/>
        </p:nvSpPr>
        <p:spPr>
          <a:xfrm>
            <a:off x="548640" y="1179576"/>
            <a:ext cx="10515600" cy="256032"/>
          </a:xfrm>
          <a:prstGeom prst="rect">
            <a:avLst/>
          </a:prstGeom>
          <a:noFill/>
          <a:ln/>
        </p:spPr>
        <p:txBody>
          <a:bodyPr wrap="square" lIns="0" tIns="0" rIns="0" bIns="0" rtlCol="0" anchor="ctr"/>
          <a:lstStyle/>
          <a:p>
            <a:pPr indent="0" marL="0">
              <a:buNone/>
            </a:pPr>
            <a:r>
              <a:rPr lang="en-US" sz="1100" b="1" spc="50" kern="0" dirty="0">
                <a:solidFill>
                  <a:srgbClr val="62728A"/>
                </a:solidFill>
                <a:latin typeface="Calibri" pitchFamily="34" charset="0"/>
                <a:ea typeface="Calibri" pitchFamily="34" charset="-122"/>
                <a:cs typeface="Calibri" pitchFamily="34" charset="-120"/>
              </a:rPr>
              <a:t>5 related, normalized tables from Day 7 →</a:t>
            </a:r>
            <a:endParaRPr lang="en-US" sz="1100" dirty="0"/>
          </a:p>
        </p:txBody>
      </p:sp>
      <p:sp>
        <p:nvSpPr>
          <p:cNvPr id="15" name="Text 13"/>
          <p:cNvSpPr/>
          <p:nvPr/>
        </p:nvSpPr>
        <p:spPr>
          <a:xfrm>
            <a:off x="548640" y="2359152"/>
            <a:ext cx="10698480" cy="320040"/>
          </a:xfrm>
          <a:prstGeom prst="rect">
            <a:avLst/>
          </a:prstGeom>
          <a:noFill/>
          <a:ln/>
        </p:spPr>
        <p:txBody>
          <a:bodyPr wrap="square" lIns="0" tIns="0" rIns="0" bIns="0" rtlCol="0" anchor="ctr"/>
          <a:lstStyle/>
          <a:p>
            <a:pPr algn="ctr" indent="0" marL="0">
              <a:buNone/>
            </a:pPr>
            <a:r>
              <a:rPr lang="en-US" sz="1500" b="1" dirty="0">
                <a:solidFill>
                  <a:srgbClr val="0C7C71"/>
                </a:solidFill>
                <a:latin typeface="Calibri" pitchFamily="34" charset="0"/>
                <a:ea typeface="Calibri" pitchFamily="34" charset="-122"/>
                <a:cs typeface="Calibri" pitchFamily="34" charset="-120"/>
              </a:rPr>
              <a:t>↓  JOIN  ↓</a:t>
            </a:r>
            <a:endParaRPr lang="en-US" sz="1500" dirty="0"/>
          </a:p>
        </p:txBody>
      </p:sp>
      <p:sp>
        <p:nvSpPr>
          <p:cNvPr id="16" name="Text 14"/>
          <p:cNvSpPr/>
          <p:nvPr/>
        </p:nvSpPr>
        <p:spPr>
          <a:xfrm>
            <a:off x="548640" y="2697480"/>
            <a:ext cx="7315200" cy="274320"/>
          </a:xfrm>
          <a:prstGeom prst="rect">
            <a:avLst/>
          </a:prstGeom>
          <a:noFill/>
          <a:ln/>
        </p:spPr>
        <p:txBody>
          <a:bodyPr wrap="square" lIns="0" tIns="0" rIns="0" bIns="0"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FINAL REPORT — Amazon-Style Order Report</a:t>
            </a:r>
            <a:endParaRPr lang="en-US" sz="1200" dirty="0"/>
          </a:p>
        </p:txBody>
      </p:sp>
      <p:sp>
        <p:nvSpPr>
          <p:cNvPr id="17" name="Shape 15"/>
          <p:cNvSpPr/>
          <p:nvPr/>
        </p:nvSpPr>
        <p:spPr>
          <a:xfrm>
            <a:off x="548640" y="3035808"/>
            <a:ext cx="3886200" cy="384048"/>
          </a:xfrm>
          <a:prstGeom prst="rect">
            <a:avLst/>
          </a:prstGeom>
          <a:solidFill>
            <a:srgbClr val="0B2545"/>
          </a:solidFill>
          <a:ln/>
        </p:spPr>
      </p:sp>
      <p:sp>
        <p:nvSpPr>
          <p:cNvPr id="18" name="Text 16"/>
          <p:cNvSpPr/>
          <p:nvPr/>
        </p:nvSpPr>
        <p:spPr>
          <a:xfrm>
            <a:off x="548640" y="3035808"/>
            <a:ext cx="38862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Customer</a:t>
            </a:r>
            <a:endParaRPr lang="en-US" sz="1200" dirty="0"/>
          </a:p>
        </p:txBody>
      </p:sp>
      <p:sp>
        <p:nvSpPr>
          <p:cNvPr id="19" name="Shape 17"/>
          <p:cNvSpPr/>
          <p:nvPr/>
        </p:nvSpPr>
        <p:spPr>
          <a:xfrm>
            <a:off x="4434840" y="3035808"/>
            <a:ext cx="3017520" cy="384048"/>
          </a:xfrm>
          <a:prstGeom prst="rect">
            <a:avLst/>
          </a:prstGeom>
          <a:solidFill>
            <a:srgbClr val="0B2545"/>
          </a:solidFill>
          <a:ln/>
        </p:spPr>
      </p:sp>
      <p:sp>
        <p:nvSpPr>
          <p:cNvPr id="20" name="Text 18"/>
          <p:cNvSpPr/>
          <p:nvPr/>
        </p:nvSpPr>
        <p:spPr>
          <a:xfrm>
            <a:off x="4434840" y="3035808"/>
            <a:ext cx="30175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Product</a:t>
            </a:r>
            <a:endParaRPr lang="en-US" sz="1200" dirty="0"/>
          </a:p>
        </p:txBody>
      </p:sp>
      <p:sp>
        <p:nvSpPr>
          <p:cNvPr id="21" name="Shape 19"/>
          <p:cNvSpPr/>
          <p:nvPr/>
        </p:nvSpPr>
        <p:spPr>
          <a:xfrm>
            <a:off x="7452360" y="3035808"/>
            <a:ext cx="1280160" cy="384048"/>
          </a:xfrm>
          <a:prstGeom prst="rect">
            <a:avLst/>
          </a:prstGeom>
          <a:solidFill>
            <a:srgbClr val="0B2545"/>
          </a:solidFill>
          <a:ln/>
        </p:spPr>
      </p:sp>
      <p:sp>
        <p:nvSpPr>
          <p:cNvPr id="22" name="Text 20"/>
          <p:cNvSpPr/>
          <p:nvPr/>
        </p:nvSpPr>
        <p:spPr>
          <a:xfrm>
            <a:off x="7452360" y="3035808"/>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Qty</a:t>
            </a:r>
            <a:endParaRPr lang="en-US" sz="1200" dirty="0"/>
          </a:p>
        </p:txBody>
      </p:sp>
      <p:sp>
        <p:nvSpPr>
          <p:cNvPr id="23" name="Shape 21"/>
          <p:cNvSpPr/>
          <p:nvPr/>
        </p:nvSpPr>
        <p:spPr>
          <a:xfrm>
            <a:off x="8732520" y="3035808"/>
            <a:ext cx="1965960" cy="384048"/>
          </a:xfrm>
          <a:prstGeom prst="rect">
            <a:avLst/>
          </a:prstGeom>
          <a:solidFill>
            <a:srgbClr val="0B2545"/>
          </a:solidFill>
          <a:ln/>
        </p:spPr>
      </p:sp>
      <p:sp>
        <p:nvSpPr>
          <p:cNvPr id="24" name="Text 22"/>
          <p:cNvSpPr/>
          <p:nvPr/>
        </p:nvSpPr>
        <p:spPr>
          <a:xfrm>
            <a:off x="8732520" y="3035808"/>
            <a:ext cx="19659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Amount</a:t>
            </a:r>
            <a:endParaRPr lang="en-US" sz="1200" dirty="0"/>
          </a:p>
        </p:txBody>
      </p:sp>
      <p:sp>
        <p:nvSpPr>
          <p:cNvPr id="25" name="Shape 23"/>
          <p:cNvSpPr/>
          <p:nvPr/>
        </p:nvSpPr>
        <p:spPr>
          <a:xfrm>
            <a:off x="548640" y="3419856"/>
            <a:ext cx="3886200" cy="365760"/>
          </a:xfrm>
          <a:prstGeom prst="rect">
            <a:avLst/>
          </a:prstGeom>
          <a:solidFill>
            <a:srgbClr val="FFFFFF"/>
          </a:solidFill>
          <a:ln w="9525">
            <a:solidFill>
              <a:srgbClr val="E7ECF1"/>
            </a:solidFill>
            <a:prstDash val="solid"/>
          </a:ln>
        </p:spPr>
      </p:sp>
      <p:sp>
        <p:nvSpPr>
          <p:cNvPr id="26" name="Text 24"/>
          <p:cNvSpPr/>
          <p:nvPr/>
        </p:nvSpPr>
        <p:spPr>
          <a:xfrm>
            <a:off x="548640" y="3419856"/>
            <a:ext cx="388620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Amit Sharma</a:t>
            </a:r>
            <a:endParaRPr lang="en-US" sz="1100" dirty="0"/>
          </a:p>
        </p:txBody>
      </p:sp>
      <p:sp>
        <p:nvSpPr>
          <p:cNvPr id="27" name="Shape 25"/>
          <p:cNvSpPr/>
          <p:nvPr/>
        </p:nvSpPr>
        <p:spPr>
          <a:xfrm>
            <a:off x="4434840" y="3419856"/>
            <a:ext cx="3017520" cy="365760"/>
          </a:xfrm>
          <a:prstGeom prst="rect">
            <a:avLst/>
          </a:prstGeom>
          <a:solidFill>
            <a:srgbClr val="FFFFFF"/>
          </a:solidFill>
          <a:ln w="9525">
            <a:solidFill>
              <a:srgbClr val="E7ECF1"/>
            </a:solidFill>
            <a:prstDash val="solid"/>
          </a:ln>
        </p:spPr>
      </p:sp>
      <p:sp>
        <p:nvSpPr>
          <p:cNvPr id="28" name="Text 26"/>
          <p:cNvSpPr/>
          <p:nvPr/>
        </p:nvSpPr>
        <p:spPr>
          <a:xfrm>
            <a:off x="4434840" y="3419856"/>
            <a:ext cx="301752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Laptop</a:t>
            </a:r>
            <a:endParaRPr lang="en-US" sz="1100" dirty="0"/>
          </a:p>
        </p:txBody>
      </p:sp>
      <p:sp>
        <p:nvSpPr>
          <p:cNvPr id="29" name="Shape 27"/>
          <p:cNvSpPr/>
          <p:nvPr/>
        </p:nvSpPr>
        <p:spPr>
          <a:xfrm>
            <a:off x="7452360" y="3419856"/>
            <a:ext cx="1280160" cy="365760"/>
          </a:xfrm>
          <a:prstGeom prst="rect">
            <a:avLst/>
          </a:prstGeom>
          <a:solidFill>
            <a:srgbClr val="FFFFFF"/>
          </a:solidFill>
          <a:ln w="9525">
            <a:solidFill>
              <a:srgbClr val="E7ECF1"/>
            </a:solidFill>
            <a:prstDash val="solid"/>
          </a:ln>
        </p:spPr>
      </p:sp>
      <p:sp>
        <p:nvSpPr>
          <p:cNvPr id="30" name="Text 28"/>
          <p:cNvSpPr/>
          <p:nvPr/>
        </p:nvSpPr>
        <p:spPr>
          <a:xfrm>
            <a:off x="7452360" y="3419856"/>
            <a:ext cx="128016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1</a:t>
            </a:r>
            <a:endParaRPr lang="en-US" sz="1100" dirty="0"/>
          </a:p>
        </p:txBody>
      </p:sp>
      <p:sp>
        <p:nvSpPr>
          <p:cNvPr id="31" name="Shape 29"/>
          <p:cNvSpPr/>
          <p:nvPr/>
        </p:nvSpPr>
        <p:spPr>
          <a:xfrm>
            <a:off x="8732520" y="3419856"/>
            <a:ext cx="1965960" cy="365760"/>
          </a:xfrm>
          <a:prstGeom prst="rect">
            <a:avLst/>
          </a:prstGeom>
          <a:solidFill>
            <a:srgbClr val="FFFFFF"/>
          </a:solidFill>
          <a:ln w="9525">
            <a:solidFill>
              <a:srgbClr val="E7ECF1"/>
            </a:solidFill>
            <a:prstDash val="solid"/>
          </a:ln>
        </p:spPr>
      </p:sp>
      <p:sp>
        <p:nvSpPr>
          <p:cNvPr id="32" name="Text 30"/>
          <p:cNvSpPr/>
          <p:nvPr/>
        </p:nvSpPr>
        <p:spPr>
          <a:xfrm>
            <a:off x="8732520" y="3419856"/>
            <a:ext cx="196596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₹55,000</a:t>
            </a:r>
            <a:endParaRPr lang="en-US" sz="1100" dirty="0"/>
          </a:p>
        </p:txBody>
      </p:sp>
      <p:sp>
        <p:nvSpPr>
          <p:cNvPr id="33" name="Shape 31"/>
          <p:cNvSpPr/>
          <p:nvPr/>
        </p:nvSpPr>
        <p:spPr>
          <a:xfrm>
            <a:off x="548640" y="3785616"/>
            <a:ext cx="3886200" cy="365760"/>
          </a:xfrm>
          <a:prstGeom prst="rect">
            <a:avLst/>
          </a:prstGeom>
          <a:solidFill>
            <a:srgbClr val="F3F6F9"/>
          </a:solidFill>
          <a:ln w="9525">
            <a:solidFill>
              <a:srgbClr val="E7ECF1"/>
            </a:solidFill>
            <a:prstDash val="solid"/>
          </a:ln>
        </p:spPr>
      </p:sp>
      <p:sp>
        <p:nvSpPr>
          <p:cNvPr id="34" name="Text 32"/>
          <p:cNvSpPr/>
          <p:nvPr/>
        </p:nvSpPr>
        <p:spPr>
          <a:xfrm>
            <a:off x="548640" y="3785616"/>
            <a:ext cx="388620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Amit Sharma</a:t>
            </a:r>
            <a:endParaRPr lang="en-US" sz="1100" dirty="0"/>
          </a:p>
        </p:txBody>
      </p:sp>
      <p:sp>
        <p:nvSpPr>
          <p:cNvPr id="35" name="Shape 33"/>
          <p:cNvSpPr/>
          <p:nvPr/>
        </p:nvSpPr>
        <p:spPr>
          <a:xfrm>
            <a:off x="4434840" y="3785616"/>
            <a:ext cx="3017520" cy="365760"/>
          </a:xfrm>
          <a:prstGeom prst="rect">
            <a:avLst/>
          </a:prstGeom>
          <a:solidFill>
            <a:srgbClr val="F3F6F9"/>
          </a:solidFill>
          <a:ln w="9525">
            <a:solidFill>
              <a:srgbClr val="E7ECF1"/>
            </a:solidFill>
            <a:prstDash val="solid"/>
          </a:ln>
        </p:spPr>
      </p:sp>
      <p:sp>
        <p:nvSpPr>
          <p:cNvPr id="36" name="Text 34"/>
          <p:cNvSpPr/>
          <p:nvPr/>
        </p:nvSpPr>
        <p:spPr>
          <a:xfrm>
            <a:off x="4434840" y="3785616"/>
            <a:ext cx="301752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Mouse</a:t>
            </a:r>
            <a:endParaRPr lang="en-US" sz="1100" dirty="0"/>
          </a:p>
        </p:txBody>
      </p:sp>
      <p:sp>
        <p:nvSpPr>
          <p:cNvPr id="37" name="Shape 35"/>
          <p:cNvSpPr/>
          <p:nvPr/>
        </p:nvSpPr>
        <p:spPr>
          <a:xfrm>
            <a:off x="7452360" y="3785616"/>
            <a:ext cx="1280160" cy="365760"/>
          </a:xfrm>
          <a:prstGeom prst="rect">
            <a:avLst/>
          </a:prstGeom>
          <a:solidFill>
            <a:srgbClr val="F3F6F9"/>
          </a:solidFill>
          <a:ln w="9525">
            <a:solidFill>
              <a:srgbClr val="E7ECF1"/>
            </a:solidFill>
            <a:prstDash val="solid"/>
          </a:ln>
        </p:spPr>
      </p:sp>
      <p:sp>
        <p:nvSpPr>
          <p:cNvPr id="38" name="Text 36"/>
          <p:cNvSpPr/>
          <p:nvPr/>
        </p:nvSpPr>
        <p:spPr>
          <a:xfrm>
            <a:off x="7452360" y="3785616"/>
            <a:ext cx="128016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2</a:t>
            </a:r>
            <a:endParaRPr lang="en-US" sz="1100" dirty="0"/>
          </a:p>
        </p:txBody>
      </p:sp>
      <p:sp>
        <p:nvSpPr>
          <p:cNvPr id="39" name="Shape 37"/>
          <p:cNvSpPr/>
          <p:nvPr/>
        </p:nvSpPr>
        <p:spPr>
          <a:xfrm>
            <a:off x="8732520" y="3785616"/>
            <a:ext cx="1965960" cy="365760"/>
          </a:xfrm>
          <a:prstGeom prst="rect">
            <a:avLst/>
          </a:prstGeom>
          <a:solidFill>
            <a:srgbClr val="F3F6F9"/>
          </a:solidFill>
          <a:ln w="9525">
            <a:solidFill>
              <a:srgbClr val="E7ECF1"/>
            </a:solidFill>
            <a:prstDash val="solid"/>
          </a:ln>
        </p:spPr>
      </p:sp>
      <p:sp>
        <p:nvSpPr>
          <p:cNvPr id="40" name="Text 38"/>
          <p:cNvSpPr/>
          <p:nvPr/>
        </p:nvSpPr>
        <p:spPr>
          <a:xfrm>
            <a:off x="8732520" y="3785616"/>
            <a:ext cx="196596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₹1,600</a:t>
            </a:r>
            <a:endParaRPr lang="en-US" sz="1100" dirty="0"/>
          </a:p>
        </p:txBody>
      </p:sp>
      <p:sp>
        <p:nvSpPr>
          <p:cNvPr id="41" name="Shape 39"/>
          <p:cNvSpPr/>
          <p:nvPr/>
        </p:nvSpPr>
        <p:spPr>
          <a:xfrm>
            <a:off x="548640" y="4151376"/>
            <a:ext cx="3886200" cy="365760"/>
          </a:xfrm>
          <a:prstGeom prst="rect">
            <a:avLst/>
          </a:prstGeom>
          <a:solidFill>
            <a:srgbClr val="FFFFFF"/>
          </a:solidFill>
          <a:ln w="9525">
            <a:solidFill>
              <a:srgbClr val="E7ECF1"/>
            </a:solidFill>
            <a:prstDash val="solid"/>
          </a:ln>
        </p:spPr>
      </p:sp>
      <p:sp>
        <p:nvSpPr>
          <p:cNvPr id="42" name="Text 40"/>
          <p:cNvSpPr/>
          <p:nvPr/>
        </p:nvSpPr>
        <p:spPr>
          <a:xfrm>
            <a:off x="548640" y="4151376"/>
            <a:ext cx="388620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Priya Singh</a:t>
            </a:r>
            <a:endParaRPr lang="en-US" sz="1100" dirty="0"/>
          </a:p>
        </p:txBody>
      </p:sp>
      <p:sp>
        <p:nvSpPr>
          <p:cNvPr id="43" name="Shape 41"/>
          <p:cNvSpPr/>
          <p:nvPr/>
        </p:nvSpPr>
        <p:spPr>
          <a:xfrm>
            <a:off x="4434840" y="4151376"/>
            <a:ext cx="3017520" cy="365760"/>
          </a:xfrm>
          <a:prstGeom prst="rect">
            <a:avLst/>
          </a:prstGeom>
          <a:solidFill>
            <a:srgbClr val="FFFFFF"/>
          </a:solidFill>
          <a:ln w="9525">
            <a:solidFill>
              <a:srgbClr val="E7ECF1"/>
            </a:solidFill>
            <a:prstDash val="solid"/>
          </a:ln>
        </p:spPr>
      </p:sp>
      <p:sp>
        <p:nvSpPr>
          <p:cNvPr id="44" name="Text 42"/>
          <p:cNvSpPr/>
          <p:nvPr/>
        </p:nvSpPr>
        <p:spPr>
          <a:xfrm>
            <a:off x="4434840" y="4151376"/>
            <a:ext cx="301752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Keyboard</a:t>
            </a:r>
            <a:endParaRPr lang="en-US" sz="1100" dirty="0"/>
          </a:p>
        </p:txBody>
      </p:sp>
      <p:sp>
        <p:nvSpPr>
          <p:cNvPr id="45" name="Shape 43"/>
          <p:cNvSpPr/>
          <p:nvPr/>
        </p:nvSpPr>
        <p:spPr>
          <a:xfrm>
            <a:off x="7452360" y="4151376"/>
            <a:ext cx="1280160" cy="365760"/>
          </a:xfrm>
          <a:prstGeom prst="rect">
            <a:avLst/>
          </a:prstGeom>
          <a:solidFill>
            <a:srgbClr val="FFFFFF"/>
          </a:solidFill>
          <a:ln w="9525">
            <a:solidFill>
              <a:srgbClr val="E7ECF1"/>
            </a:solidFill>
            <a:prstDash val="solid"/>
          </a:ln>
        </p:spPr>
      </p:sp>
      <p:sp>
        <p:nvSpPr>
          <p:cNvPr id="46" name="Text 44"/>
          <p:cNvSpPr/>
          <p:nvPr/>
        </p:nvSpPr>
        <p:spPr>
          <a:xfrm>
            <a:off x="7452360" y="4151376"/>
            <a:ext cx="128016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1</a:t>
            </a:r>
            <a:endParaRPr lang="en-US" sz="1100" dirty="0"/>
          </a:p>
        </p:txBody>
      </p:sp>
      <p:sp>
        <p:nvSpPr>
          <p:cNvPr id="47" name="Shape 45"/>
          <p:cNvSpPr/>
          <p:nvPr/>
        </p:nvSpPr>
        <p:spPr>
          <a:xfrm>
            <a:off x="8732520" y="4151376"/>
            <a:ext cx="1965960" cy="365760"/>
          </a:xfrm>
          <a:prstGeom prst="rect">
            <a:avLst/>
          </a:prstGeom>
          <a:solidFill>
            <a:srgbClr val="FFFFFF"/>
          </a:solidFill>
          <a:ln w="9525">
            <a:solidFill>
              <a:srgbClr val="E7ECF1"/>
            </a:solidFill>
            <a:prstDash val="solid"/>
          </a:ln>
        </p:spPr>
      </p:sp>
      <p:sp>
        <p:nvSpPr>
          <p:cNvPr id="48" name="Text 46"/>
          <p:cNvSpPr/>
          <p:nvPr/>
        </p:nvSpPr>
        <p:spPr>
          <a:xfrm>
            <a:off x="8732520" y="4151376"/>
            <a:ext cx="196596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₹1,500</a:t>
            </a:r>
            <a:endParaRPr lang="en-US" sz="1100" dirty="0"/>
          </a:p>
        </p:txBody>
      </p:sp>
      <p:sp>
        <p:nvSpPr>
          <p:cNvPr id="49" name="Shape 47"/>
          <p:cNvSpPr/>
          <p:nvPr/>
        </p:nvSpPr>
        <p:spPr>
          <a:xfrm>
            <a:off x="548640" y="4517136"/>
            <a:ext cx="3886200" cy="365760"/>
          </a:xfrm>
          <a:prstGeom prst="rect">
            <a:avLst/>
          </a:prstGeom>
          <a:solidFill>
            <a:srgbClr val="F3F6F9"/>
          </a:solidFill>
          <a:ln w="9525">
            <a:solidFill>
              <a:srgbClr val="E7ECF1"/>
            </a:solidFill>
            <a:prstDash val="solid"/>
          </a:ln>
        </p:spPr>
      </p:sp>
      <p:sp>
        <p:nvSpPr>
          <p:cNvPr id="50" name="Text 48"/>
          <p:cNvSpPr/>
          <p:nvPr/>
        </p:nvSpPr>
        <p:spPr>
          <a:xfrm>
            <a:off x="548640" y="4517136"/>
            <a:ext cx="388620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Rahul Verma</a:t>
            </a:r>
            <a:endParaRPr lang="en-US" sz="1100" dirty="0"/>
          </a:p>
        </p:txBody>
      </p:sp>
      <p:sp>
        <p:nvSpPr>
          <p:cNvPr id="51" name="Shape 49"/>
          <p:cNvSpPr/>
          <p:nvPr/>
        </p:nvSpPr>
        <p:spPr>
          <a:xfrm>
            <a:off x="4434840" y="4517136"/>
            <a:ext cx="3017520" cy="365760"/>
          </a:xfrm>
          <a:prstGeom prst="rect">
            <a:avLst/>
          </a:prstGeom>
          <a:solidFill>
            <a:srgbClr val="F3F6F9"/>
          </a:solidFill>
          <a:ln w="9525">
            <a:solidFill>
              <a:srgbClr val="E7ECF1"/>
            </a:solidFill>
            <a:prstDash val="solid"/>
          </a:ln>
        </p:spPr>
      </p:sp>
      <p:sp>
        <p:nvSpPr>
          <p:cNvPr id="52" name="Text 50"/>
          <p:cNvSpPr/>
          <p:nvPr/>
        </p:nvSpPr>
        <p:spPr>
          <a:xfrm>
            <a:off x="4434840" y="4517136"/>
            <a:ext cx="301752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Office Chair</a:t>
            </a:r>
            <a:endParaRPr lang="en-US" sz="1100" dirty="0"/>
          </a:p>
        </p:txBody>
      </p:sp>
      <p:sp>
        <p:nvSpPr>
          <p:cNvPr id="53" name="Shape 51"/>
          <p:cNvSpPr/>
          <p:nvPr/>
        </p:nvSpPr>
        <p:spPr>
          <a:xfrm>
            <a:off x="7452360" y="4517136"/>
            <a:ext cx="1280160" cy="365760"/>
          </a:xfrm>
          <a:prstGeom prst="rect">
            <a:avLst/>
          </a:prstGeom>
          <a:solidFill>
            <a:srgbClr val="F3F6F9"/>
          </a:solidFill>
          <a:ln w="9525">
            <a:solidFill>
              <a:srgbClr val="E7ECF1"/>
            </a:solidFill>
            <a:prstDash val="solid"/>
          </a:ln>
        </p:spPr>
      </p:sp>
      <p:sp>
        <p:nvSpPr>
          <p:cNvPr id="54" name="Text 52"/>
          <p:cNvSpPr/>
          <p:nvPr/>
        </p:nvSpPr>
        <p:spPr>
          <a:xfrm>
            <a:off x="7452360" y="4517136"/>
            <a:ext cx="128016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1</a:t>
            </a:r>
            <a:endParaRPr lang="en-US" sz="1100" dirty="0"/>
          </a:p>
        </p:txBody>
      </p:sp>
      <p:sp>
        <p:nvSpPr>
          <p:cNvPr id="55" name="Shape 53"/>
          <p:cNvSpPr/>
          <p:nvPr/>
        </p:nvSpPr>
        <p:spPr>
          <a:xfrm>
            <a:off x="8732520" y="4517136"/>
            <a:ext cx="1965960" cy="365760"/>
          </a:xfrm>
          <a:prstGeom prst="rect">
            <a:avLst/>
          </a:prstGeom>
          <a:solidFill>
            <a:srgbClr val="F3F6F9"/>
          </a:solidFill>
          <a:ln w="9525">
            <a:solidFill>
              <a:srgbClr val="E7ECF1"/>
            </a:solidFill>
            <a:prstDash val="solid"/>
          </a:ln>
        </p:spPr>
      </p:sp>
      <p:sp>
        <p:nvSpPr>
          <p:cNvPr id="56" name="Text 54"/>
          <p:cNvSpPr/>
          <p:nvPr/>
        </p:nvSpPr>
        <p:spPr>
          <a:xfrm>
            <a:off x="8732520" y="4517136"/>
            <a:ext cx="196596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₹6,500</a:t>
            </a:r>
            <a:endParaRPr lang="en-US" sz="1100" dirty="0"/>
          </a:p>
        </p:txBody>
      </p:sp>
      <p:sp>
        <p:nvSpPr>
          <p:cNvPr id="57" name="Shape 55"/>
          <p:cNvSpPr/>
          <p:nvPr/>
        </p:nvSpPr>
        <p:spPr>
          <a:xfrm>
            <a:off x="548640" y="4882896"/>
            <a:ext cx="3886200" cy="365760"/>
          </a:xfrm>
          <a:prstGeom prst="rect">
            <a:avLst/>
          </a:prstGeom>
          <a:solidFill>
            <a:srgbClr val="FFFFFF"/>
          </a:solidFill>
          <a:ln w="9525">
            <a:solidFill>
              <a:srgbClr val="E7ECF1"/>
            </a:solidFill>
            <a:prstDash val="solid"/>
          </a:ln>
        </p:spPr>
      </p:sp>
      <p:sp>
        <p:nvSpPr>
          <p:cNvPr id="58" name="Text 56"/>
          <p:cNvSpPr/>
          <p:nvPr/>
        </p:nvSpPr>
        <p:spPr>
          <a:xfrm>
            <a:off x="548640" y="4882896"/>
            <a:ext cx="388620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Sneha Gupta</a:t>
            </a:r>
            <a:endParaRPr lang="en-US" sz="1100" dirty="0"/>
          </a:p>
        </p:txBody>
      </p:sp>
      <p:sp>
        <p:nvSpPr>
          <p:cNvPr id="59" name="Shape 57"/>
          <p:cNvSpPr/>
          <p:nvPr/>
        </p:nvSpPr>
        <p:spPr>
          <a:xfrm>
            <a:off x="4434840" y="4882896"/>
            <a:ext cx="3017520" cy="365760"/>
          </a:xfrm>
          <a:prstGeom prst="rect">
            <a:avLst/>
          </a:prstGeom>
          <a:solidFill>
            <a:srgbClr val="FFFFFF"/>
          </a:solidFill>
          <a:ln w="9525">
            <a:solidFill>
              <a:srgbClr val="E7ECF1"/>
            </a:solidFill>
            <a:prstDash val="solid"/>
          </a:ln>
        </p:spPr>
      </p:sp>
      <p:sp>
        <p:nvSpPr>
          <p:cNvPr id="60" name="Text 58"/>
          <p:cNvSpPr/>
          <p:nvPr/>
        </p:nvSpPr>
        <p:spPr>
          <a:xfrm>
            <a:off x="4434840" y="4882896"/>
            <a:ext cx="301752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Dining Table</a:t>
            </a:r>
            <a:endParaRPr lang="en-US" sz="1100" dirty="0"/>
          </a:p>
        </p:txBody>
      </p:sp>
      <p:sp>
        <p:nvSpPr>
          <p:cNvPr id="61" name="Shape 59"/>
          <p:cNvSpPr/>
          <p:nvPr/>
        </p:nvSpPr>
        <p:spPr>
          <a:xfrm>
            <a:off x="7452360" y="4882896"/>
            <a:ext cx="1280160" cy="365760"/>
          </a:xfrm>
          <a:prstGeom prst="rect">
            <a:avLst/>
          </a:prstGeom>
          <a:solidFill>
            <a:srgbClr val="FFFFFF"/>
          </a:solidFill>
          <a:ln w="9525">
            <a:solidFill>
              <a:srgbClr val="E7ECF1"/>
            </a:solidFill>
            <a:prstDash val="solid"/>
          </a:ln>
        </p:spPr>
      </p:sp>
      <p:sp>
        <p:nvSpPr>
          <p:cNvPr id="62" name="Text 60"/>
          <p:cNvSpPr/>
          <p:nvPr/>
        </p:nvSpPr>
        <p:spPr>
          <a:xfrm>
            <a:off x="7452360" y="4882896"/>
            <a:ext cx="128016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1</a:t>
            </a:r>
            <a:endParaRPr lang="en-US" sz="1100" dirty="0"/>
          </a:p>
        </p:txBody>
      </p:sp>
      <p:sp>
        <p:nvSpPr>
          <p:cNvPr id="63" name="Shape 61"/>
          <p:cNvSpPr/>
          <p:nvPr/>
        </p:nvSpPr>
        <p:spPr>
          <a:xfrm>
            <a:off x="8732520" y="4882896"/>
            <a:ext cx="1965960" cy="365760"/>
          </a:xfrm>
          <a:prstGeom prst="rect">
            <a:avLst/>
          </a:prstGeom>
          <a:solidFill>
            <a:srgbClr val="FFFFFF"/>
          </a:solidFill>
          <a:ln w="9525">
            <a:solidFill>
              <a:srgbClr val="E7ECF1"/>
            </a:solidFill>
            <a:prstDash val="solid"/>
          </a:ln>
        </p:spPr>
      </p:sp>
      <p:sp>
        <p:nvSpPr>
          <p:cNvPr id="64" name="Text 62"/>
          <p:cNvSpPr/>
          <p:nvPr/>
        </p:nvSpPr>
        <p:spPr>
          <a:xfrm>
            <a:off x="8732520" y="4882896"/>
            <a:ext cx="1965960" cy="365760"/>
          </a:xfrm>
          <a:prstGeom prst="rect">
            <a:avLst/>
          </a:prstGeom>
          <a:noFill/>
          <a:ln/>
        </p:spPr>
        <p:txBody>
          <a:bodyPr wrap="square" lIns="0" tIns="0" rIns="0" bIns="0" rtlCol="0" anchor="ctr"/>
          <a:lstStyle/>
          <a:p>
            <a:pPr algn="ctr" indent="0" marL="0">
              <a:buNone/>
            </a:pPr>
            <a:r>
              <a:rPr lang="en-US" sz="1100" dirty="0">
                <a:solidFill>
                  <a:srgbClr val="112036"/>
                </a:solidFill>
                <a:latin typeface="Calibri" pitchFamily="34" charset="0"/>
                <a:ea typeface="Calibri" pitchFamily="34" charset="-122"/>
                <a:cs typeface="Calibri" pitchFamily="34" charset="-120"/>
              </a:rPr>
              <a:t>₹12,000</a:t>
            </a:r>
            <a:endParaRPr lang="en-US" sz="1100" dirty="0"/>
          </a:p>
        </p:txBody>
      </p:sp>
      <p:sp>
        <p:nvSpPr>
          <p:cNvPr id="65" name="Shape 63"/>
          <p:cNvSpPr/>
          <p:nvPr/>
        </p:nvSpPr>
        <p:spPr>
          <a:xfrm>
            <a:off x="548640" y="5257800"/>
            <a:ext cx="11109960" cy="914400"/>
          </a:xfrm>
          <a:prstGeom prst="roundRect">
            <a:avLst>
              <a:gd name="adj" fmla="val 8000"/>
            </a:avLst>
          </a:prstGeom>
          <a:solidFill>
            <a:srgbClr val="0B2545"/>
          </a:solidFill>
          <a:ln/>
          <a:effectLst>
            <a:outerShdw sx="100000" sy="100000" kx="0" ky="0" algn="bl" rotWithShape="0" blurRad="76200" dist="25400" dir="5400000">
              <a:srgbClr val="10203A">
                <a:alpha val="35000"/>
              </a:srgbClr>
            </a:outerShdw>
          </a:effectLst>
        </p:spPr>
      </p:sp>
      <p:sp>
        <p:nvSpPr>
          <p:cNvPr id="66" name="Text 64"/>
          <p:cNvSpPr/>
          <p:nvPr/>
        </p:nvSpPr>
        <p:spPr>
          <a:xfrm>
            <a:off x="804672" y="5385816"/>
            <a:ext cx="10597896" cy="256032"/>
          </a:xfrm>
          <a:prstGeom prst="rect">
            <a:avLst/>
          </a:prstGeom>
          <a:noFill/>
          <a:ln/>
        </p:spPr>
        <p:txBody>
          <a:bodyPr wrap="square" lIns="0" tIns="0" rIns="0" bIns="0" rtlCol="0" anchor="ctr"/>
          <a:lstStyle/>
          <a:p>
            <a:pPr indent="0" marL="0">
              <a:buNone/>
            </a:pPr>
            <a:r>
              <a:rPr lang="en-US" sz="1100" b="1" spc="150" kern="0" dirty="0">
                <a:solidFill>
                  <a:srgbClr val="14B8A6"/>
                </a:solidFill>
                <a:latin typeface="Calibri" pitchFamily="34" charset="0"/>
                <a:ea typeface="Calibri" pitchFamily="34" charset="-122"/>
                <a:cs typeface="Calibri" pitchFamily="34" charset="-120"/>
              </a:rPr>
              <a:t>CAPTION</a:t>
            </a:r>
            <a:endParaRPr lang="en-US" sz="1100" dirty="0"/>
          </a:p>
        </p:txBody>
      </p:sp>
      <p:sp>
        <p:nvSpPr>
          <p:cNvPr id="67" name="Text 65"/>
          <p:cNvSpPr/>
          <p:nvPr/>
        </p:nvSpPr>
        <p:spPr>
          <a:xfrm>
            <a:off x="804672" y="5660136"/>
            <a:ext cx="10597896" cy="384048"/>
          </a:xfrm>
          <a:prstGeom prst="rect">
            <a:avLst/>
          </a:prstGeom>
          <a:noFill/>
          <a:ln/>
        </p:spPr>
        <p:txBody>
          <a:bodyPr wrap="square" lIns="0" tIns="0" rIns="0" bIns="0" rtlCol="0" anchor="t"/>
          <a:lstStyle/>
          <a:p>
            <a:pPr indent="0" marL="0">
              <a:lnSpc>
                <a:spcPct val="115000"/>
              </a:lnSpc>
              <a:buNone/>
            </a:pPr>
            <a:r>
              <a:rPr lang="en-US" sz="1250" dirty="0">
                <a:solidFill>
                  <a:srgbClr val="FFFFFF"/>
                </a:solidFill>
                <a:latin typeface="Calibri" pitchFamily="34" charset="0"/>
                <a:ea typeface="Calibri" pitchFamily="34" charset="-122"/>
                <a:cs typeface="Calibri" pitchFamily="34" charset="-120"/>
              </a:rPr>
              <a:t>This is how Amazon-style order reports are generated — five normalized tables, joined on demand, into one customer-ready view.</a:t>
            </a:r>
            <a:endParaRPr lang="en-US" sz="1250" dirty="0"/>
          </a:p>
        </p:txBody>
      </p:sp>
      <p:sp>
        <p:nvSpPr>
          <p:cNvPr id="68" name="Text 66"/>
          <p:cNvSpPr/>
          <p:nvPr/>
        </p:nvSpPr>
        <p:spPr>
          <a:xfrm>
            <a:off x="457200" y="6528816"/>
            <a:ext cx="6400800" cy="274320"/>
          </a:xfrm>
          <a:prstGeom prst="rect">
            <a:avLst/>
          </a:prstGeom>
          <a:noFill/>
          <a:ln/>
        </p:spPr>
        <p:txBody>
          <a:bodyPr wrap="square" rtlCol="0" anchor="ctr"/>
          <a:lstStyle/>
          <a:p>
            <a:pPr algn="l" indent="0" marL="0">
              <a:buNone/>
            </a:pPr>
            <a:r>
              <a:rPr lang="en-US" sz="900" i="1" dirty="0">
                <a:solidFill>
                  <a:srgbClr val="62728A"/>
                </a:solidFill>
                <a:latin typeface="Calibri" pitchFamily="34" charset="0"/>
                <a:ea typeface="Calibri" pitchFamily="34" charset="-122"/>
                <a:cs typeface="Calibri" pitchFamily="34" charset="-120"/>
              </a:rPr>
              <a:t>Shalinee Priya   |   Data Analyst  ·  SQL Trainer</a:t>
            </a:r>
            <a:endParaRPr lang="en-US" sz="900" dirty="0"/>
          </a:p>
        </p:txBody>
      </p:sp>
      <p:sp>
        <p:nvSpPr>
          <p:cNvPr id="69" name="Shape 67"/>
          <p:cNvSpPr/>
          <p:nvPr/>
        </p:nvSpPr>
        <p:spPr>
          <a:xfrm>
            <a:off x="10561320" y="6510528"/>
            <a:ext cx="1170432" cy="292608"/>
          </a:xfrm>
          <a:prstGeom prst="rect">
            <a:avLst>
              <a:gd name="adj" fmla="val 50000"/>
            </a:avLst>
          </a:prstGeom>
          <a:solidFill>
            <a:srgbClr val="0B2545"/>
          </a:solidFill>
          <a:ln/>
        </p:spPr>
      </p:sp>
      <p:sp>
        <p:nvSpPr>
          <p:cNvPr id="70" name="Text 68"/>
          <p:cNvSpPr/>
          <p:nvPr/>
        </p:nvSpPr>
        <p:spPr>
          <a:xfrm>
            <a:off x="10561320" y="6510528"/>
            <a:ext cx="11704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9/10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9326880" y="-731520"/>
            <a:ext cx="2560320" cy="2560320"/>
          </a:xfrm>
          <a:prstGeom prst="ellipse">
            <a:avLst/>
          </a:prstGeom>
          <a:solidFill>
            <a:srgbClr val="14B8A6">
              <a:alpha val="18000"/>
            </a:srgbClr>
          </a:solidFill>
          <a:ln w="19050">
            <a:solidFill>
              <a:srgbClr val="14B8A6"/>
            </a:solidFill>
            <a:prstDash val="solid"/>
          </a:ln>
        </p:spPr>
      </p:sp>
      <p:sp>
        <p:nvSpPr>
          <p:cNvPr id="3" name="Shape 1"/>
          <p:cNvSpPr/>
          <p:nvPr/>
        </p:nvSpPr>
        <p:spPr>
          <a:xfrm>
            <a:off x="10735056" y="-731520"/>
            <a:ext cx="2560320" cy="2560320"/>
          </a:xfrm>
          <a:prstGeom prst="ellipse">
            <a:avLst/>
          </a:prstGeom>
          <a:solidFill>
            <a:srgbClr val="3E6094">
              <a:alpha val="18000"/>
            </a:srgbClr>
          </a:solidFill>
          <a:ln w="19050">
            <a:solidFill>
              <a:srgbClr val="3E6094"/>
            </a:solidFill>
            <a:prstDash val="solid"/>
          </a:ln>
        </p:spPr>
      </p:sp>
      <p:sp>
        <p:nvSpPr>
          <p:cNvPr id="4" name="Text 2"/>
          <p:cNvSpPr/>
          <p:nvPr/>
        </p:nvSpPr>
        <p:spPr>
          <a:xfrm>
            <a:off x="548640" y="457200"/>
            <a:ext cx="9144000" cy="274320"/>
          </a:xfrm>
          <a:prstGeom prst="rect">
            <a:avLst/>
          </a:prstGeom>
          <a:noFill/>
          <a:ln/>
        </p:spPr>
        <p:txBody>
          <a:bodyPr wrap="square" lIns="0" tIns="0" rIns="0" bIns="0" rtlCol="0" anchor="ctr"/>
          <a:lstStyle/>
          <a:p>
            <a:pPr indent="0" marL="0">
              <a:buNone/>
            </a:pPr>
            <a:r>
              <a:rPr lang="en-US" sz="1200" b="1" spc="200" kern="0" dirty="0">
                <a:solidFill>
                  <a:srgbClr val="14B8A6"/>
                </a:solidFill>
                <a:latin typeface="Calibri" pitchFamily="34" charset="0"/>
                <a:ea typeface="Calibri" pitchFamily="34" charset="-122"/>
                <a:cs typeface="Calibri" pitchFamily="34" charset="-120"/>
              </a:rPr>
              <a:t>INTERVIEW CHALLENGE</a:t>
            </a:r>
            <a:endParaRPr lang="en-US" sz="1200" dirty="0"/>
          </a:p>
        </p:txBody>
      </p:sp>
      <p:sp>
        <p:nvSpPr>
          <p:cNvPr id="5" name="Text 3"/>
          <p:cNvSpPr/>
          <p:nvPr/>
        </p:nvSpPr>
        <p:spPr>
          <a:xfrm>
            <a:off x="530352" y="713232"/>
            <a:ext cx="1060704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Mini Interview Challenge</a:t>
            </a:r>
            <a:endParaRPr lang="en-US" sz="2800" dirty="0"/>
          </a:p>
        </p:txBody>
      </p:sp>
      <p:sp>
        <p:nvSpPr>
          <p:cNvPr id="6" name="Shape 4"/>
          <p:cNvSpPr/>
          <p:nvPr/>
        </p:nvSpPr>
        <p:spPr>
          <a:xfrm>
            <a:off x="548640" y="1508760"/>
            <a:ext cx="10881360" cy="658368"/>
          </a:xfrm>
          <a:prstGeom prst="roundRect">
            <a:avLst>
              <a:gd name="adj" fmla="val 11111"/>
            </a:avLst>
          </a:prstGeom>
          <a:solidFill>
            <a:srgbClr val="13315C"/>
          </a:solidFill>
          <a:ln/>
        </p:spPr>
      </p:sp>
      <p:sp>
        <p:nvSpPr>
          <p:cNvPr id="7" name="Shape 5"/>
          <p:cNvSpPr/>
          <p:nvPr/>
        </p:nvSpPr>
        <p:spPr>
          <a:xfrm>
            <a:off x="777240" y="1618488"/>
            <a:ext cx="438912" cy="438912"/>
          </a:xfrm>
          <a:prstGeom prst="ellipse">
            <a:avLst/>
          </a:prstGeom>
          <a:solidFill>
            <a:srgbClr val="14B8A6"/>
          </a:solidFill>
          <a:ln/>
        </p:spPr>
      </p:sp>
      <p:sp>
        <p:nvSpPr>
          <p:cNvPr id="8" name="Text 6"/>
          <p:cNvSpPr/>
          <p:nvPr/>
        </p:nvSpPr>
        <p:spPr>
          <a:xfrm>
            <a:off x="777240" y="1618488"/>
            <a:ext cx="438912" cy="438912"/>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1417320" y="1508760"/>
            <a:ext cx="9784080" cy="658368"/>
          </a:xfrm>
          <a:prstGeom prst="rect">
            <a:avLst/>
          </a:prstGeom>
          <a:noFill/>
          <a:ln/>
        </p:spPr>
        <p:txBody>
          <a:bodyPr wrap="square" lIns="0" tIns="0" rIns="0" bIns="0" rtlCol="0" anchor="ctr"/>
          <a:lstStyle/>
          <a:p>
            <a:pPr indent="0" marL="0">
              <a:buNone/>
            </a:pPr>
            <a:r>
              <a:rPr lang="en-US" sz="1500" dirty="0">
                <a:solidFill>
                  <a:srgbClr val="EAF1FA"/>
                </a:solidFill>
                <a:latin typeface="Calibri" pitchFamily="34" charset="0"/>
                <a:ea typeface="Calibri" pitchFamily="34" charset="-122"/>
                <a:cs typeface="Calibri" pitchFamily="34" charset="-120"/>
              </a:rPr>
              <a:t>INNER vs LEFT JOIN — what's the difference?</a:t>
            </a:r>
            <a:endParaRPr lang="en-US" sz="1500" dirty="0"/>
          </a:p>
        </p:txBody>
      </p:sp>
      <p:sp>
        <p:nvSpPr>
          <p:cNvPr id="10" name="Shape 8"/>
          <p:cNvSpPr/>
          <p:nvPr/>
        </p:nvSpPr>
        <p:spPr>
          <a:xfrm>
            <a:off x="548640" y="2313432"/>
            <a:ext cx="10881360" cy="658368"/>
          </a:xfrm>
          <a:prstGeom prst="roundRect">
            <a:avLst>
              <a:gd name="adj" fmla="val 11111"/>
            </a:avLst>
          </a:prstGeom>
          <a:solidFill>
            <a:srgbClr val="13315C"/>
          </a:solidFill>
          <a:ln/>
        </p:spPr>
      </p:sp>
      <p:sp>
        <p:nvSpPr>
          <p:cNvPr id="11" name="Shape 9"/>
          <p:cNvSpPr/>
          <p:nvPr/>
        </p:nvSpPr>
        <p:spPr>
          <a:xfrm>
            <a:off x="777240" y="2423160"/>
            <a:ext cx="438912" cy="438912"/>
          </a:xfrm>
          <a:prstGeom prst="ellipse">
            <a:avLst/>
          </a:prstGeom>
          <a:solidFill>
            <a:srgbClr val="14B8A6"/>
          </a:solidFill>
          <a:ln/>
        </p:spPr>
      </p:sp>
      <p:sp>
        <p:nvSpPr>
          <p:cNvPr id="12" name="Text 10"/>
          <p:cNvSpPr/>
          <p:nvPr/>
        </p:nvSpPr>
        <p:spPr>
          <a:xfrm>
            <a:off x="777240" y="2423160"/>
            <a:ext cx="438912" cy="438912"/>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417320" y="2313432"/>
            <a:ext cx="9784080" cy="658368"/>
          </a:xfrm>
          <a:prstGeom prst="rect">
            <a:avLst/>
          </a:prstGeom>
          <a:noFill/>
          <a:ln/>
        </p:spPr>
        <p:txBody>
          <a:bodyPr wrap="square" lIns="0" tIns="0" rIns="0" bIns="0" rtlCol="0" anchor="ctr"/>
          <a:lstStyle/>
          <a:p>
            <a:pPr indent="0" marL="0">
              <a:buNone/>
            </a:pPr>
            <a:r>
              <a:rPr lang="en-US" sz="1500" dirty="0">
                <a:solidFill>
                  <a:srgbClr val="EAF1FA"/>
                </a:solidFill>
                <a:latin typeface="Calibri" pitchFamily="34" charset="0"/>
                <a:ea typeface="Calibri" pitchFamily="34" charset="-122"/>
                <a:cs typeface="Calibri" pitchFamily="34" charset="-120"/>
              </a:rPr>
              <a:t>Why is the ON clause mandatory?</a:t>
            </a:r>
            <a:endParaRPr lang="en-US" sz="1500" dirty="0"/>
          </a:p>
        </p:txBody>
      </p:sp>
      <p:sp>
        <p:nvSpPr>
          <p:cNvPr id="14" name="Shape 12"/>
          <p:cNvSpPr/>
          <p:nvPr/>
        </p:nvSpPr>
        <p:spPr>
          <a:xfrm>
            <a:off x="548640" y="3118104"/>
            <a:ext cx="10881360" cy="658368"/>
          </a:xfrm>
          <a:prstGeom prst="roundRect">
            <a:avLst>
              <a:gd name="adj" fmla="val 11111"/>
            </a:avLst>
          </a:prstGeom>
          <a:solidFill>
            <a:srgbClr val="13315C"/>
          </a:solidFill>
          <a:ln/>
        </p:spPr>
      </p:sp>
      <p:sp>
        <p:nvSpPr>
          <p:cNvPr id="15" name="Shape 13"/>
          <p:cNvSpPr/>
          <p:nvPr/>
        </p:nvSpPr>
        <p:spPr>
          <a:xfrm>
            <a:off x="777240" y="3227832"/>
            <a:ext cx="438912" cy="438912"/>
          </a:xfrm>
          <a:prstGeom prst="ellipse">
            <a:avLst/>
          </a:prstGeom>
          <a:solidFill>
            <a:srgbClr val="14B8A6"/>
          </a:solidFill>
          <a:ln/>
        </p:spPr>
      </p:sp>
      <p:sp>
        <p:nvSpPr>
          <p:cNvPr id="16" name="Text 14"/>
          <p:cNvSpPr/>
          <p:nvPr/>
        </p:nvSpPr>
        <p:spPr>
          <a:xfrm>
            <a:off x="777240" y="3227832"/>
            <a:ext cx="438912" cy="438912"/>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417320" y="3118104"/>
            <a:ext cx="9784080" cy="658368"/>
          </a:xfrm>
          <a:prstGeom prst="rect">
            <a:avLst/>
          </a:prstGeom>
          <a:noFill/>
          <a:ln/>
        </p:spPr>
        <p:txBody>
          <a:bodyPr wrap="square" lIns="0" tIns="0" rIns="0" bIns="0" rtlCol="0" anchor="ctr"/>
          <a:lstStyle/>
          <a:p>
            <a:pPr indent="0" marL="0">
              <a:buNone/>
            </a:pPr>
            <a:r>
              <a:rPr lang="en-US" sz="1500" dirty="0">
                <a:solidFill>
                  <a:srgbClr val="EAF1FA"/>
                </a:solidFill>
                <a:latin typeface="Calibri" pitchFamily="34" charset="0"/>
                <a:ea typeface="Calibri" pitchFamily="34" charset="-122"/>
                <a:cs typeface="Calibri" pitchFamily="34" charset="-120"/>
              </a:rPr>
              <a:t>Why doesn't MySQL support FULL JOIN natively?</a:t>
            </a:r>
            <a:endParaRPr lang="en-US" sz="1500" dirty="0"/>
          </a:p>
        </p:txBody>
      </p:sp>
      <p:sp>
        <p:nvSpPr>
          <p:cNvPr id="18" name="Shape 16"/>
          <p:cNvSpPr/>
          <p:nvPr/>
        </p:nvSpPr>
        <p:spPr>
          <a:xfrm>
            <a:off x="548640" y="3922776"/>
            <a:ext cx="10881360" cy="658368"/>
          </a:xfrm>
          <a:prstGeom prst="roundRect">
            <a:avLst>
              <a:gd name="adj" fmla="val 11111"/>
            </a:avLst>
          </a:prstGeom>
          <a:solidFill>
            <a:srgbClr val="13315C"/>
          </a:solidFill>
          <a:ln/>
        </p:spPr>
      </p:sp>
      <p:sp>
        <p:nvSpPr>
          <p:cNvPr id="19" name="Shape 17"/>
          <p:cNvSpPr/>
          <p:nvPr/>
        </p:nvSpPr>
        <p:spPr>
          <a:xfrm>
            <a:off x="777240" y="4032504"/>
            <a:ext cx="438912" cy="438912"/>
          </a:xfrm>
          <a:prstGeom prst="ellipse">
            <a:avLst/>
          </a:prstGeom>
          <a:solidFill>
            <a:srgbClr val="14B8A6"/>
          </a:solidFill>
          <a:ln/>
        </p:spPr>
      </p:sp>
      <p:sp>
        <p:nvSpPr>
          <p:cNvPr id="20" name="Text 18"/>
          <p:cNvSpPr/>
          <p:nvPr/>
        </p:nvSpPr>
        <p:spPr>
          <a:xfrm>
            <a:off x="777240" y="4032504"/>
            <a:ext cx="438912" cy="438912"/>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4</a:t>
            </a:r>
            <a:endParaRPr lang="en-US" sz="1400" dirty="0"/>
          </a:p>
        </p:txBody>
      </p:sp>
      <p:sp>
        <p:nvSpPr>
          <p:cNvPr id="21" name="Text 19"/>
          <p:cNvSpPr/>
          <p:nvPr/>
        </p:nvSpPr>
        <p:spPr>
          <a:xfrm>
            <a:off x="1417320" y="3922776"/>
            <a:ext cx="9784080" cy="658368"/>
          </a:xfrm>
          <a:prstGeom prst="rect">
            <a:avLst/>
          </a:prstGeom>
          <a:noFill/>
          <a:ln/>
        </p:spPr>
        <p:txBody>
          <a:bodyPr wrap="square" lIns="0" tIns="0" rIns="0" bIns="0" rtlCol="0" anchor="ctr"/>
          <a:lstStyle/>
          <a:p>
            <a:pPr indent="0" marL="0">
              <a:buNone/>
            </a:pPr>
            <a:r>
              <a:rPr lang="en-US" sz="1500" dirty="0">
                <a:solidFill>
                  <a:srgbClr val="EAF1FA"/>
                </a:solidFill>
                <a:latin typeface="Calibri" pitchFamily="34" charset="0"/>
                <a:ea typeface="Calibri" pitchFamily="34" charset="-122"/>
                <a:cs typeface="Calibri" pitchFamily="34" charset="-120"/>
              </a:rPr>
              <a:t>What is a Cartesian Product?</a:t>
            </a:r>
            <a:endParaRPr lang="en-US" sz="1500" dirty="0"/>
          </a:p>
        </p:txBody>
      </p:sp>
      <p:sp>
        <p:nvSpPr>
          <p:cNvPr id="22" name="Shape 20"/>
          <p:cNvSpPr/>
          <p:nvPr/>
        </p:nvSpPr>
        <p:spPr>
          <a:xfrm>
            <a:off x="548640" y="4727448"/>
            <a:ext cx="10881360" cy="658368"/>
          </a:xfrm>
          <a:prstGeom prst="roundRect">
            <a:avLst>
              <a:gd name="adj" fmla="val 11111"/>
            </a:avLst>
          </a:prstGeom>
          <a:solidFill>
            <a:srgbClr val="13315C"/>
          </a:solidFill>
          <a:ln/>
        </p:spPr>
      </p:sp>
      <p:sp>
        <p:nvSpPr>
          <p:cNvPr id="23" name="Shape 21"/>
          <p:cNvSpPr/>
          <p:nvPr/>
        </p:nvSpPr>
        <p:spPr>
          <a:xfrm>
            <a:off x="777240" y="4837176"/>
            <a:ext cx="438912" cy="438912"/>
          </a:xfrm>
          <a:prstGeom prst="ellipse">
            <a:avLst/>
          </a:prstGeom>
          <a:solidFill>
            <a:srgbClr val="14B8A6"/>
          </a:solidFill>
          <a:ln/>
        </p:spPr>
      </p:sp>
      <p:sp>
        <p:nvSpPr>
          <p:cNvPr id="24" name="Text 22"/>
          <p:cNvSpPr/>
          <p:nvPr/>
        </p:nvSpPr>
        <p:spPr>
          <a:xfrm>
            <a:off x="777240" y="4837176"/>
            <a:ext cx="438912" cy="438912"/>
          </a:xfrm>
          <a:prstGeom prst="rect">
            <a:avLst/>
          </a:prstGeom>
          <a:noFill/>
          <a:ln/>
        </p:spPr>
        <p:txBody>
          <a:bodyPr wrap="square" lIns="0" tIns="0" rIns="0" bIns="0" rtlCol="0" anchor="ctr"/>
          <a:lstStyle/>
          <a:p>
            <a:pPr algn="ctr" indent="0" marL="0">
              <a:buNone/>
            </a:pPr>
            <a:r>
              <a:rPr lang="en-US" sz="1400" b="1" dirty="0">
                <a:solidFill>
                  <a:srgbClr val="0B2545"/>
                </a:solidFill>
                <a:latin typeface="Calibri" pitchFamily="34" charset="0"/>
                <a:ea typeface="Calibri" pitchFamily="34" charset="-122"/>
                <a:cs typeface="Calibri" pitchFamily="34" charset="-120"/>
              </a:rPr>
              <a:t>5</a:t>
            </a:r>
            <a:endParaRPr lang="en-US" sz="1400" dirty="0"/>
          </a:p>
        </p:txBody>
      </p:sp>
      <p:sp>
        <p:nvSpPr>
          <p:cNvPr id="25" name="Text 23"/>
          <p:cNvSpPr/>
          <p:nvPr/>
        </p:nvSpPr>
        <p:spPr>
          <a:xfrm>
            <a:off x="1417320" y="4727448"/>
            <a:ext cx="9784080" cy="658368"/>
          </a:xfrm>
          <a:prstGeom prst="rect">
            <a:avLst/>
          </a:prstGeom>
          <a:noFill/>
          <a:ln/>
        </p:spPr>
        <p:txBody>
          <a:bodyPr wrap="square" lIns="0" tIns="0" rIns="0" bIns="0" rtlCol="0" anchor="ctr"/>
          <a:lstStyle/>
          <a:p>
            <a:pPr indent="0" marL="0">
              <a:buNone/>
            </a:pPr>
            <a:r>
              <a:rPr lang="en-US" sz="1500" dirty="0">
                <a:solidFill>
                  <a:srgbClr val="EAF1FA"/>
                </a:solidFill>
                <a:latin typeface="Calibri" pitchFamily="34" charset="0"/>
                <a:ea typeface="Calibri" pitchFamily="34" charset="-122"/>
                <a:cs typeface="Calibri" pitchFamily="34" charset="-120"/>
              </a:rPr>
              <a:t>When would you use CROSS JOIN?</a:t>
            </a:r>
            <a:endParaRPr lang="en-US" sz="1500" dirty="0"/>
          </a:p>
        </p:txBody>
      </p:sp>
      <p:sp>
        <p:nvSpPr>
          <p:cNvPr id="26" name="Shape 24"/>
          <p:cNvSpPr/>
          <p:nvPr/>
        </p:nvSpPr>
        <p:spPr>
          <a:xfrm>
            <a:off x="548640" y="5989320"/>
            <a:ext cx="2926080" cy="0"/>
          </a:xfrm>
          <a:prstGeom prst="line">
            <a:avLst/>
          </a:prstGeom>
          <a:noFill/>
          <a:ln w="25400">
            <a:solidFill>
              <a:srgbClr val="14B8A6"/>
            </a:solidFill>
            <a:prstDash val="solid"/>
          </a:ln>
        </p:spPr>
      </p:sp>
      <p:sp>
        <p:nvSpPr>
          <p:cNvPr id="27" name="Text 25"/>
          <p:cNvSpPr/>
          <p:nvPr/>
        </p:nvSpPr>
        <p:spPr>
          <a:xfrm>
            <a:off x="548640" y="6108192"/>
            <a:ext cx="7315200" cy="320040"/>
          </a:xfrm>
          <a:prstGeom prst="rect">
            <a:avLst/>
          </a:prstGeom>
          <a:noFill/>
          <a:ln/>
        </p:spPr>
        <p:txBody>
          <a:bodyPr wrap="square" lIns="0" tIns="0" rIns="0" bIns="0" rtlCol="0" anchor="ctr"/>
          <a:lstStyle/>
          <a:p>
            <a:pPr indent="0" marL="0">
              <a:buNone/>
            </a:pPr>
            <a:r>
              <a:rPr lang="en-US" sz="1300" b="1" spc="150" kern="0" dirty="0">
                <a:solidFill>
                  <a:srgbClr val="14B8A6"/>
                </a:solidFill>
                <a:latin typeface="Calibri" pitchFamily="34" charset="0"/>
                <a:ea typeface="Calibri" pitchFamily="34" charset="-122"/>
                <a:cs typeface="Calibri" pitchFamily="34" charset="-120"/>
              </a:rPr>
              <a:t>SQL JOINS  →  SUBQUERIES</a:t>
            </a:r>
            <a:endParaRPr lang="en-US" sz="1300" dirty="0"/>
          </a:p>
        </p:txBody>
      </p:sp>
      <p:sp>
        <p:nvSpPr>
          <p:cNvPr id="28" name="Text 26"/>
          <p:cNvSpPr/>
          <p:nvPr/>
        </p:nvSpPr>
        <p:spPr>
          <a:xfrm>
            <a:off x="457200" y="6528816"/>
            <a:ext cx="6400800" cy="274320"/>
          </a:xfrm>
          <a:prstGeom prst="rect">
            <a:avLst/>
          </a:prstGeom>
          <a:noFill/>
          <a:ln/>
        </p:spPr>
        <p:txBody>
          <a:bodyPr wrap="square" rtlCol="0" anchor="ctr"/>
          <a:lstStyle/>
          <a:p>
            <a:pPr algn="l" indent="0" marL="0">
              <a:buNone/>
            </a:pPr>
            <a:r>
              <a:rPr lang="en-US" sz="900" i="1" dirty="0">
                <a:solidFill>
                  <a:srgbClr val="9FB3CE"/>
                </a:solidFill>
                <a:latin typeface="Calibri" pitchFamily="34" charset="0"/>
                <a:ea typeface="Calibri" pitchFamily="34" charset="-122"/>
                <a:cs typeface="Calibri" pitchFamily="34" charset="-120"/>
              </a:rPr>
              <a:t>Shalinee Priya   |   Data Analyst  ·  SQL Trainer</a:t>
            </a:r>
            <a:endParaRPr lang="en-US" sz="900" dirty="0"/>
          </a:p>
        </p:txBody>
      </p:sp>
      <p:sp>
        <p:nvSpPr>
          <p:cNvPr id="29" name="Shape 27"/>
          <p:cNvSpPr/>
          <p:nvPr/>
        </p:nvSpPr>
        <p:spPr>
          <a:xfrm>
            <a:off x="10561320" y="6510528"/>
            <a:ext cx="1170432" cy="292608"/>
          </a:xfrm>
          <a:prstGeom prst="rect">
            <a:avLst>
              <a:gd name="adj" fmla="val 50000"/>
            </a:avLst>
          </a:prstGeom>
          <a:solidFill>
            <a:srgbClr val="13315C"/>
          </a:solidFill>
          <a:ln/>
        </p:spPr>
      </p:sp>
      <p:sp>
        <p:nvSpPr>
          <p:cNvPr id="30" name="Text 28"/>
          <p:cNvSpPr/>
          <p:nvPr/>
        </p:nvSpPr>
        <p:spPr>
          <a:xfrm>
            <a:off x="10561320" y="6510528"/>
            <a:ext cx="11704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10/10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2026-08-20T12:24:29Z</dcterms:created>
  <dcterms:modified xsi:type="dcterms:W3CDTF">2026-08-20T12:24:29Z</dcterms:modified>
</cp:coreProperties>
</file>