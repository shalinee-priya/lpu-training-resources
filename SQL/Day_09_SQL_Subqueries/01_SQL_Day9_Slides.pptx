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160520"/>
            <a:ext cx="2834640" cy="2834640"/>
          </a:xfrm>
          <a:prstGeom prst="ellipse">
            <a:avLst/>
          </a:prstGeom>
          <a:solidFill>
            <a:srgbClr val="14B8A6">
              <a:alpha val="22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8732" y="4160520"/>
            <a:ext cx="2834640" cy="2834640"/>
          </a:xfrm>
          <a:prstGeom prst="ellipse">
            <a:avLst/>
          </a:prstGeom>
          <a:solidFill>
            <a:srgbClr val="3E6094">
              <a:alpha val="22000"/>
            </a:srgbClr>
          </a:solidFill>
          <a:ln w="19050">
            <a:solidFill>
              <a:srgbClr val="3E60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-640080"/>
            <a:ext cx="2377440" cy="2377440"/>
          </a:xfrm>
          <a:prstGeom prst="ellipse">
            <a:avLst/>
          </a:prstGeom>
          <a:solidFill>
            <a:srgbClr val="14B8A6">
              <a:alpha val="18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-640080"/>
            <a:ext cx="2377440" cy="2377440"/>
          </a:xfrm>
          <a:prstGeom prst="ellipse">
            <a:avLst/>
          </a:prstGeom>
          <a:solidFill>
            <a:srgbClr val="3E6094">
              <a:alpha val="18000"/>
            </a:srgbClr>
          </a:solidFill>
          <a:ln w="19050">
            <a:solidFill>
              <a:srgbClr val="3E60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  ·  B.TECH SQL 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FC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Day 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SUBQUERIES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04672" y="3703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Nested Queries 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434840"/>
            <a:ext cx="32918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90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directly from Day 8 : SQL JOINS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Subqueries?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487168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 vs Outer Query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401568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Row Subqueries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4315968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1605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Row Subqueries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230368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230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0749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&amp; NOT 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89320" y="14173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0488" y="1572768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190488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14173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&amp; ALL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89320" y="23317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0488" y="2487168"/>
            <a:ext cx="475488" cy="4754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190488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12280" y="23317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89320" y="32461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90488" y="3401568"/>
            <a:ext cx="475488" cy="475488"/>
          </a:xfrm>
          <a:prstGeom prst="ellipse">
            <a:avLst/>
          </a:prstGeom>
          <a:solidFill>
            <a:srgbClr val="1B3F73"/>
          </a:solidFill>
          <a:ln/>
        </p:spPr>
      </p:sp>
      <p:sp>
        <p:nvSpPr>
          <p:cNvPr id="34" name="Text 32"/>
          <p:cNvSpPr/>
          <p:nvPr/>
        </p:nvSpPr>
        <p:spPr>
          <a:xfrm>
            <a:off x="6190488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32461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vs Subquery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989320" y="41605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90488" y="4315968"/>
            <a:ext cx="475488" cy="475488"/>
          </a:xfrm>
          <a:prstGeom prst="ellipse">
            <a:avLst/>
          </a:prstGeom>
          <a:solidFill>
            <a:srgbClr val="1B3F73"/>
          </a:solidFill>
          <a:ln/>
        </p:spPr>
      </p:sp>
      <p:sp>
        <p:nvSpPr>
          <p:cNvPr id="38" name="Text 36"/>
          <p:cNvSpPr/>
          <p:nvPr/>
        </p:nvSpPr>
        <p:spPr>
          <a:xfrm>
            <a:off x="6190488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41605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Study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989320" y="507492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90488" y="5230368"/>
            <a:ext cx="475488" cy="475488"/>
          </a:xfrm>
          <a:prstGeom prst="ellipse">
            <a:avLst/>
          </a:prstGeom>
          <a:solidFill>
            <a:srgbClr val="1B3F73"/>
          </a:solidFill>
          <a:ln/>
        </p:spPr>
      </p:sp>
      <p:sp>
        <p:nvSpPr>
          <p:cNvPr id="42" name="Text 40"/>
          <p:cNvSpPr/>
          <p:nvPr/>
        </p:nvSpPr>
        <p:spPr>
          <a:xfrm>
            <a:off x="6190488" y="5230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12280" y="507492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Challenge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6" name="Text 44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8 → Day 9 Learning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75104" cy="960120"/>
          </a:xfrm>
          <a:prstGeom prst="roundRect">
            <a:avLst>
              <a:gd name="adj" fmla="val 8571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05456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88336" y="1600200"/>
            <a:ext cx="1975104" cy="960120"/>
          </a:xfrm>
          <a:prstGeom prst="roundRect">
            <a:avLst>
              <a:gd name="adj" fmla="val 8571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61488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45152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28032" y="1600200"/>
            <a:ext cx="1975104" cy="960120"/>
          </a:xfrm>
          <a:prstGeom prst="roundRect">
            <a:avLst>
              <a:gd name="adj" fmla="val 8571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01184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84848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67728" y="1600200"/>
            <a:ext cx="1975104" cy="96012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24544" y="16002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07424" y="1600200"/>
            <a:ext cx="1975104" cy="960120"/>
          </a:xfrm>
          <a:prstGeom prst="roundRect">
            <a:avLst>
              <a:gd name="adj" fmla="val 8571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0576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Decision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717804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10203A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" y="3145536"/>
            <a:ext cx="6665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INSIGHT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419856"/>
            <a:ext cx="66659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combines tables. Subquery uses the result of another query. Both reconnect normalized data — they simply answer different kinds of business questions.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55280" y="301752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11312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11312" y="356616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1540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Concept Notes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1540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SQL_DAY_12_SUBQUERIES_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CONCEPT_NOTES.docx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11312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concept notes as your primary reference for every definition introduced across this deck.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66344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the same 5-table dataset from Day 8 — Customers, Orders, OrderDetails, Products, Suppliers.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Subqueries?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08960" y="14630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products priced above the average product price.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606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AVG(Price)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4800600" cy="1188720"/>
          </a:xfrm>
          <a:prstGeom prst="roundRect">
            <a:avLst>
              <a:gd name="adj" fmla="val 5385"/>
            </a:avLst>
          </a:prstGeom>
          <a:solidFill>
            <a:srgbClr val="1331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83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AVG(price)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₹7,901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number is the inner query's result.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233172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2606040"/>
            <a:ext cx="457200" cy="457200"/>
          </a:xfrm>
          <a:prstGeom prst="ellipse">
            <a:avLst/>
          </a:prstGeom>
          <a:solidFill>
            <a:srgbClr val="1B3F73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product with that value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46520" y="3246120"/>
            <a:ext cx="4937760" cy="365760"/>
          </a:xfrm>
          <a:prstGeom prst="rect">
            <a:avLst/>
          </a:prstGeom>
          <a:solidFill>
            <a:srgbClr val="E4F7F3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24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₹55,000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332720" y="32461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above avg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46520" y="3648456"/>
            <a:ext cx="4937760" cy="365760"/>
          </a:xfrm>
          <a:prstGeom prst="rect">
            <a:avLst/>
          </a:prstGeom>
          <a:solidFill>
            <a:srgbClr val="E4F7F3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648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0" y="36484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332720" y="36484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above avg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46520" y="4050792"/>
            <a:ext cx="4937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050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78240" y="4050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33272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avg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46520" y="4453128"/>
            <a:ext cx="4937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4531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778240" y="44531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332720" y="4453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avg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10203A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4672" y="5385816"/>
            <a:ext cx="10597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TAKEAWAY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" y="5660136"/>
            <a:ext cx="10597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two queries, SQL allows one query inside another.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0" name="Text 38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Subquery?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3840480"/>
          </a:xfrm>
          <a:prstGeom prst="roundRect">
            <a:avLst>
              <a:gd name="adj" fmla="val 2143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655064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B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QUERY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" y="194767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20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Products  WHERE price 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423160"/>
            <a:ext cx="4572000" cy="2606040"/>
          </a:xfrm>
          <a:prstGeom prst="roundRect">
            <a:avLst>
              <a:gd name="adj" fmla="val 2456"/>
            </a:avLst>
          </a:prstGeom>
          <a:solidFill>
            <a:srgbClr val="0B2545"/>
          </a:solidFill>
          <a:ln w="19050">
            <a:solidFill>
              <a:srgbClr val="14B8A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207008" y="2532888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07008" y="2807208"/>
            <a:ext cx="41696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AVG(price)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5029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runs LAST, using the inner result   ·   inner box runs FIRST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1508760"/>
            <a:ext cx="5623560" cy="841248"/>
          </a:xfrm>
          <a:prstGeom prst="roundRect">
            <a:avLst>
              <a:gd name="adj" fmla="val 978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60020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1856232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written inside another SQL query.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2478024"/>
            <a:ext cx="56235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56946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825496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first; its result feeds the outer query.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3447288"/>
            <a:ext cx="56235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353872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QUERY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379476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inner query's result to filter or compute.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4416552"/>
            <a:ext cx="5623560" cy="841248"/>
          </a:xfrm>
          <a:prstGeom prst="roundRect">
            <a:avLst>
              <a:gd name="adj" fmla="val 9783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450799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4764024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Query — same concept, different name.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Row Subqueries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56692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Costliest Product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wants to know the single most expensive item in the catalog.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IDEA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758184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88620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(SELECT MAX(price) FROM Products)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7823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5020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— ₹55,000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15087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508760"/>
            <a:ext cx="3611880" cy="56692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5087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 Product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22402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247802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discount team wants the lowest-priced item to headline a promotion.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35204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IDEA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26280" y="3758184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388620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(SELECT MIN(price) FROM Products)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6280" y="47823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5020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— ₹120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15087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1508760"/>
            <a:ext cx="3611880" cy="56692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15087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Latest Order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1040" y="22402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21040" y="247802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wants to follow up on the most recently placed order.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35204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IDEA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21040" y="3758184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8522208" y="388620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 = (SELECT MAX(order_date) FROM Orders)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21040" y="47823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21040" y="5020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1012 — 05 Feb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SQL_DAY_12_SUBQUERIES_CONCEPT_NOTES.docx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7" name="Text 35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 Row Subqueries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7335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19456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placed orders.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2990088"/>
            <a:ext cx="3209544" cy="1170432"/>
          </a:xfrm>
          <a:prstGeom prst="roundRect">
            <a:avLst>
              <a:gd name="adj" fmla="val 4688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3081528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IN (SELECT customer_id FROM Orders)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1B3F73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167335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44568" y="219456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never placed orders.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44568" y="2990088"/>
            <a:ext cx="3209544" cy="1170432"/>
          </a:xfrm>
          <a:prstGeom prst="roundRect">
            <a:avLst>
              <a:gd name="adj" fmla="val 4688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3081528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NOT IN (SELECT customer_id FROM Orders)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0C7C71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39328" y="167335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39328" y="219456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having at least one order.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39328" y="2990088"/>
            <a:ext cx="3209544" cy="1170432"/>
          </a:xfrm>
          <a:prstGeom prst="roundRect">
            <a:avLst>
              <a:gd name="adj" fmla="val 4688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3081528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EXISTS (SELECT * FROM Orders o WHERE o.customer_id = c.customer_id)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109960" cy="1691640"/>
          </a:xfrm>
          <a:prstGeom prst="roundRect">
            <a:avLst>
              <a:gd name="adj" fmla="val 4865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645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MINIATURE RELATIONSHIP MAP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5074920"/>
            <a:ext cx="777240" cy="7772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897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0" y="507492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91840" y="5897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91640" y="5458968"/>
            <a:ext cx="1965960" cy="0"/>
          </a:xfrm>
          <a:prstGeom prst="line">
            <a:avLst/>
          </a:prstGeom>
          <a:noFill/>
          <a:ln w="25400">
            <a:solidFill>
              <a:srgbClr val="1B3F7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691640" y="5120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= customer_id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502920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NOT IN check membership against a static LIST returned by the inner query. EXISTS checks TRUE/FALSE based on whether the inner query returns any row — usually paired with a correlated inner query (as shown here), though correlation isn't required. Covered fully in the script.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2" name="Text 30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COMPARISON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vs 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CATEGORY PRICES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011680" cy="685800"/>
          </a:xfrm>
          <a:prstGeom prst="roundRect">
            <a:avLst>
              <a:gd name="adj" fmla="val 50667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₹700  (T-Shirt)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2011680"/>
            <a:ext cx="2011680" cy="685800"/>
          </a:xfrm>
          <a:prstGeom prst="roundRect">
            <a:avLst>
              <a:gd name="adj" fmla="val 50667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2011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  (Jeans)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874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Stationery product exists in this dataset (Notebook ₹120), so Clothing — with two distinct prices — is used here to show the real ANY vs ALL divergence.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310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&gt; ANY (700, 1500)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7307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price beats AT LEAST ONE value → same as price &gt; MIN(list) = 700.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15 products qualify — a WIDE net.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1546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&gt; ALL (700, 1500)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37307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if price beats EVERY value → same as price &gt; MAX(list) = 1500.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15 products qualify — a NARROW net.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10203A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5477256"/>
            <a:ext cx="10597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5751576"/>
            <a:ext cx="10597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= At least one.   ALL = Every value.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vs Subquery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competitors with one universally "better" choice — each is natural for a different kind of business question.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49240" cy="54864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7276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1572768"/>
            <a:ext cx="5486400" cy="548640"/>
          </a:xfrm>
          <a:prstGeom prst="roundRect">
            <a:avLst>
              <a:gd name="adj" fmla="val 15000"/>
            </a:avLst>
          </a:prstGeom>
          <a:solidFill>
            <a:srgbClr val="0C7C71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72200" y="15727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619756"/>
            <a:ext cx="292608" cy="292608"/>
          </a:xfrm>
          <a:prstGeom prst="ellipse">
            <a:avLst/>
          </a:prstGeom>
          <a:solidFill>
            <a:srgbClr val="1B3F73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19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377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for combining columns from related tables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707892"/>
            <a:ext cx="292608" cy="292608"/>
          </a:xfrm>
          <a:prstGeom prst="ellipse">
            <a:avLst/>
          </a:prstGeom>
          <a:solidFill>
            <a:srgbClr val="1B3F73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7078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346557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multi-table reports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286000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73368" y="2619756"/>
            <a:ext cx="292608" cy="292608"/>
          </a:xfrm>
          <a:prstGeom prst="ellipse">
            <a:avLst/>
          </a:prstGeom>
          <a:solidFill>
            <a:srgbClr val="0C7C71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2619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93992" y="2377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for filtering/comparison using another query's result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374136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3368" y="3707892"/>
            <a:ext cx="292608" cy="292608"/>
          </a:xfrm>
          <a:prstGeom prst="ellipse">
            <a:avLst/>
          </a:prstGeom>
          <a:solidFill>
            <a:srgbClr val="0C7C71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37078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93992" y="346557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thresholds, membership and existence checks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6451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EXAMPLE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91947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every customer's name alongside their Order ID and order total." → needs columns from both tables.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452628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8095AC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46451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EXAMPLE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91947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customers spent more than the average customer?" → needs a computed threshold, not extra columns.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731520"/>
            <a:ext cx="2560320" cy="2560320"/>
          </a:xfrm>
          <a:prstGeom prst="ellipse">
            <a:avLst/>
          </a:prstGeom>
          <a:solidFill>
            <a:srgbClr val="14B8A6">
              <a:alpha val="18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35056" y="-731520"/>
            <a:ext cx="2560320" cy="2560320"/>
          </a:xfrm>
          <a:prstGeom prst="ellipse">
            <a:avLst/>
          </a:prstGeom>
          <a:solidFill>
            <a:srgbClr val="3E6094">
              <a:alpha val="18000"/>
            </a:srgbClr>
          </a:solidFill>
          <a:ln w="19050">
            <a:solidFill>
              <a:srgbClr val="3E60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Interview Challenge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3315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18488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50876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Subquery?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3315C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423160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313432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Row vs Multi Row — what's the difference?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11810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3315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227832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118104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EXISTS — when would you use each?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92277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3315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032504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922776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vs ALL — how do they differ?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72744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3315C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837176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837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72744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 Subquery — which is better, and when?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SUBQUERIES  →  VIEWS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561320" y="6510528"/>
            <a:ext cx="1170432" cy="292608"/>
          </a:xfrm>
          <a:prstGeom prst="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561320" y="65105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2026-08-20T14:05:31Z</dcterms:created>
  <dcterms:modified xsi:type="dcterms:W3CDTF">2026-08-20T14:05:31Z</dcterms:modified>
</cp:coreProperties>
</file>