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TRAINING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Indexes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MySQL Finds Data Fast — B-Trees, Composite Keys, and the EXPLAIN Plan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>
            <a:off x="9052560" y="4389120"/>
            <a:ext cx="731520" cy="822960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0" y="4389120"/>
            <a:ext cx="731520" cy="822960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476488" y="5212080"/>
            <a:ext cx="576072" cy="795528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0" y="5212080"/>
            <a:ext cx="521208" cy="795528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939528" y="5212080"/>
            <a:ext cx="576072" cy="795528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5212080"/>
            <a:ext cx="521208" cy="795528"/>
          </a:xfrm>
          <a:prstGeom prst="line">
            <a:avLst/>
          </a:prstGeom>
          <a:noFill/>
          <a:ln w="19050">
            <a:solidFill>
              <a:srgbClr val="4C5A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425196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507492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78440" y="507492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5897880"/>
            <a:ext cx="219456" cy="219456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464040" y="5897880"/>
            <a:ext cx="219456" cy="219456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0" y="5897880"/>
            <a:ext cx="219456" cy="219456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7080" y="5897880"/>
            <a:ext cx="219456" cy="219456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B.Tech CSE  ·  MySQL 8+  ·  MySQL Workbench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Journey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JOINs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9464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592B5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52928" y="23774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52928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62656" y="30632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Subqueries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82312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592B5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23774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65776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75504" y="30632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String, Numeric &amp;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Date/Time Functions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592B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78624" y="23774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78624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30632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4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08008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592B5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91472" y="237744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9147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0" y="30632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Indexes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91472" y="40965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module assumed a table could be searched instantly. Today we learn WHY that search is fast — and how to design for it.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691640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indexes exist and how they change row lookup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2295144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reason about a B-Tree structure (conceptually)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898648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Primary, Secondary, Unique, and Composite indexes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3502152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Leftmost Prefix Rule to real composite indexes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7190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6248" y="1691640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inspect, and drop indexes with correct MySQL 8 syntax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2322576"/>
            <a:ext cx="310896" cy="310896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6248" y="2295144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EXPLAIN plan: type, possible_keys, key, rows, Extra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29260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56248" y="2898648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index selectivity, and know when indexing helps vs. hurts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0760" y="3529584"/>
            <a:ext cx="310896" cy="310896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56248" y="3502152"/>
            <a:ext cx="4754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 covering index and common interview traps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Index?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textbook without an index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12264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4056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2377440"/>
            <a:ext cx="502920" cy="2148840"/>
          </a:xfrm>
          <a:prstGeom prst="rect">
            <a:avLst/>
          </a:prstGeom>
          <a:solidFill>
            <a:srgbClr val="CADC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2377440"/>
            <a:ext cx="502920" cy="2148840"/>
          </a:xfrm>
          <a:prstGeom prst="rect">
            <a:avLst/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09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"Normalization"? Flip through every page, one at a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textbook WITH an index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2423160"/>
            <a:ext cx="2286000" cy="2788920"/>
          </a:xfrm>
          <a:prstGeom prst="roundRect">
            <a:avLst>
              <a:gd name="adj" fmla="val 2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606040"/>
            <a:ext cx="1965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Joins ......... pg. 88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Normalization
   pg. 214, 391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 .......... pg. 402
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3566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89720" y="3246120"/>
            <a:ext cx="2148840" cy="128016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pg. 214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8972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the page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83387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8338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a data structure that helps MySQL locate rows faster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doesn't replace the table, it points into it, the way a book's index points into its pages.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Indexes? A Real 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employees table holds 100,000 rows. HR needs to find ONE person by email.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scanned, one by one, until MySQL finds — or rules out — a match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4288536"/>
            <a:ext cx="44439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SELECT * FROM employees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email = '...';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type: ALL   key: NULL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788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examined — MySQL jumps straight to the matching entry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416052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141B47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4288536"/>
            <a:ext cx="444398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idx_email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employees(email);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type: ref   key: idx_email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VISUALIZED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Scan vs. Index Lookup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SCAN  (type = ALL)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C9922A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2103120"/>
            <a:ext cx="566928" cy="365760"/>
          </a:xfrm>
          <a:prstGeom prst="roundRect">
            <a:avLst>
              <a:gd name="adj" fmla="val 10000"/>
            </a:avLst>
          </a:prstGeom>
          <a:solidFill>
            <a:srgbClr val="E9EFFC"/>
          </a:solidFill>
          <a:ln w="12700">
            <a:solidFill>
              <a:srgbClr val="D9E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06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checks every row left-to-right, even after it finds the match, unless it can stop early.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127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LOOKUP  (type = ref / const)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H="1">
            <a:off x="4416552" y="3721608"/>
            <a:ext cx="1298448" cy="667512"/>
          </a:xfrm>
          <a:prstGeom prst="line">
            <a:avLst/>
          </a:prstGeom>
          <a:noFill/>
          <a:ln w="25400">
            <a:solidFill>
              <a:srgbClr val="B9C4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3721608"/>
            <a:ext cx="1261872" cy="667512"/>
          </a:xfrm>
          <a:prstGeom prst="line">
            <a:avLst/>
          </a:prstGeom>
          <a:noFill/>
          <a:ln w="25400">
            <a:solidFill>
              <a:srgbClr val="B9C4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76872" y="4389120"/>
            <a:ext cx="0" cy="685800"/>
          </a:xfrm>
          <a:prstGeom prst="line">
            <a:avLst/>
          </a:prstGeom>
          <a:noFill/>
          <a:ln w="25400">
            <a:solidFill>
              <a:srgbClr val="B9C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76872" y="5074920"/>
            <a:ext cx="0" cy="393192"/>
          </a:xfrm>
          <a:prstGeom prst="line">
            <a:avLst/>
          </a:prstGeom>
          <a:noFill/>
          <a:ln w="22225">
            <a:solidFill>
              <a:srgbClr val="C9922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86400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206240" y="4178808"/>
            <a:ext cx="420624" cy="42062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66560" y="4178808"/>
            <a:ext cx="420624" cy="420624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B*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4864608"/>
            <a:ext cx="420624" cy="420624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L*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76288" y="5367528"/>
            <a:ext cx="201168" cy="201168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36" name="Text 34"/>
          <p:cNvSpPr/>
          <p:nvPr/>
        </p:nvSpPr>
        <p:spPr>
          <a:xfrm>
            <a:off x="6876288" y="5367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0" y="5321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38160" y="4160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compares against a handful of sorted nodes — root, branch, leaf — and lands on the exact row.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tables make this gap WIDER, not narrower — indexing matters more, not less, as data grows.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VISUAL ONLY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Indexes Work: The B-Tree (Concept)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MySQL's InnoDB engine stores most indexes as a B-Tree — a sorted, layered structure built for fast lookup AND fast range scans. We will not implement one; we only need the shape.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 flipH="1">
            <a:off x="2971800" y="2743200"/>
            <a:ext cx="2834640" cy="1005840"/>
          </a:xfrm>
          <a:prstGeom prst="line">
            <a:avLst/>
          </a:prstGeom>
          <a:noFill/>
          <a:ln w="22225">
            <a:solidFill>
              <a:srgbClr val="AFC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5486400" y="2743200"/>
            <a:ext cx="320040" cy="1005840"/>
          </a:xfrm>
          <a:prstGeom prst="line">
            <a:avLst/>
          </a:prstGeom>
          <a:noFill/>
          <a:ln w="22225">
            <a:solidFill>
              <a:srgbClr val="AFC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2743200"/>
            <a:ext cx="2194560" cy="1005840"/>
          </a:xfrm>
          <a:prstGeom prst="line">
            <a:avLst/>
          </a:prstGeom>
          <a:noFill/>
          <a:ln w="22225">
            <a:solidFill>
              <a:srgbClr val="AFC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240280" y="3749040"/>
            <a:ext cx="73152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749040"/>
            <a:ext cx="45720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846320" y="3749040"/>
            <a:ext cx="64008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3749040"/>
            <a:ext cx="64008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7543800" y="3749040"/>
            <a:ext cx="45720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3749040"/>
            <a:ext cx="731520" cy="1033272"/>
          </a:xfrm>
          <a:prstGeom prst="line">
            <a:avLst/>
          </a:prstGeom>
          <a:noFill/>
          <a:ln w="19050">
            <a:solidFill>
              <a:srgbClr val="AFC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42900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4632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2648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54380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732520" y="4782312"/>
            <a:ext cx="0" cy="795528"/>
          </a:xfrm>
          <a:prstGeom prst="line">
            <a:avLst/>
          </a:prstGeom>
          <a:noFill/>
          <a:ln w="19050">
            <a:solidFill>
              <a:srgbClr val="C9922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97480" y="3474720"/>
            <a:ext cx="548640" cy="548640"/>
          </a:xfrm>
          <a:prstGeom prst="ellipse">
            <a:avLst/>
          </a:prstGeom>
          <a:solidFill>
            <a:srgbClr val="44529A"/>
          </a:solidFill>
          <a:ln/>
        </p:spPr>
      </p:sp>
      <p:sp>
        <p:nvSpPr>
          <p:cNvPr id="23" name="Text 21"/>
          <p:cNvSpPr/>
          <p:nvPr/>
        </p:nvSpPr>
        <p:spPr>
          <a:xfrm>
            <a:off x="26974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3474720"/>
            <a:ext cx="548640" cy="548640"/>
          </a:xfrm>
          <a:prstGeom prst="ellipse">
            <a:avLst/>
          </a:prstGeom>
          <a:solidFill>
            <a:srgbClr val="44529A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3474720"/>
            <a:ext cx="548640" cy="548640"/>
          </a:xfrm>
          <a:prstGeom prst="ellipse">
            <a:avLst/>
          </a:prstGeom>
          <a:solidFill>
            <a:srgbClr val="44529A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8424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29" name="Text 27"/>
          <p:cNvSpPr/>
          <p:nvPr/>
        </p:nvSpPr>
        <p:spPr>
          <a:xfrm>
            <a:off x="198424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1" name="Text 29"/>
          <p:cNvSpPr/>
          <p:nvPr/>
        </p:nvSpPr>
        <p:spPr>
          <a:xfrm>
            <a:off x="317296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9028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3" name="Text 31"/>
          <p:cNvSpPr/>
          <p:nvPr/>
        </p:nvSpPr>
        <p:spPr>
          <a:xfrm>
            <a:off x="459028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7044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5" name="Text 33"/>
          <p:cNvSpPr/>
          <p:nvPr/>
        </p:nvSpPr>
        <p:spPr>
          <a:xfrm>
            <a:off x="587044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8776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7" name="Text 35"/>
          <p:cNvSpPr/>
          <p:nvPr/>
        </p:nvSpPr>
        <p:spPr>
          <a:xfrm>
            <a:off x="728776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76488" y="4526280"/>
            <a:ext cx="512064" cy="512064"/>
          </a:xfrm>
          <a:prstGeom prst="ellipse">
            <a:avLst/>
          </a:prstGeom>
          <a:solidFill>
            <a:srgbClr val="6B7BC4"/>
          </a:solidFill>
          <a:ln/>
        </p:spPr>
      </p:sp>
      <p:sp>
        <p:nvSpPr>
          <p:cNvPr id="39" name="Text 37"/>
          <p:cNvSpPr/>
          <p:nvPr/>
        </p:nvSpPr>
        <p:spPr>
          <a:xfrm>
            <a:off x="8476488" y="4526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0312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41" name="Text 39"/>
          <p:cNvSpPr/>
          <p:nvPr/>
        </p:nvSpPr>
        <p:spPr>
          <a:xfrm>
            <a:off x="21031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9184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8932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47" name="Text 45"/>
          <p:cNvSpPr/>
          <p:nvPr/>
        </p:nvSpPr>
        <p:spPr>
          <a:xfrm>
            <a:off x="5989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49" name="Text 47"/>
          <p:cNvSpPr/>
          <p:nvPr/>
        </p:nvSpPr>
        <p:spPr>
          <a:xfrm>
            <a:off x="74066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95360" y="5440680"/>
            <a:ext cx="274320" cy="27432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51" name="Text 49"/>
          <p:cNvSpPr/>
          <p:nvPr/>
        </p:nvSpPr>
        <p:spPr>
          <a:xfrm>
            <a:off x="8595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06040" y="58247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Pointer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281160" y="2286000"/>
            <a:ext cx="2331720" cy="4023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464040" y="2542032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55" name="Text 53"/>
          <p:cNvSpPr/>
          <p:nvPr/>
        </p:nvSpPr>
        <p:spPr>
          <a:xfrm>
            <a:off x="9646920" y="2414016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structure — every level is kept in order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464040" y="3803904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57" name="Text 55"/>
          <p:cNvSpPr/>
          <p:nvPr/>
        </p:nvSpPr>
        <p:spPr>
          <a:xfrm>
            <a:off x="9646920" y="367588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skips whole branches instead of checking each row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464040" y="5065776"/>
            <a:ext cx="91440" cy="91440"/>
          </a:xfrm>
          <a:prstGeom prst="ellipse">
            <a:avLst/>
          </a:prstGeom>
          <a:solidFill>
            <a:srgbClr val="C9922A"/>
          </a:solidFill>
          <a:ln/>
        </p:spPr>
      </p:sp>
      <p:sp>
        <p:nvSpPr>
          <p:cNvPr id="59" name="Text 57"/>
          <p:cNvSpPr/>
          <p:nvPr/>
        </p:nvSpPr>
        <p:spPr>
          <a:xfrm>
            <a:off x="9646920" y="49377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queries (&gt;, &lt;, BETWEEN) are supported directly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builds a primary index the moment you declare PRIMARY KEY.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rows may share a value; duplicates are rejected outright.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Not-null: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column can never store NULL.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lookup: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organized around this key, so matching by it is as quick as MySQL gets.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5486400" cy="1280160"/>
          </a:xfrm>
          <a:prstGeom prst="roundRect">
            <a:avLst>
              <a:gd name="adj" fmla="val 4286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5202936"/>
            <a:ext cx="50840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employees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INT AUTO_INCREMENT PRIMARY KEY,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69164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— Primary Key Lookup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2331720"/>
            <a:ext cx="4663440" cy="1051560"/>
          </a:xfrm>
          <a:prstGeom prst="roundRect">
            <a:avLst>
              <a:gd name="adj" fmla="val 5217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2459736"/>
            <a:ext cx="42611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SELECT * FROM employees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emp_id = 50000;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361188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404164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47888" y="361188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47888" y="404164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20656" y="361188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820656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20656" y="4041648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0656" y="4041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7091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"const" — MySQL knows there can be at most ONE matching row before it even runs the query.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index OTHER than the primary key. A separate structure that points back to the primary key to fetch the full 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68296"/>
            <a:ext cx="50840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idx_department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employees(department);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idx_city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employees(city);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  idx_&lt;column&gt;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names make a schema self-documenting — anyone reading idx_department instantly knows what it covers.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2402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INDEX  vs  SECONDARY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525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3218688"/>
            <a:ext cx="470916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table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5256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424160" y="3291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allowed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29400" y="3785616"/>
            <a:ext cx="470916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8587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storage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0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physical order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424160" y="3858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structure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29400" y="4352544"/>
            <a:ext cx="470916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4256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52560" y="44256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unique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424160" y="44256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4919472"/>
            <a:ext cx="4709160" cy="0"/>
          </a:xfrm>
          <a:prstGeom prst="line">
            <a:avLst/>
          </a:prstGeom>
          <a:noFill/>
          <a:ln w="12700">
            <a:solidFill>
              <a:srgbClr val="E3E9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9926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52560" y="49926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424160" y="49926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65376"/>
            <a:ext cx="490118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idx_email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employees(email);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enforced: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rejects an INSERT/UPDATE that would create a duplicate value.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PRIMARY KEY: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can have many unique indexes, but only one primary key.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fit: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a perfect candidate — the business rule already says it must be unique.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index vs. Unique index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377440"/>
            <a:ext cx="4800600" cy="1691640"/>
          </a:xfrm>
          <a:prstGeom prst="roundRect">
            <a:avLst>
              <a:gd name="adj" fmla="val 432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INDEX on email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283464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5A2830"/>
          </a:solidFill>
          <a:ln/>
        </p:spPr>
      </p:sp>
      <p:sp>
        <p:nvSpPr>
          <p:cNvPr id="12" name="Text 10"/>
          <p:cNvSpPr/>
          <p:nvPr/>
        </p:nvSpPr>
        <p:spPr>
          <a:xfrm>
            <a:off x="6922008" y="2962656"/>
            <a:ext cx="4032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... VALUES ('a@x.com', ...);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... VALUES ('a@x.com', ...);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both SUCCEED (duplicate allowed)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420624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on email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4663440"/>
            <a:ext cx="4434840" cy="1188720"/>
          </a:xfrm>
          <a:prstGeom prst="roundRect">
            <a:avLst>
              <a:gd name="adj" fmla="val 4615"/>
            </a:avLst>
          </a:prstGeom>
          <a:solidFill>
            <a:srgbClr val="0F4638"/>
          </a:solidFill>
          <a:ln/>
        </p:spPr>
      </p:sp>
      <p:sp>
        <p:nvSpPr>
          <p:cNvPr id="16" name="Text 14"/>
          <p:cNvSpPr/>
          <p:nvPr/>
        </p:nvSpPr>
        <p:spPr>
          <a:xfrm>
            <a:off x="6922008" y="4791456"/>
            <a:ext cx="40325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... VALUES ('a@x.com', ...);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... VALUES ('a@x.com', ...);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 1062: Duplicate entry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'a@x.com' for key 'idx_email'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index built across MULTIPLE columns — for queries that filter on more than one column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41B4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505456"/>
            <a:ext cx="4901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idx_dept_salary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employees(department, salary);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order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index is sorted by its FIRST column, then by its second column within each first-column group — exactly like a phone book sorted by (Last Name, First Name).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(department, salary)  ✓ correct 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0F4638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2368296"/>
            <a:ext cx="4489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salary &gt; 130000;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key = idx_dept_salary  (range)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(salary, department)  same columns, reversed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4343400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5A2830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4471416"/>
            <a:ext cx="4489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salary not filtered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leading column mismatch: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this index is NOT chosen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MUST-KNOW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Leftmost Prefix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1066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idx_dept_city_salary ON employees(department, city, salary);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index only helps a query that filters starting from its LEFTMOST column — skip that column, and the index is invisible to the optimizer.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475488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175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filters 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0175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idx_dept_city_salary?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930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3602736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34930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leftmost column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684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+ city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4078224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396849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leftmost 2 columns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4398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+ city + salary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4553712"/>
            <a:ext cx="256032" cy="256032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4439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full index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19472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1947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only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0" y="5029200"/>
            <a:ext cx="256032" cy="256032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491947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skips leftmost column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9496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only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0" y="5504688"/>
            <a:ext cx="256032" cy="256032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504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53949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skips leftmost column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70448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87044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+ salary (no department)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0" y="5980176"/>
            <a:ext cx="256032" cy="256032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980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587044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leftmost column missing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INDEX — Syntax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Single-Column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459736"/>
            <a:ext cx="2706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idx_department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employees(department);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901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3317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2459736"/>
            <a:ext cx="2706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idx_dept_salary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employees(department, salary);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9019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23317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141B47"/>
          </a:solidFill>
          <a:ln/>
        </p:spPr>
      </p:sp>
      <p:sp>
        <p:nvSpPr>
          <p:cNvPr id="15" name="Text 13"/>
          <p:cNvSpPr/>
          <p:nvPr/>
        </p:nvSpPr>
        <p:spPr>
          <a:xfrm>
            <a:off x="8476488" y="2459736"/>
            <a:ext cx="2706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idx_email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employees(email);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Standards Used Throughout This Module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63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idx_department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4663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column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755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idx_email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26080" y="51755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column, unique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68756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687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idx_dept_salary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26080" y="56875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— column order = filter priority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19656"/>
            <a:ext cx="48097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INDEX FROM employees;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Key_name: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index's name — what you'd pass to DROP INDEX.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Column_name: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this row of output describes.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Seq_in_index: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column's position inside a composite index (1 = leftmost).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Non_unique: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means unique (or PRIMARY); 1 means duplicates are allowed.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</a:t>
            </a:r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MySQL's ESTIMATE of distinct values — feeds directly into Selectivity.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INDEX FROM employees;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1600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23317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Column_name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281160" y="2331720"/>
            <a:ext cx="5486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829800" y="233172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2331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Non_uniq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07040" y="2331720"/>
            <a:ext cx="777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7040" y="2331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2697480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697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63840" y="2697480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697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81160" y="2697480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26974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800" y="269748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29800" y="2697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07040" y="2697480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0" y="2697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3081528"/>
            <a:ext cx="160020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0815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idx_email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63840" y="3081528"/>
            <a:ext cx="141732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3081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281160" y="3081528"/>
            <a:ext cx="5486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30815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29800" y="3081528"/>
            <a:ext cx="7772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9800" y="3081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607040" y="3081528"/>
            <a:ext cx="7772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0" y="3081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~100k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3465576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46557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idx_department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3465576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34655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281160" y="3465576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81160" y="3465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29800" y="346557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9800" y="34655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607040" y="346557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07040" y="34655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3849624"/>
            <a:ext cx="160020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8496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idx_dept_salary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63840" y="3849624"/>
            <a:ext cx="141732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38496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281160" y="3849624"/>
            <a:ext cx="5486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38496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829800" y="3849624"/>
            <a:ext cx="7772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29800" y="38496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607040" y="3849624"/>
            <a:ext cx="777240" cy="384048"/>
          </a:xfrm>
          <a:prstGeom prst="rect">
            <a:avLst/>
          </a:prstGeom>
          <a:solidFill>
            <a:srgbClr val="E9EFFC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607040" y="38496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423367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2336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idx_dept_salary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863840" y="4233672"/>
            <a:ext cx="1417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4233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281160" y="4233672"/>
            <a:ext cx="548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81160" y="42336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29800" y="423367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29800" y="42336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607040" y="4233672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9F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07040" y="42336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C4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~8k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63640" y="4846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Seq_in_index = 1 then 2 on idx_dept_salary shows department is the leftmost column, salary the second.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65376"/>
            <a:ext cx="5084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INDEX idx_department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employees;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INDEX index_name ON table_name; — the index name, not the column name.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 EXISTS: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has no "DROP INDEX IF EXISTS" or "CREATE INDEX IF NOT EXISTS".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Rerunnable scripts: </a:t>
            </a:r>
            <a:pPr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database fresh (DROP DATABASE IF EXISTS ... ) so every CREATE INDEX always starts from a clean slate.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Training Scripts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29400" y="2468880"/>
            <a:ext cx="4754880" cy="3566160"/>
          </a:xfrm>
          <a:prstGeom prst="roundRect">
            <a:avLst>
              <a:gd name="adj" fmla="val 1538"/>
            </a:avLst>
          </a:prstGeom>
          <a:solidFill>
            <a:srgbClr val="141B47"/>
          </a:solidFill>
          <a:ln/>
        </p:spPr>
      </p:sp>
      <p:sp>
        <p:nvSpPr>
          <p:cNvPr id="10" name="Text 8"/>
          <p:cNvSpPr/>
          <p:nvPr/>
        </p:nvSpPr>
        <p:spPr>
          <a:xfrm>
            <a:off x="6830568" y="2596896"/>
            <a:ext cx="435254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This script's actual pattern: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DATABASE IF EXISTS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hr_analytics_day12;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03_SQL_Day12_Dataset.sql;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hr_analytics_day12;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CREATE INDEX below now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runs against a guaranteed-clean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table, every single time.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EXPLAIN: Reading the Query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method. system/const &gt; eq_ref &gt; ref &gt; range &gt; index &gt; ALL. "ALL" = full scan.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037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037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possible_keys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203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MySQL COULD have used for this query.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15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7157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MySQL actually chose. NULL means no index was used.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27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2278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MySQL's ESTIMATE of how many rows it must examine.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39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7398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detail — e.g. "Using filesort" (expensive sort) or "Using index" (covering).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 — same query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 WHERE department='IT'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592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hire_date DESC LIMIT 20;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74320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2834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idx_dept_hire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0" y="31272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idx_dept_city_salary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AE3B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Extra: Using filesort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CREATE INDEX idx_dept_hire(department, hire_date)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6451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idx_dept_hire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8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Extra: Backward index scan (no filesort)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well-built composite index can remove an expensive SORT step, not just a WHERE scan.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INTERVIEW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Selectivity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Selectivity = DISTINCT values ÷ TOTAL rows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1.0 → excellent index candidate.  Closer to 0.0 → poor candidate on its own.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"department alone: poor. department AS THE LEADING COLUMN of a composite index: often great." Selectivity judges a STANDALONE column — context changes the verdict.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E3F3EF"/>
          </a:solidFill>
          <a:ln w="12700">
            <a:solidFill>
              <a:srgbClr val="1F8A7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764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/ 100,000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0" y="16916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0" y="1691640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2862072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BF1DF"/>
          </a:solidFill>
          <a:ln w="12700">
            <a:solidFill>
              <a:srgbClr val="C9922A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935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319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1,045 / 100,000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21040" y="2862072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0.01045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0" y="2862072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032504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7E7E8"/>
          </a:solidFill>
          <a:ln w="12700">
            <a:solidFill>
              <a:srgbClr val="AE3B4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4105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44897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100,000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4032504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0" y="4032504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alone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35040" y="5202936"/>
            <a:ext cx="5577840" cy="1024128"/>
          </a:xfrm>
          <a:prstGeom prst="roundRect">
            <a:avLst>
              <a:gd name="adj" fmla="val 7143"/>
            </a:avLst>
          </a:prstGeom>
          <a:solidFill>
            <a:srgbClr val="F7E7E8"/>
          </a:solidFill>
          <a:ln w="12700">
            <a:solidFill>
              <a:srgbClr val="AE3B4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5276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5660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100,000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5202936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8400" y="5202936"/>
            <a:ext cx="1463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alone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Indexes Help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3852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9572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by an indexed column skips rows that can't match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73736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93852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46904" y="19202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62272" y="239572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the join column avoids scanning the other table repeatedly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73568" y="173736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93852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59368" y="192024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4736" y="239572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already sorted the way you need removes a filesort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6576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13308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on an indexed column can scan the index, not the 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61104" y="347472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67588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6904" y="36576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Search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62272" y="413308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B-Trees walk sorted ranges directly (salary &gt; 130000, BETWEEN dates)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73568" y="3474720"/>
            <a:ext cx="3529584" cy="1508760"/>
          </a:xfrm>
          <a:prstGeom prst="roundRect">
            <a:avLst>
              <a:gd name="adj" fmla="val 4848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74736" y="3675888"/>
            <a:ext cx="365760" cy="36576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31" name="Text 29"/>
          <p:cNvSpPr/>
          <p:nvPr/>
        </p:nvSpPr>
        <p:spPr>
          <a:xfrm>
            <a:off x="817473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59368" y="365760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Lookup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74736" y="4133088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= 50000 resolves in a single, near-instant lookup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 · VERY IMPORTANT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E3B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Indexes Hurt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365760" cy="365760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5623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Slower INSERT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row must also update each index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1104" y="169164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874520"/>
            <a:ext cx="365760" cy="365760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11" name="Text 9"/>
          <p:cNvSpPr/>
          <p:nvPr/>
        </p:nvSpPr>
        <p:spPr>
          <a:xfrm>
            <a:off x="446227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46904" y="185623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Slower UPDATE / DELETE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62272" y="23134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columns re-sort the index structure on change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691640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74736" y="1874520"/>
            <a:ext cx="365760" cy="365760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7473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59368" y="185623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storage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74736" y="231343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is additional disk space, sometimes as large as the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91256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374136"/>
            <a:ext cx="365760" cy="365760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3558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indexes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3813048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adds write overhead — indexing is a budget, not a checklist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61104" y="3191256"/>
            <a:ext cx="3529584" cy="1298448"/>
          </a:xfrm>
          <a:prstGeom prst="roundRect">
            <a:avLst>
              <a:gd name="adj" fmla="val 5634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3374136"/>
            <a:ext cx="365760" cy="365760"/>
          </a:xfrm>
          <a:prstGeom prst="ellipse">
            <a:avLst/>
          </a:prstGeom>
          <a:solidFill>
            <a:srgbClr val="AE3B46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46904" y="335584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Low-selectivity columns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62272" y="3813048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index on department barely narrows the 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760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absolute: an index is a trade-off between faster reads and slower writes — never assume it is a free upgrade.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 · INTERVIEW AWARENESS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Covering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is "covered" when every column it needs — filtered AND selected — already lives inside the index. MySQL never has to open the actual table 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3F3EF"/>
          </a:solidFill>
          <a:ln w="12700">
            <a:solidFill>
              <a:srgbClr val="BCE3D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 →  Extra: Using index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800600" cy="1463040"/>
          </a:xfrm>
          <a:prstGeom prst="roundRect">
            <a:avLst>
              <a:gd name="adj" fmla="val 3750"/>
            </a:avLst>
          </a:prstGeom>
          <a:solidFill>
            <a:srgbClr val="0F4638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962656"/>
            <a:ext cx="439826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idx_dept_salary(department, salary)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salary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department='IT'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EE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salary &gt; 100000;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salary both live inside idx_dept_salary — MySQL answers entirely from the index.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7E7E8"/>
          </a:solidFill>
          <a:ln w="12700">
            <a:solidFill>
              <a:srgbClr val="E7C6C9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468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 →  row lookup still needed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834640"/>
            <a:ext cx="4937760" cy="1463040"/>
          </a:xfrm>
          <a:prstGeom prst="roundRect">
            <a:avLst>
              <a:gd name="adj" fmla="val 3750"/>
            </a:avLst>
          </a:prstGeom>
          <a:solidFill>
            <a:srgbClr val="5A2830"/>
          </a:solidFill>
          <a:ln/>
        </p:spPr>
      </p:sp>
      <p:sp>
        <p:nvSpPr>
          <p:cNvPr id="13" name="Text 11"/>
          <p:cNvSpPr/>
          <p:nvPr/>
        </p:nvSpPr>
        <p:spPr>
          <a:xfrm>
            <a:off x="6601968" y="2962656"/>
            <a:ext cx="45354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same index, extra column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emp_id, first_name,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department, salary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department='IT'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D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salary &gt; 100000;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 is NOT in idx_dept_salary — MySQL must still fetch the full row for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Optimization: HR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75488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06640" y="16916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Applied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671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employee by 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224028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22402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idx_email (UNIQUE)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4261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271576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2715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idx_department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1810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+ Salary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3191256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31912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idx_dept_salary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93592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935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hire 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3666744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36667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idx_hire_date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06908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a city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06640" y="4142232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41422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idx_city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544568"/>
            <a:ext cx="11064240" cy="475488"/>
          </a:xfrm>
          <a:prstGeom prst="rect">
            <a:avLst/>
          </a:prstGeom>
          <a:solidFill>
            <a:srgbClr val="E9EFFC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54456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hires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46177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46177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idx_hire_date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020056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2005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salary employees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5093208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50932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idx_salary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23 · INTERVIEW TRAPS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or False?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9222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“Primary Key and Index are the same thing.”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4871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871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92224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“More indexes always improve performance.”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4871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871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735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composite index works regardless of column order.”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96849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68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12724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273552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“Indexes speed up INSERT statements.”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96849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9684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7548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WHERE clause automatically uses an index.”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544982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49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6085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475488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“Gender-like columns are great index candidates.”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544982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7E7E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4498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E3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FALSE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44529A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55848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93008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F8A70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163056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0216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70264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C9922A"/>
          </a:solidFill>
          <a:ln w="12700">
            <a:solidFill>
              <a:srgbClr val="D9E1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70264" y="2148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970264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07424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Challenge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45 questions are unsolved by design — work through Guided Practice with your instructor, then complete the rest independently before the next session.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is a sorted structure that lets MySQL skip rows, not scan them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= automatic, unique index that defines row storage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8712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/ UNIQUE / COMPOSITE indexes are created deliberately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381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Leftmost Prefix Rule governs whether a composite index applies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755648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INDEX and DROP INDEX are everyday maintenance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2322576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230428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proves what actually happens — never assume, verify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2889504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8712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tells you, mathematically, if a column is worth indexing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3456432"/>
            <a:ext cx="292608" cy="29260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4381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index trades faster reads for slower writes and more 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Fast Reads to Safe Writes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made your queries fast. The next layer of professional MySQL is keeping data correct when many users write to it at once — transactions, COMMIT / ROLLBACK, and integrity under concurrent access.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41B47"/>
          </a:solidFill>
          <a:ln w="12700">
            <a:solidFill>
              <a:srgbClr val="141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Independent Practice + Business Problems from today, and be ready to justify every index you created with an EXPLAIN plan.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 ·  SQL INDEXES  ·  END OF 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12 - SQL Indexes</dc:title>
  <dc:subject>PptxGenJS Presentation</dc:subject>
  <dc:creator>SQL Training Program</dc:creator>
  <cp:lastModifiedBy>SQL Training Program</cp:lastModifiedBy>
  <cp:revision>1</cp:revision>
  <dcterms:created xsi:type="dcterms:W3CDTF">2026-08-20T19:21:37Z</dcterms:created>
  <dcterms:modified xsi:type="dcterms:W3CDTF">2026-08-20T19:21:37Z</dcterms:modified>
</cp:coreProperties>
</file>