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1430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88536" cy="6858000"/>
          </a:xfrm>
          <a:prstGeom prst="rect">
            <a:avLst/>
          </a:prstGeom>
          <a:solidFill>
            <a:srgbClr val="1F41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640080"/>
            <a:ext cx="2377440" cy="2377440"/>
          </a:xfrm>
          <a:prstGeom prst="ellipse">
            <a:avLst/>
          </a:prstGeom>
          <a:noFill/>
          <a:ln w="15875">
            <a:solidFill>
              <a:srgbClr val="3A93C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" y="3063240"/>
            <a:ext cx="1554480" cy="1554480"/>
          </a:xfrm>
          <a:prstGeom prst="ellipse">
            <a:avLst/>
          </a:prstGeom>
          <a:noFill/>
          <a:ln w="15875">
            <a:solidFill>
              <a:srgbClr val="3A93C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48840" y="4160520"/>
            <a:ext cx="1920240" cy="1920240"/>
          </a:xfrm>
          <a:prstGeom prst="ellipse">
            <a:avLst/>
          </a:prstGeom>
          <a:noFill/>
          <a:ln w="15875">
            <a:solidFill>
              <a:srgbClr val="3A93C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00584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82296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310896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66160" y="274320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539496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43200" y="621792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63040" y="585216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49039" y="457200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822960" y="1051560"/>
            <a:ext cx="1005840" cy="2103119"/>
          </a:xfrm>
          <a:prstGeom prst="line">
            <a:avLst/>
          </a:prstGeom>
          <a:ln w="15875">
            <a:solidFill>
              <a:srgbClr val="3A9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28800" y="2788920"/>
            <a:ext cx="1783080" cy="365759"/>
          </a:xfrm>
          <a:prstGeom prst="line">
            <a:avLst/>
          </a:prstGeom>
          <a:ln w="15875">
            <a:solidFill>
              <a:srgbClr val="3A9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08760" y="5897880"/>
            <a:ext cx="1280160" cy="365760"/>
          </a:xfrm>
          <a:prstGeom prst="line">
            <a:avLst/>
          </a:prstGeom>
          <a:ln w="15875">
            <a:solidFill>
              <a:srgbClr val="3A9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37560" y="868680"/>
            <a:ext cx="274319" cy="1920240"/>
          </a:xfrm>
          <a:prstGeom prst="line">
            <a:avLst/>
          </a:prstGeom>
          <a:ln w="15875">
            <a:solidFill>
              <a:srgbClr val="3A9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0" y="3063240"/>
            <a:ext cx="428853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286000"/>
            <a:ext cx="5852160" cy="16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2C2926"/>
                </a:solidFill>
                <a:latin typeface="Arial"/>
              </a:rPr>
              <a:t>SQL Day 7: Database Normalization (1NF, 2NF &amp; 3NF)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0690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4A4640"/>
                </a:solidFill>
                <a:latin typeface="Arial"/>
              </a:rPr>
              <a:t>Structured Query Language · B.Tech SQL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D6D6D5"/>
                </a:solidFill>
                <a:latin typeface="Arial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407950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40795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2C2926"/>
                </a:solidFill>
                <a:latin typeface="Arial"/>
              </a:rPr>
              <a:t>What We'll Cover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240279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04288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Why Normalization?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06624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980943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044952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Data Redundancy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47288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721607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785616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Database Anomalies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87952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462271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26280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First Normal Form (1NF)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28616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202935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266944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Second Normal Form (2NF)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965960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2240279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2304288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Third Normal Form (3NF)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706624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980943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3044952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UNF → 3NF Transformation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447288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3721607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3785616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E-commerce Case Study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187952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4462271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4526280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Interview 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160300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1603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DAY 6 → DAY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2C2926"/>
                </a:solidFill>
                <a:latin typeface="Arial"/>
              </a:rPr>
              <a:t>From ER Models to Clean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Design isn't finished at the ER diagram — now we refine the tables themselves.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965960"/>
            <a:ext cx="5852160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1965960"/>
            <a:ext cx="5852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2C2926"/>
                </a:solidFill>
                <a:latin typeface="Arial"/>
              </a:rPr>
              <a:t>Business Requirement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5641848" y="2456307"/>
            <a:ext cx="146304" cy="109728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88920" y="2617470"/>
            <a:ext cx="5852160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617470"/>
            <a:ext cx="5852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2C2926"/>
                </a:solidFill>
                <a:latin typeface="Arial"/>
              </a:rPr>
              <a:t>ER Model</a:t>
            </a:r>
          </a:p>
        </p:txBody>
      </p:sp>
      <p:sp>
        <p:nvSpPr>
          <p:cNvPr id="11" name="Isosceles Triangle 10"/>
          <p:cNvSpPr/>
          <p:nvPr/>
        </p:nvSpPr>
        <p:spPr>
          <a:xfrm rot="10800000">
            <a:off x="5641848" y="3107817"/>
            <a:ext cx="146304" cy="109728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3268980"/>
            <a:ext cx="5852160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3268980"/>
            <a:ext cx="5852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2C2926"/>
                </a:solidFill>
                <a:latin typeface="Arial"/>
              </a:rPr>
              <a:t>Relational Tables</a:t>
            </a: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5641848" y="3759327"/>
            <a:ext cx="146304" cy="109728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3920490"/>
            <a:ext cx="5852160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3920490"/>
            <a:ext cx="5852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2C2926"/>
                </a:solidFill>
                <a:latin typeface="Arial"/>
              </a:rPr>
              <a:t>Normalization</a:t>
            </a:r>
          </a:p>
        </p:txBody>
      </p:sp>
      <p:sp>
        <p:nvSpPr>
          <p:cNvPr id="17" name="Isosceles Triangle 16"/>
          <p:cNvSpPr/>
          <p:nvPr/>
        </p:nvSpPr>
        <p:spPr>
          <a:xfrm rot="10800000">
            <a:off x="5641848" y="4410837"/>
            <a:ext cx="146304" cy="109728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88920" y="4572000"/>
            <a:ext cx="5852160" cy="438912"/>
          </a:xfrm>
          <a:prstGeom prst="rect">
            <a:avLst/>
          </a:prstGeom>
          <a:solidFill>
            <a:srgbClr val="E9F3F3"/>
          </a:solidFill>
          <a:ln w="15875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4572000"/>
            <a:ext cx="5852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27A76"/>
                </a:solidFill>
                <a:latin typeface="Arial"/>
              </a:rPr>
              <a:t>Clean Database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100912"/>
            <a:ext cx="10241280" cy="580000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5192352"/>
            <a:ext cx="9838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INTERVIEW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5439808"/>
            <a:ext cx="9838944" cy="181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A362F"/>
                </a:solidFill>
                <a:latin typeface="Courier New"/>
              </a:rPr>
              <a:t>A well-designed database </a:t>
            </a:r>
            <a:r>
              <a:rPr sz="1350" b="0" i="0">
                <a:solidFill>
                  <a:srgbClr val="4A4640"/>
                </a:solidFill>
                <a:latin typeface="Arial"/>
              </a:rPr>
              <a:t>is both relational and normalized.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833400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833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CLASSROOM WARM-UP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2C2926"/>
                </a:solidFill>
                <a:latin typeface="Arial"/>
              </a:rPr>
              <a:t>Why Normalization?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Good ER design still allows redundancy inside a single table — normalization removes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4983480" cy="19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4983480" cy="310896"/>
          </a:xfrm>
          <a:prstGeom prst="rect">
            <a:avLst/>
          </a:prstGeom>
          <a:solidFill>
            <a:srgbClr val="FBEA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965960"/>
            <a:ext cx="46908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BAD DESIGN — one big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" y="2356856"/>
            <a:ext cx="4690872" cy="200000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664" y="2356856"/>
            <a:ext cx="1503624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4288" y="2356856"/>
            <a:ext cx="1503624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7912" y="2356856"/>
            <a:ext cx="1503624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Supplier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" y="2556856"/>
            <a:ext cx="4690872" cy="230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664" y="2556856"/>
            <a:ext cx="150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Rahul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4288" y="2556856"/>
            <a:ext cx="150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Laptop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7912" y="2556856"/>
            <a:ext cx="150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TechZone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" y="2786856"/>
            <a:ext cx="4690872" cy="230000"/>
          </a:xfrm>
          <a:prstGeom prst="rect">
            <a:avLst/>
          </a:prstGeom>
          <a:solidFill>
            <a:srgbClr val="FBEA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664" y="2786856"/>
            <a:ext cx="150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Rahul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4288" y="2786856"/>
            <a:ext cx="150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Mouse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7912" y="2786856"/>
            <a:ext cx="150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TechZone</a:t>
            </a:r>
          </a:p>
        </p:txBody>
      </p:sp>
      <p:sp>
        <p:nvSpPr>
          <p:cNvPr id="21" name="Oval 20"/>
          <p:cNvSpPr/>
          <p:nvPr/>
        </p:nvSpPr>
        <p:spPr>
          <a:xfrm>
            <a:off x="5271536" y="2831856"/>
            <a:ext cx="140000" cy="140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1536" y="2831856"/>
            <a:ext cx="140000" cy="1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" y="3016856"/>
            <a:ext cx="4690872" cy="230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664" y="3016856"/>
            <a:ext cx="150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Sneha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4288" y="3016856"/>
            <a:ext cx="150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Notebook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7912" y="3016856"/>
            <a:ext cx="150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PaperWorld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" y="3246856"/>
            <a:ext cx="4690872" cy="230000"/>
          </a:xfrm>
          <a:prstGeom prst="rect">
            <a:avLst/>
          </a:prstGeom>
          <a:solidFill>
            <a:srgbClr val="FBEA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664" y="3246856"/>
            <a:ext cx="150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Rahul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44288" y="3246856"/>
            <a:ext cx="150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Keyboard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7912" y="3246856"/>
            <a:ext cx="150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TechZone</a:t>
            </a:r>
          </a:p>
        </p:txBody>
      </p:sp>
      <p:sp>
        <p:nvSpPr>
          <p:cNvPr id="31" name="Oval 30"/>
          <p:cNvSpPr/>
          <p:nvPr/>
        </p:nvSpPr>
        <p:spPr>
          <a:xfrm>
            <a:off x="5271536" y="3291856"/>
            <a:ext cx="140000" cy="140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1536" y="3291856"/>
            <a:ext cx="140000" cy="1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" y="3546856"/>
            <a:ext cx="1523624" cy="230000"/>
          </a:xfrm>
          <a:prstGeom prst="roundRect">
            <a:avLst>
              <a:gd name="adj" fmla="val 35000"/>
            </a:avLst>
          </a:prstGeom>
          <a:solidFill>
            <a:srgbClr val="FBEAE8"/>
          </a:solidFill>
          <a:ln w="12700">
            <a:solidFill>
              <a:srgbClr val="EFC3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664" y="3546856"/>
            <a:ext cx="148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C0392B"/>
                </a:solidFill>
                <a:latin typeface="Arial"/>
              </a:rPr>
              <a:t>Duplicate 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24288" y="3546856"/>
            <a:ext cx="1523624" cy="230000"/>
          </a:xfrm>
          <a:prstGeom prst="roundRect">
            <a:avLst>
              <a:gd name="adj" fmla="val 35000"/>
            </a:avLst>
          </a:prstGeom>
          <a:solidFill>
            <a:srgbClr val="FBEAE8"/>
          </a:solidFill>
          <a:ln w="12700">
            <a:solidFill>
              <a:srgbClr val="EFC3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44288" y="3546856"/>
            <a:ext cx="148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C0392B"/>
                </a:solidFill>
                <a:latin typeface="Arial"/>
              </a:rPr>
              <a:t>Wasted Storage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07912" y="3546856"/>
            <a:ext cx="1523624" cy="230000"/>
          </a:xfrm>
          <a:prstGeom prst="roundRect">
            <a:avLst>
              <a:gd name="adj" fmla="val 35000"/>
            </a:avLst>
          </a:prstGeom>
          <a:solidFill>
            <a:srgbClr val="FBEAE8"/>
          </a:solidFill>
          <a:ln w="12700">
            <a:solidFill>
              <a:srgbClr val="EFC3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27912" y="3546856"/>
            <a:ext cx="148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C0392B"/>
                </a:solidFill>
                <a:latin typeface="Arial"/>
              </a:rPr>
              <a:t>Difficult Updates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1965960"/>
            <a:ext cx="4983480" cy="19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52160" y="1965960"/>
            <a:ext cx="4983480" cy="310896"/>
          </a:xfrm>
          <a:prstGeom prst="rect">
            <a:avLst/>
          </a:prstGeom>
          <a:solidFill>
            <a:srgbClr val="E9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8464" y="1965960"/>
            <a:ext cx="46908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27A76"/>
                </a:solidFill>
                <a:latin typeface="Arial"/>
              </a:rPr>
              <a:t>GOOD DESIGN — separate tables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273900" y="2556856"/>
            <a:ext cx="140000" cy="0"/>
          </a:xfrm>
          <a:prstGeom prst="line">
            <a:avLst/>
          </a:prstGeom>
          <a:ln w="19050">
            <a:solidFill>
              <a:srgbClr val="127A76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9551618" y="2756856"/>
            <a:ext cx="0" cy="150000"/>
          </a:xfrm>
          <a:prstGeom prst="line">
            <a:avLst/>
          </a:prstGeom>
          <a:ln w="19050">
            <a:solidFill>
              <a:srgbClr val="127A76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H="1">
            <a:off x="8273900" y="3106856"/>
            <a:ext cx="140000" cy="0"/>
          </a:xfrm>
          <a:prstGeom prst="line">
            <a:avLst/>
          </a:prstGeom>
          <a:ln w="19050">
            <a:solidFill>
              <a:srgbClr val="127A76"/>
            </a:solidFill>
          </a:ln>
          <a:effectLst/>
        </p:spPr>
      </p:cxnSp>
      <p:sp>
        <p:nvSpPr>
          <p:cNvPr id="45" name="Rectangle 44"/>
          <p:cNvSpPr/>
          <p:nvPr/>
        </p:nvSpPr>
        <p:spPr>
          <a:xfrm>
            <a:off x="5998464" y="2356856"/>
            <a:ext cx="2275436" cy="4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98464" y="2356856"/>
            <a:ext cx="2275436" cy="170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98464" y="2356856"/>
            <a:ext cx="2275436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C2926"/>
                </a:solidFill>
                <a:latin typeface="Arial"/>
              </a:rPr>
              <a:t>Customers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058464" y="2586856"/>
            <a:ext cx="2155436" cy="0"/>
          </a:xfrm>
          <a:prstGeom prst="line">
            <a:avLst/>
          </a:prstGeom>
          <a:ln w="9525">
            <a:solidFill>
              <a:srgbClr val="E3DFD6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6058464" y="2646856"/>
            <a:ext cx="2155436" cy="0"/>
          </a:xfrm>
          <a:prstGeom prst="line">
            <a:avLst/>
          </a:prstGeom>
          <a:ln w="9525">
            <a:solidFill>
              <a:srgbClr val="E3DFD6"/>
            </a:solidFill>
          </a:ln>
          <a:effectLst/>
        </p:spPr>
      </p:cxnSp>
      <p:sp>
        <p:nvSpPr>
          <p:cNvPr id="50" name="Rectangle 49"/>
          <p:cNvSpPr/>
          <p:nvPr/>
        </p:nvSpPr>
        <p:spPr>
          <a:xfrm>
            <a:off x="8413900" y="2356856"/>
            <a:ext cx="2275436" cy="4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13900" y="2356856"/>
            <a:ext cx="2275436" cy="170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3900" y="2356856"/>
            <a:ext cx="2275436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C2926"/>
                </a:solidFill>
                <a:latin typeface="Arial"/>
              </a:rPr>
              <a:t>Orders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473900" y="2586856"/>
            <a:ext cx="2155436" cy="0"/>
          </a:xfrm>
          <a:prstGeom prst="line">
            <a:avLst/>
          </a:prstGeom>
          <a:ln w="9525">
            <a:solidFill>
              <a:srgbClr val="E3DFD6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8473900" y="2646856"/>
            <a:ext cx="2155436" cy="0"/>
          </a:xfrm>
          <a:prstGeom prst="line">
            <a:avLst/>
          </a:prstGeom>
          <a:ln w="9525">
            <a:solidFill>
              <a:srgbClr val="E3DFD6"/>
            </a:solidFill>
          </a:ln>
          <a:effectLst/>
        </p:spPr>
      </p:cxnSp>
      <p:sp>
        <p:nvSpPr>
          <p:cNvPr id="55" name="Rectangle 54"/>
          <p:cNvSpPr/>
          <p:nvPr/>
        </p:nvSpPr>
        <p:spPr>
          <a:xfrm>
            <a:off x="8413900" y="2906856"/>
            <a:ext cx="2275436" cy="4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3900" y="2906856"/>
            <a:ext cx="2275436" cy="170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3900" y="2906856"/>
            <a:ext cx="2275436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C2926"/>
                </a:solidFill>
                <a:latin typeface="Arial"/>
              </a:rPr>
              <a:t>Products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473900" y="3136856"/>
            <a:ext cx="2155436" cy="0"/>
          </a:xfrm>
          <a:prstGeom prst="line">
            <a:avLst/>
          </a:prstGeom>
          <a:ln w="9525">
            <a:solidFill>
              <a:srgbClr val="E3DFD6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8473900" y="3196856"/>
            <a:ext cx="2155436" cy="0"/>
          </a:xfrm>
          <a:prstGeom prst="line">
            <a:avLst/>
          </a:prstGeom>
          <a:ln w="9525">
            <a:solidFill>
              <a:srgbClr val="E3DFD6"/>
            </a:solidFill>
          </a:ln>
          <a:effectLst/>
        </p:spPr>
      </p:cxnSp>
      <p:sp>
        <p:nvSpPr>
          <p:cNvPr id="60" name="Rectangle 59"/>
          <p:cNvSpPr/>
          <p:nvPr/>
        </p:nvSpPr>
        <p:spPr>
          <a:xfrm>
            <a:off x="5998464" y="2906856"/>
            <a:ext cx="2275436" cy="4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98464" y="2906856"/>
            <a:ext cx="2275436" cy="170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98464" y="2906856"/>
            <a:ext cx="2275436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C2926"/>
                </a:solidFill>
                <a:latin typeface="Arial"/>
              </a:rPr>
              <a:t>Suppliers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058464" y="3136856"/>
            <a:ext cx="2155436" cy="0"/>
          </a:xfrm>
          <a:prstGeom prst="line">
            <a:avLst/>
          </a:prstGeom>
          <a:ln w="9525">
            <a:solidFill>
              <a:srgbClr val="E3DFD6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6058464" y="3196856"/>
            <a:ext cx="2155436" cy="0"/>
          </a:xfrm>
          <a:prstGeom prst="line">
            <a:avLst/>
          </a:prstGeom>
          <a:ln w="9525">
            <a:solidFill>
              <a:srgbClr val="E3DFD6"/>
            </a:solidFill>
          </a:ln>
          <a:effectLst/>
        </p:spPr>
      </p:cxnSp>
      <p:sp>
        <p:nvSpPr>
          <p:cNvPr id="65" name="Rounded Rectangle 64"/>
          <p:cNvSpPr/>
          <p:nvPr/>
        </p:nvSpPr>
        <p:spPr>
          <a:xfrm>
            <a:off x="5998464" y="3376856"/>
            <a:ext cx="1523624" cy="230000"/>
          </a:xfrm>
          <a:prstGeom prst="roundRect">
            <a:avLst>
              <a:gd name="adj" fmla="val 35000"/>
            </a:avLst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18464" y="3376856"/>
            <a:ext cx="148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127A76"/>
                </a:solidFill>
                <a:latin typeface="Arial"/>
              </a:rPr>
              <a:t>Less Redundancy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582088" y="3376856"/>
            <a:ext cx="1523624" cy="230000"/>
          </a:xfrm>
          <a:prstGeom prst="roundRect">
            <a:avLst>
              <a:gd name="adj" fmla="val 35000"/>
            </a:avLst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02088" y="3376856"/>
            <a:ext cx="148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127A76"/>
                </a:solidFill>
                <a:latin typeface="Arial"/>
              </a:rPr>
              <a:t>Easier Maintenance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165712" y="3376856"/>
            <a:ext cx="1523624" cy="230000"/>
          </a:xfrm>
          <a:prstGeom prst="roundRect">
            <a:avLst>
              <a:gd name="adj" fmla="val 35000"/>
            </a:avLst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85712" y="3376856"/>
            <a:ext cx="1483624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127A76"/>
                </a:solidFill>
                <a:latin typeface="Arial"/>
              </a:rPr>
              <a:t>Better Scalability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4360" y="4062264"/>
            <a:ext cx="10241280" cy="700000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5528" y="4153704"/>
            <a:ext cx="9838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THE TAKEAWAY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528" y="4401160"/>
            <a:ext cx="9838944" cy="301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A362F"/>
                </a:solidFill>
                <a:latin typeface="Courier New"/>
              </a:rPr>
              <a:t>Normalization reduces redundancy </a:t>
            </a:r>
            <a:r>
              <a:rPr sz="1350" b="0" i="0">
                <a:solidFill>
                  <a:srgbClr val="4A4640"/>
                </a:solidFill>
                <a:latin typeface="Arial"/>
              </a:rPr>
              <a:t>before writing complex SQL queries.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703225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70322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REAL-WORLD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2C2926"/>
                </a:solidFill>
                <a:latin typeface="Arial"/>
              </a:rPr>
              <a:t>Database Anomalies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Three problems caused directly by redundant, unnormalized tables.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323088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3230880" cy="6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29800" y="2165960"/>
            <a:ext cx="560000" cy="560000"/>
          </a:xfrm>
          <a:prstGeom prst="ellipse">
            <a:avLst/>
          </a:prstGeom>
          <a:solidFill>
            <a:srgbClr val="FBEAE8"/>
          </a:solidFill>
          <a:ln w="19050">
            <a:solidFill>
              <a:srgbClr val="C039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9800" y="2165960"/>
            <a:ext cx="56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Arial"/>
              </a:rPr>
              <a:t>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60" y="2865960"/>
            <a:ext cx="291088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 i="0">
                <a:solidFill>
                  <a:srgbClr val="2C2926"/>
                </a:solidFill>
                <a:latin typeface="Arial"/>
              </a:rPr>
              <a:t>Update Anomaly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4360" y="3185960"/>
            <a:ext cx="2830880" cy="7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B675E"/>
                </a:solidFill>
                <a:latin typeface="Arial"/>
              </a:rPr>
              <a:t>Change Rahul's phone number → every repeated row must be updated, or the data contradicts itself.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9560" y="1965960"/>
            <a:ext cx="323088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99560" y="1965960"/>
            <a:ext cx="3230880" cy="6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35000" y="2165960"/>
            <a:ext cx="560000" cy="560000"/>
          </a:xfrm>
          <a:prstGeom prst="ellipse">
            <a:avLst/>
          </a:prstGeom>
          <a:solidFill>
            <a:srgbClr val="FBEAE8"/>
          </a:solidFill>
          <a:ln w="19050">
            <a:solidFill>
              <a:srgbClr val="C039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35000" y="2165960"/>
            <a:ext cx="56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Arial"/>
              </a:rP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9560" y="2865960"/>
            <a:ext cx="291088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 i="0">
                <a:solidFill>
                  <a:srgbClr val="2C2926"/>
                </a:solidFill>
                <a:latin typeface="Arial"/>
              </a:rPr>
              <a:t>Insert Anomaly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9560" y="3185960"/>
            <a:ext cx="2830880" cy="7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B675E"/>
                </a:solidFill>
                <a:latin typeface="Arial"/>
              </a:rPr>
              <a:t>A new customer can't be registered in the system until they place an order.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4760" y="1965960"/>
            <a:ext cx="323088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04760" y="1965960"/>
            <a:ext cx="3230880" cy="6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40200" y="2165960"/>
            <a:ext cx="560000" cy="560000"/>
          </a:xfrm>
          <a:prstGeom prst="ellipse">
            <a:avLst/>
          </a:prstGeom>
          <a:solidFill>
            <a:srgbClr val="FBEAE8"/>
          </a:solidFill>
          <a:ln w="19050">
            <a:solidFill>
              <a:srgbClr val="C039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0200" y="2165960"/>
            <a:ext cx="56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Arial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64760" y="2865960"/>
            <a:ext cx="291088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 i="0">
                <a:solidFill>
                  <a:srgbClr val="2C2926"/>
                </a:solidFill>
                <a:latin typeface="Arial"/>
              </a:rPr>
              <a:t>Delete Anomaly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4760" y="3185960"/>
            <a:ext cx="2830880" cy="7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B675E"/>
                </a:solidFill>
                <a:latin typeface="Arial"/>
              </a:rPr>
              <a:t>Deleting a customer's only order erases their contact details completely.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262264"/>
            <a:ext cx="10241280" cy="650000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353704"/>
            <a:ext cx="9838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INTERVIEW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601160"/>
            <a:ext cx="9838944" cy="251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A362F"/>
                </a:solidFill>
                <a:latin typeface="Courier New"/>
              </a:rPr>
              <a:t>Most anomaly questions </a:t>
            </a:r>
            <a:r>
              <a:rPr sz="1350" b="0" i="0">
                <a:solidFill>
                  <a:srgbClr val="4A4640"/>
                </a:solidFill>
                <a:latin typeface="Arial"/>
              </a:rPr>
              <a:t>appear in normalization interviews.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79325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7932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STEP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2C2926"/>
                </a:solidFill>
                <a:latin typeface="Arial"/>
              </a:rPr>
              <a:t>First Normal Form (1NF)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Rule: Every cell must contain one value.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4870640" cy="1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4360" y="2065960"/>
            <a:ext cx="1720050" cy="22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4360" y="2065960"/>
            <a:ext cx="1720050" cy="2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BEFORE — violates 1NF</a:t>
            </a:r>
          </a:p>
        </p:txBody>
      </p:sp>
      <p:sp>
        <p:nvSpPr>
          <p:cNvPr id="9" name="Rectangle 8"/>
          <p:cNvSpPr/>
          <p:nvPr/>
        </p:nvSpPr>
        <p:spPr>
          <a:xfrm>
            <a:off x="714360" y="2375960"/>
            <a:ext cx="4630640" cy="200000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4360" y="2375960"/>
            <a:ext cx="226532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9680" y="2375960"/>
            <a:ext cx="226532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Subjects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4360" y="2575960"/>
            <a:ext cx="4630640" cy="1050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360" y="2575960"/>
            <a:ext cx="2265320" cy="10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Rahul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680" y="2575960"/>
            <a:ext cx="2315320" cy="1050000"/>
          </a:xfrm>
          <a:prstGeom prst="rect">
            <a:avLst/>
          </a:prstGeom>
          <a:solidFill>
            <a:srgbClr val="FBEA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9680" y="2575960"/>
            <a:ext cx="2265320" cy="10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Python, 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5000" y="1965960"/>
            <a:ext cx="4870640" cy="1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5000" y="2065960"/>
            <a:ext cx="1758150" cy="220000"/>
          </a:xfrm>
          <a:prstGeom prst="rect">
            <a:avLst/>
          </a:prstGeom>
          <a:solidFill>
            <a:srgbClr val="127A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5000" y="2065960"/>
            <a:ext cx="1758150" cy="2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AFTER — 1NF compliant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5000" y="2375960"/>
            <a:ext cx="4630640" cy="200000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5000" y="2375960"/>
            <a:ext cx="226532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Student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320" y="2375960"/>
            <a:ext cx="226532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Subject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5000" y="2575960"/>
            <a:ext cx="4630640" cy="525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15000" y="2575960"/>
            <a:ext cx="2265320" cy="5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Rahul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00320" y="2575960"/>
            <a:ext cx="2315320" cy="525000"/>
          </a:xfrm>
          <a:prstGeom prst="rect">
            <a:avLst/>
          </a:prstGeom>
          <a:solidFill>
            <a:srgbClr val="E9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320" y="2575960"/>
            <a:ext cx="2265320" cy="5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Python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5000" y="3100960"/>
            <a:ext cx="4630640" cy="52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15000" y="3100960"/>
            <a:ext cx="2265320" cy="5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Rahul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00320" y="3100960"/>
            <a:ext cx="2315320" cy="525000"/>
          </a:xfrm>
          <a:prstGeom prst="rect">
            <a:avLst/>
          </a:prstGeom>
          <a:solidFill>
            <a:srgbClr val="E9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320" y="3100960"/>
            <a:ext cx="2265320" cy="5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SQL</a:t>
            </a:r>
          </a:p>
        </p:txBody>
      </p:sp>
      <p:sp>
        <p:nvSpPr>
          <p:cNvPr id="30" name="Isosceles Triangle 29"/>
          <p:cNvSpPr/>
          <p:nvPr/>
        </p:nvSpPr>
        <p:spPr>
          <a:xfrm rot="5400000">
            <a:off x="5625000" y="2770960"/>
            <a:ext cx="180000" cy="140000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3895960"/>
            <a:ext cx="10241280" cy="700000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3987400"/>
            <a:ext cx="9838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THE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4234856"/>
            <a:ext cx="9838944" cy="301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A362F"/>
                </a:solidFill>
                <a:latin typeface="Courier New"/>
              </a:rPr>
              <a:t>1NF removes multi-valued attributes, </a:t>
            </a:r>
            <a:r>
              <a:rPr sz="1400" b="0" i="0">
                <a:solidFill>
                  <a:srgbClr val="4A4640"/>
                </a:solidFill>
                <a:latin typeface="Arial"/>
              </a:rPr>
              <a:t>not duplicates.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79325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7932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STEP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2C2926"/>
                </a:solidFill>
                <a:latin typeface="Arial"/>
              </a:rPr>
              <a:t>Second Normal Form (2NF)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Rule: Remove Partial Dependency — applies only when a composite key exists.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1024128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4360" y="2065960"/>
            <a:ext cx="4466425" cy="220000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4360" y="2065960"/>
            <a:ext cx="4466425" cy="2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BEFORE — Enrollment (composite key: StudentID + CourseID)</a:t>
            </a:r>
          </a:p>
        </p:txBody>
      </p:sp>
      <p:sp>
        <p:nvSpPr>
          <p:cNvPr id="9" name="Rectangle 8"/>
          <p:cNvSpPr/>
          <p:nvPr/>
        </p:nvSpPr>
        <p:spPr>
          <a:xfrm>
            <a:off x="714360" y="2375960"/>
            <a:ext cx="10001280" cy="200000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4360" y="2375960"/>
            <a:ext cx="245032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StudentID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4680" y="2375960"/>
            <a:ext cx="245032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CourseID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5000" y="2375960"/>
            <a:ext cx="245032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StudentName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5320" y="2375960"/>
            <a:ext cx="245032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CourseName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360" y="2575960"/>
            <a:ext cx="10001280" cy="190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4360" y="2575960"/>
            <a:ext cx="2450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4680" y="2575960"/>
            <a:ext cx="2450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101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2575960"/>
            <a:ext cx="2500320" cy="190000"/>
          </a:xfrm>
          <a:prstGeom prst="rect">
            <a:avLst/>
          </a:prstGeom>
          <a:solidFill>
            <a:srgbClr val="FCEE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5000" y="2575960"/>
            <a:ext cx="2450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Rahul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5320" y="2575960"/>
            <a:ext cx="2500320" cy="190000"/>
          </a:xfrm>
          <a:prstGeom prst="rect">
            <a:avLst/>
          </a:prstGeom>
          <a:solidFill>
            <a:srgbClr val="FCEE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5320" y="2575960"/>
            <a:ext cx="2450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DBMS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4360" y="2765960"/>
            <a:ext cx="10001280" cy="1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360" y="2765960"/>
            <a:ext cx="2450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4680" y="2765960"/>
            <a:ext cx="2450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102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0" y="2765960"/>
            <a:ext cx="2500320" cy="190000"/>
          </a:xfrm>
          <a:prstGeom prst="rect">
            <a:avLst/>
          </a:prstGeom>
          <a:solidFill>
            <a:srgbClr val="FCEE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45000" y="2765960"/>
            <a:ext cx="2450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Rahul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15320" y="2765960"/>
            <a:ext cx="2500320" cy="190000"/>
          </a:xfrm>
          <a:prstGeom prst="rect">
            <a:avLst/>
          </a:prstGeom>
          <a:solidFill>
            <a:srgbClr val="FCEE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5320" y="2765960"/>
            <a:ext cx="2450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DSA</a:t>
            </a:r>
          </a:p>
        </p:txBody>
      </p:sp>
      <p:sp>
        <p:nvSpPr>
          <p:cNvPr id="28" name="Isosceles Triangle 27"/>
          <p:cNvSpPr/>
          <p:nvPr/>
        </p:nvSpPr>
        <p:spPr>
          <a:xfrm rot="10800000">
            <a:off x="5615000" y="3065960"/>
            <a:ext cx="200000" cy="140000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3205960"/>
            <a:ext cx="5010640" cy="7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3205960"/>
            <a:ext cx="5010640" cy="220000"/>
          </a:xfrm>
          <a:prstGeom prst="rect">
            <a:avLst/>
          </a:prstGeom>
          <a:solidFill>
            <a:srgbClr val="E9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205960"/>
            <a:ext cx="5010640" cy="2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7A76"/>
                </a:solidFill>
                <a:latin typeface="Arial"/>
              </a:rPr>
              <a:t>Students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360" y="3425960"/>
            <a:ext cx="246532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C2926"/>
                </a:solidFill>
                <a:latin typeface="Arial"/>
              </a:rPr>
              <a:t>StudentID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9680" y="3425960"/>
            <a:ext cx="246532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C2926"/>
                </a:solidFill>
                <a:latin typeface="Arial"/>
              </a:rPr>
              <a:t>StudentName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360" y="3605960"/>
            <a:ext cx="2465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9680" y="3605960"/>
            <a:ext cx="2465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Rahul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360" y="3795960"/>
            <a:ext cx="2465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9680" y="3795960"/>
            <a:ext cx="2465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Sneha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25000" y="3205960"/>
            <a:ext cx="5010640" cy="7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5000" y="3205960"/>
            <a:ext cx="5010640" cy="220000"/>
          </a:xfrm>
          <a:prstGeom prst="rect">
            <a:avLst/>
          </a:prstGeom>
          <a:solidFill>
            <a:srgbClr val="E9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25000" y="3205960"/>
            <a:ext cx="5010640" cy="2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7A76"/>
                </a:solidFill>
                <a:latin typeface="Arial"/>
              </a:rPr>
              <a:t>Courses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5000" y="3425960"/>
            <a:ext cx="246532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C2926"/>
                </a:solidFill>
                <a:latin typeface="Arial"/>
              </a:rPr>
              <a:t>CourseID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0320" y="3425960"/>
            <a:ext cx="246532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C2926"/>
                </a:solidFill>
                <a:latin typeface="Arial"/>
              </a:rPr>
              <a:t>CourseName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5000" y="3605960"/>
            <a:ext cx="2465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101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0320" y="3605960"/>
            <a:ext cx="2465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DBMS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5000" y="3795960"/>
            <a:ext cx="2465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102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0320" y="3795960"/>
            <a:ext cx="2465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DSA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5000" y="4205960"/>
            <a:ext cx="3400000" cy="7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15000" y="4205960"/>
            <a:ext cx="3400000" cy="220000"/>
          </a:xfrm>
          <a:prstGeom prst="rect">
            <a:avLst/>
          </a:prstGeom>
          <a:solidFill>
            <a:srgbClr val="E9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15000" y="4205960"/>
            <a:ext cx="3400000" cy="2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7A76"/>
                </a:solidFill>
                <a:latin typeface="Arial"/>
              </a:rPr>
              <a:t>Enrollment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45000" y="4425960"/>
            <a:ext cx="16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C2926"/>
                </a:solidFill>
                <a:latin typeface="Arial"/>
              </a:rPr>
              <a:t>StudentID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45000" y="4425960"/>
            <a:ext cx="16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C2926"/>
                </a:solidFill>
                <a:latin typeface="Arial"/>
              </a:rPr>
              <a:t>CourseID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45000" y="4605960"/>
            <a:ext cx="166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45000" y="4605960"/>
            <a:ext cx="166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101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45000" y="4795960"/>
            <a:ext cx="166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45000" y="4795960"/>
            <a:ext cx="166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102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099680" y="3985960"/>
            <a:ext cx="2615320" cy="220000"/>
          </a:xfrm>
          <a:prstGeom prst="line">
            <a:avLst/>
          </a:prstGeom>
          <a:ln w="19050">
            <a:solidFill>
              <a:srgbClr val="127A76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 flipH="1">
            <a:off x="5715000" y="3985960"/>
            <a:ext cx="2615320" cy="220000"/>
          </a:xfrm>
          <a:prstGeom prst="line">
            <a:avLst/>
          </a:prstGeom>
          <a:ln w="19050">
            <a:solidFill>
              <a:srgbClr val="127A76"/>
            </a:solidFill>
          </a:ln>
          <a:effectLst/>
        </p:spPr>
      </p:cxnSp>
      <p:sp>
        <p:nvSpPr>
          <p:cNvPr id="58" name="Rectangle 57"/>
          <p:cNvSpPr/>
          <p:nvPr/>
        </p:nvSpPr>
        <p:spPr>
          <a:xfrm>
            <a:off x="594360" y="5095960"/>
            <a:ext cx="10241280" cy="580000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5528" y="5187400"/>
            <a:ext cx="9838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INTERVIEW INSIGHT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8" y="5434856"/>
            <a:ext cx="9838944" cy="181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A362F"/>
                </a:solidFill>
                <a:latin typeface="Courier New"/>
              </a:rPr>
              <a:t>StudentName depends only on StudentID. </a:t>
            </a:r>
            <a:r>
              <a:rPr sz="1300" b="0" i="0">
                <a:solidFill>
                  <a:srgbClr val="4A4640"/>
                </a:solidFill>
                <a:latin typeface="Arial"/>
              </a:rPr>
              <a:t>(CourseName depends only on CourseID.)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79325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7932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STEP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2C2926"/>
                </a:solidFill>
                <a:latin typeface="Arial"/>
              </a:rPr>
              <a:t>Third Normal Form (3NF)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Rule: Remove Transitive Dependency — non-key columns must depend only on the key.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10241280" cy="1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4360" y="2065960"/>
            <a:ext cx="4393400" cy="220000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4360" y="2065960"/>
            <a:ext cx="4393400" cy="2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BEFORE — Employee (EmpID, EmpName, DeptID, DeptName)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14360" y="2375960"/>
            <a:ext cx="10001280" cy="200000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4360" y="2375960"/>
            <a:ext cx="245032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EmpID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4680" y="2375960"/>
            <a:ext cx="245032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EmpName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5000" y="2375960"/>
            <a:ext cx="245032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DeptID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5320" y="2375960"/>
            <a:ext cx="245032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DeptName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360" y="2575960"/>
            <a:ext cx="10001280" cy="225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4360" y="2575960"/>
            <a:ext cx="2450320" cy="2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4680" y="2575960"/>
            <a:ext cx="2450320" cy="2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Aarav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5000" y="2575960"/>
            <a:ext cx="2450320" cy="2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15320" y="2575960"/>
            <a:ext cx="2500320" cy="225000"/>
          </a:xfrm>
          <a:prstGeom prst="rect">
            <a:avLst/>
          </a:prstGeom>
          <a:solidFill>
            <a:srgbClr val="FCEE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5320" y="2575960"/>
            <a:ext cx="2450320" cy="2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Computer Science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4360" y="2800960"/>
            <a:ext cx="10001280" cy="22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360" y="2800960"/>
            <a:ext cx="2450320" cy="2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4680" y="2800960"/>
            <a:ext cx="2450320" cy="2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Priya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5000" y="2800960"/>
            <a:ext cx="2450320" cy="2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15320" y="2800960"/>
            <a:ext cx="2500320" cy="225000"/>
          </a:xfrm>
          <a:prstGeom prst="rect">
            <a:avLst/>
          </a:prstGeom>
          <a:solidFill>
            <a:srgbClr val="FCEE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5320" y="2800960"/>
            <a:ext cx="2450320" cy="2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Computer Science</a:t>
            </a:r>
          </a:p>
        </p:txBody>
      </p:sp>
      <p:sp>
        <p:nvSpPr>
          <p:cNvPr id="26" name="Isosceles Triangle 25"/>
          <p:cNvSpPr/>
          <p:nvPr/>
        </p:nvSpPr>
        <p:spPr>
          <a:xfrm rot="10800000">
            <a:off x="5615000" y="3155960"/>
            <a:ext cx="200000" cy="140000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355960"/>
            <a:ext cx="4920640" cy="135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3355960"/>
            <a:ext cx="4920640" cy="220000"/>
          </a:xfrm>
          <a:prstGeom prst="rect">
            <a:avLst/>
          </a:prstGeom>
          <a:solidFill>
            <a:srgbClr val="E9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355960"/>
            <a:ext cx="4920640" cy="2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7A76"/>
                </a:solidFill>
                <a:latin typeface="Arial"/>
              </a:rPr>
              <a:t>Employees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360" y="3575960"/>
            <a:ext cx="1600213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C2926"/>
                </a:solidFill>
                <a:latin typeface="Arial"/>
              </a:rPr>
              <a:t>EmpID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64573" y="3575960"/>
            <a:ext cx="1600213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C2926"/>
                </a:solidFill>
                <a:latin typeface="Arial"/>
              </a:rPr>
              <a:t>EmpName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4786" y="3575960"/>
            <a:ext cx="1600213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C2926"/>
                </a:solidFill>
                <a:latin typeface="Arial"/>
              </a:rPr>
              <a:t>DeptID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360" y="3755960"/>
            <a:ext cx="1600213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64573" y="3755960"/>
            <a:ext cx="1600213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Aarav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04786" y="3755960"/>
            <a:ext cx="1600213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360" y="3945960"/>
            <a:ext cx="1600213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64573" y="3945960"/>
            <a:ext cx="1600213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Priya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4786" y="3945960"/>
            <a:ext cx="1600213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5000" y="3355960"/>
            <a:ext cx="4920640" cy="135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5000" y="3355960"/>
            <a:ext cx="4920640" cy="220000"/>
          </a:xfrm>
          <a:prstGeom prst="rect">
            <a:avLst/>
          </a:prstGeom>
          <a:solidFill>
            <a:srgbClr val="E9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15000" y="3355960"/>
            <a:ext cx="4920640" cy="2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7A76"/>
                </a:solidFill>
                <a:latin typeface="Arial"/>
              </a:rPr>
              <a:t>Departments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5000" y="3575960"/>
            <a:ext cx="242032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C2926"/>
                </a:solidFill>
                <a:latin typeface="Arial"/>
              </a:rPr>
              <a:t>DeptID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05320" y="3575960"/>
            <a:ext cx="242032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C2926"/>
                </a:solidFill>
                <a:latin typeface="Arial"/>
              </a:rPr>
              <a:t>DeptName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5000" y="3755960"/>
            <a:ext cx="2420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05320" y="3755960"/>
            <a:ext cx="2420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Computer Science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5000" y="3945960"/>
            <a:ext cx="2420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05320" y="3945960"/>
            <a:ext cx="242032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Courier New"/>
              </a:rPr>
              <a:t>Mechanical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515000" y="4030960"/>
            <a:ext cx="400000" cy="0"/>
          </a:xfrm>
          <a:prstGeom prst="line">
            <a:avLst/>
          </a:prstGeom>
          <a:ln w="19050">
            <a:solidFill>
              <a:srgbClr val="127A76"/>
            </a:solidFill>
          </a:ln>
          <a:effectLst/>
        </p:spPr>
      </p:cxnSp>
      <p:sp>
        <p:nvSpPr>
          <p:cNvPr id="49" name="Oval 48"/>
          <p:cNvSpPr/>
          <p:nvPr/>
        </p:nvSpPr>
        <p:spPr>
          <a:xfrm>
            <a:off x="5615000" y="3930960"/>
            <a:ext cx="200000" cy="20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93C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15000" y="3930960"/>
            <a:ext cx="200000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A93CD"/>
                </a:solidFill>
                <a:latin typeface="Arial"/>
              </a:rPr>
              <a:t>FK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" y="4885960"/>
            <a:ext cx="10241280" cy="650000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8" y="4977400"/>
            <a:ext cx="9838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THE TAKEAWAY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" y="5224856"/>
            <a:ext cx="9838944" cy="251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A362F"/>
                </a:solidFill>
                <a:latin typeface="Courier New"/>
              </a:rPr>
              <a:t>Non-key attributes </a:t>
            </a:r>
            <a:r>
              <a:rPr sz="1350" b="0" i="0">
                <a:solidFill>
                  <a:srgbClr val="4A4640"/>
                </a:solidFill>
                <a:latin typeface="Arial"/>
              </a:rPr>
              <a:t>should depend only on the Primary Key.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284125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28412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REVISION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2C2926"/>
                </a:solidFill>
                <a:latin typeface="Arial"/>
              </a:rPr>
              <a:t>UNF → 3NF: The Full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One messy table, four clean stages — this is your quick revision guide.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0000"/>
            <a:ext cx="2395320" cy="24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70000"/>
            <a:ext cx="239532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Arial"/>
              </a:rPr>
              <a:t>UNF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2020" y="2530000"/>
            <a:ext cx="760000" cy="420000"/>
          </a:xfrm>
          <a:prstGeom prst="rect">
            <a:avLst/>
          </a:prstGeom>
          <a:noFill/>
          <a:ln w="22225">
            <a:solidFill>
              <a:srgbClr val="C039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472020" y="2620000"/>
            <a:ext cx="640000" cy="0"/>
          </a:xfrm>
          <a:prstGeom prst="line">
            <a:avLst/>
          </a:prstGeom>
          <a:ln w="12700">
            <a:solidFill>
              <a:srgbClr val="C0392B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472020" y="2720000"/>
            <a:ext cx="640000" cy="0"/>
          </a:xfrm>
          <a:prstGeom prst="line">
            <a:avLst/>
          </a:prstGeom>
          <a:ln w="12700">
            <a:solidFill>
              <a:srgbClr val="C0392B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472020" y="2820000"/>
            <a:ext cx="640000" cy="0"/>
          </a:xfrm>
          <a:prstGeom prst="line">
            <a:avLst/>
          </a:prstGeom>
          <a:ln w="12700">
            <a:solidFill>
              <a:srgbClr val="C0392B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674360" y="3400000"/>
            <a:ext cx="2235320" cy="10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A4640"/>
                </a:solidFill>
                <a:latin typeface="Arial"/>
              </a:rPr>
              <a:t>One giant table.</a:t>
            </a:r>
          </a:p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A4640"/>
                </a:solidFill>
                <a:latin typeface="Arial"/>
              </a:rPr>
              <a:t>Everything mixed</a:t>
            </a:r>
          </a:p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A4640"/>
                </a:solidFill>
                <a:latin typeface="Arial"/>
              </a:rPr>
              <a:t>together.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034680" y="3225000"/>
            <a:ext cx="130000" cy="100000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9680" y="2050000"/>
            <a:ext cx="2395320" cy="24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680" y="2170000"/>
            <a:ext cx="239532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DFA938"/>
                </a:solidFill>
                <a:latin typeface="Arial"/>
              </a:rPr>
              <a:t>1NF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7340" y="2530000"/>
            <a:ext cx="760000" cy="420000"/>
          </a:xfrm>
          <a:prstGeom prst="rect">
            <a:avLst/>
          </a:prstGeom>
          <a:noFill/>
          <a:ln w="22225">
            <a:solidFill>
              <a:srgbClr val="DFA9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087340" y="2620000"/>
            <a:ext cx="640000" cy="0"/>
          </a:xfrm>
          <a:prstGeom prst="line">
            <a:avLst/>
          </a:prstGeom>
          <a:ln w="12700">
            <a:solidFill>
              <a:srgbClr val="DFA938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4087340" y="2720000"/>
            <a:ext cx="640000" cy="0"/>
          </a:xfrm>
          <a:prstGeom prst="line">
            <a:avLst/>
          </a:prstGeom>
          <a:ln w="12700">
            <a:solidFill>
              <a:srgbClr val="DFA938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4087340" y="2820000"/>
            <a:ext cx="640000" cy="0"/>
          </a:xfrm>
          <a:prstGeom prst="line">
            <a:avLst/>
          </a:prstGeom>
          <a:ln w="12700">
            <a:solidFill>
              <a:srgbClr val="DFA938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3289680" y="3400000"/>
            <a:ext cx="2235320" cy="10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A4640"/>
                </a:solidFill>
                <a:latin typeface="Arial"/>
              </a:rPr>
              <a:t>Atomic values.</a:t>
            </a:r>
          </a:p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A4640"/>
                </a:solidFill>
                <a:latin typeface="Arial"/>
              </a:rPr>
              <a:t>Still one big</a:t>
            </a:r>
          </a:p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A4640"/>
                </a:solidFill>
                <a:latin typeface="Arial"/>
              </a:rPr>
              <a:t>table.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5650000" y="3225000"/>
            <a:ext cx="130000" cy="100000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825000" y="2050000"/>
            <a:ext cx="2395320" cy="24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25000" y="2170000"/>
            <a:ext cx="239532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5B8FD6"/>
                </a:solidFill>
                <a:latin typeface="Arial"/>
              </a:rPr>
              <a:t>2NF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2660" y="2640000"/>
            <a:ext cx="200000" cy="200000"/>
          </a:xfrm>
          <a:prstGeom prst="rect">
            <a:avLst/>
          </a:prstGeom>
          <a:solidFill>
            <a:srgbClr val="5B8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762660" y="2740000"/>
            <a:ext cx="260000" cy="0"/>
          </a:xfrm>
          <a:prstGeom prst="line">
            <a:avLst/>
          </a:prstGeom>
          <a:ln w="12700">
            <a:solidFill>
              <a:srgbClr val="5B8FD6"/>
            </a:solidFill>
          </a:ln>
          <a:effectLst/>
        </p:spPr>
      </p:cxnSp>
      <p:sp>
        <p:nvSpPr>
          <p:cNvPr id="26" name="Rectangle 25"/>
          <p:cNvSpPr/>
          <p:nvPr/>
        </p:nvSpPr>
        <p:spPr>
          <a:xfrm>
            <a:off x="6922660" y="2640000"/>
            <a:ext cx="200000" cy="200000"/>
          </a:xfrm>
          <a:prstGeom prst="rect">
            <a:avLst/>
          </a:prstGeom>
          <a:solidFill>
            <a:srgbClr val="5B8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022660" y="2740000"/>
            <a:ext cx="260000" cy="0"/>
          </a:xfrm>
          <a:prstGeom prst="line">
            <a:avLst/>
          </a:prstGeom>
          <a:ln w="12700">
            <a:solidFill>
              <a:srgbClr val="5B8FD6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7182660" y="2640000"/>
            <a:ext cx="200000" cy="200000"/>
          </a:xfrm>
          <a:prstGeom prst="rect">
            <a:avLst/>
          </a:prstGeom>
          <a:solidFill>
            <a:srgbClr val="5B8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05000" y="3400000"/>
            <a:ext cx="2235320" cy="10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A4640"/>
                </a:solidFill>
                <a:latin typeface="Arial"/>
              </a:rPr>
              <a:t>Split by partial</a:t>
            </a:r>
          </a:p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A4640"/>
                </a:solidFill>
                <a:latin typeface="Arial"/>
              </a:rPr>
              <a:t>dependency.</a:t>
            </a:r>
          </a:p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A4640"/>
                </a:solidFill>
                <a:latin typeface="Arial"/>
              </a:rPr>
              <a:t>3 clean tables.</a:t>
            </a:r>
          </a:p>
        </p:txBody>
      </p:sp>
      <p:sp>
        <p:nvSpPr>
          <p:cNvPr id="30" name="Isosceles Triangle 29"/>
          <p:cNvSpPr/>
          <p:nvPr/>
        </p:nvSpPr>
        <p:spPr>
          <a:xfrm rot="5400000">
            <a:off x="8265320" y="3225000"/>
            <a:ext cx="130000" cy="100000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40320" y="2050000"/>
            <a:ext cx="2395320" cy="24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40320" y="2170000"/>
            <a:ext cx="239532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27A76"/>
                </a:solidFill>
                <a:latin typeface="Arial"/>
              </a:rPr>
              <a:t>3NF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17980" y="2640000"/>
            <a:ext cx="200000" cy="200000"/>
          </a:xfrm>
          <a:prstGeom prst="rect">
            <a:avLst/>
          </a:prstGeom>
          <a:solidFill>
            <a:srgbClr val="127A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117980" y="2740000"/>
            <a:ext cx="260000" cy="0"/>
          </a:xfrm>
          <a:prstGeom prst="line">
            <a:avLst/>
          </a:prstGeom>
          <a:ln w="12700">
            <a:solidFill>
              <a:srgbClr val="127A76"/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9277980" y="2640000"/>
            <a:ext cx="200000" cy="200000"/>
          </a:xfrm>
          <a:prstGeom prst="rect">
            <a:avLst/>
          </a:prstGeom>
          <a:solidFill>
            <a:srgbClr val="127A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9377980" y="2740000"/>
            <a:ext cx="260000" cy="0"/>
          </a:xfrm>
          <a:prstGeom prst="line">
            <a:avLst/>
          </a:prstGeom>
          <a:ln w="12700">
            <a:solidFill>
              <a:srgbClr val="127A76"/>
            </a:solidFill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9537980" y="2640000"/>
            <a:ext cx="200000" cy="200000"/>
          </a:xfrm>
          <a:prstGeom prst="rect">
            <a:avLst/>
          </a:prstGeom>
          <a:solidFill>
            <a:srgbClr val="127A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9637980" y="2740000"/>
            <a:ext cx="260000" cy="0"/>
          </a:xfrm>
          <a:prstGeom prst="line">
            <a:avLst/>
          </a:prstGeom>
          <a:ln w="12700">
            <a:solidFill>
              <a:srgbClr val="127A76"/>
            </a:solidFill>
          </a:ln>
          <a:effectLst/>
        </p:spPr>
      </p:cxnSp>
      <p:sp>
        <p:nvSpPr>
          <p:cNvPr id="39" name="Rectangle 38"/>
          <p:cNvSpPr/>
          <p:nvPr/>
        </p:nvSpPr>
        <p:spPr>
          <a:xfrm>
            <a:off x="9797980" y="2640000"/>
            <a:ext cx="200000" cy="200000"/>
          </a:xfrm>
          <a:prstGeom prst="rect">
            <a:avLst/>
          </a:prstGeom>
          <a:solidFill>
            <a:srgbClr val="127A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897980" y="2740000"/>
            <a:ext cx="260000" cy="0"/>
          </a:xfrm>
          <a:prstGeom prst="line">
            <a:avLst/>
          </a:prstGeom>
          <a:ln w="12700">
            <a:solidFill>
              <a:srgbClr val="127A76"/>
            </a:solidFill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10057980" y="2640000"/>
            <a:ext cx="200000" cy="200000"/>
          </a:xfrm>
          <a:prstGeom prst="rect">
            <a:avLst/>
          </a:prstGeom>
          <a:solidFill>
            <a:srgbClr val="127A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20320" y="3400000"/>
            <a:ext cx="2235320" cy="10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A4640"/>
                </a:solidFill>
                <a:latin typeface="Arial"/>
              </a:rPr>
              <a:t>Split by transitive</a:t>
            </a:r>
          </a:p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A4640"/>
                </a:solidFill>
                <a:latin typeface="Arial"/>
              </a:rPr>
              <a:t>dependency.</a:t>
            </a:r>
          </a:p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A4640"/>
                </a:solidFill>
                <a:latin typeface="Arial"/>
              </a:rPr>
              <a:t>5 clean tables.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4720000"/>
            <a:ext cx="1024128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1">
                <a:solidFill>
                  <a:srgbClr val="6B675E"/>
                </a:solidFill>
                <a:latin typeface="Arial"/>
              </a:rPr>
              <a:t>From one messy table to five relational tables.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880900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8809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2C2926"/>
                </a:solidFill>
                <a:latin typeface="Arial"/>
              </a:rPr>
              <a:t>Mini Interview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Five questions using everything from today — no answers here!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2039112"/>
            <a:ext cx="329184" cy="329184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03911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65960"/>
            <a:ext cx="9359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926"/>
                </a:solidFill>
                <a:latin typeface="Arial"/>
              </a:rPr>
              <a:t>Why is normalization required?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501448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5528" y="2574600"/>
            <a:ext cx="329184" cy="329184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5746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501448"/>
            <a:ext cx="9359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926"/>
                </a:solidFill>
                <a:latin typeface="Arial"/>
              </a:rPr>
              <a:t>Difference between 1NF, 2NF and 3NF?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036936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8" y="3110088"/>
            <a:ext cx="329184" cy="329184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1100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036936"/>
            <a:ext cx="9359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926"/>
                </a:solidFill>
                <a:latin typeface="Arial"/>
              </a:rPr>
              <a:t>What is Partial Dependency?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572424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5528" y="3645576"/>
            <a:ext cx="329184" cy="329184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64557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572424"/>
            <a:ext cx="9359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926"/>
                </a:solidFill>
                <a:latin typeface="Arial"/>
              </a:rPr>
              <a:t>What is Transitive Dependency?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107912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5528" y="4181064"/>
            <a:ext cx="329184" cy="329184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18106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107912"/>
            <a:ext cx="9359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926"/>
                </a:solidFill>
                <a:latin typeface="Arial"/>
              </a:rPr>
              <a:t>When would you denormalize a database?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663400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2C2926"/>
                </a:solidFill>
                <a:latin typeface="Courier New"/>
              </a:rPr>
              <a:t>Normalization</a:t>
            </a:r>
            <a:r>
              <a:rPr sz="1350" b="1" i="0">
                <a:solidFill>
                  <a:srgbClr val="3A93CD"/>
                </a:solidFill>
                <a:latin typeface="Arial"/>
              </a:rPr>
              <a:t>   →   </a:t>
            </a:r>
            <a:r>
              <a:rPr sz="1350" b="1" i="0">
                <a:solidFill>
                  <a:srgbClr val="127A76"/>
                </a:solidFill>
                <a:latin typeface="Arial"/>
              </a:rPr>
              <a:t>JOINS (Next Module)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