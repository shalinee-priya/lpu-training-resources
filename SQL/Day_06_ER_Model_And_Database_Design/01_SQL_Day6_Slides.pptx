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</p:sldIdLst>
  <p:sldSz cx="11430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DFDF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4288536" cy="6858000"/>
          </a:xfrm>
          <a:prstGeom prst="rect">
            <a:avLst/>
          </a:prstGeom>
          <a:solidFill>
            <a:srgbClr val="1F416C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914400" y="640080"/>
            <a:ext cx="2377440" cy="2377440"/>
          </a:xfrm>
          <a:prstGeom prst="ellipse">
            <a:avLst/>
          </a:prstGeom>
          <a:noFill/>
          <a:ln w="15875">
            <a:solidFill>
              <a:srgbClr val="3A93CD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228600" y="3063240"/>
            <a:ext cx="1554480" cy="1554480"/>
          </a:xfrm>
          <a:prstGeom prst="ellipse">
            <a:avLst/>
          </a:prstGeom>
          <a:noFill/>
          <a:ln w="15875">
            <a:solidFill>
              <a:srgbClr val="3A93CD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>
            <a:off x="2148840" y="4160520"/>
            <a:ext cx="1920240" cy="1920240"/>
          </a:xfrm>
          <a:prstGeom prst="ellipse">
            <a:avLst/>
          </a:prstGeom>
          <a:noFill/>
          <a:ln w="15875">
            <a:solidFill>
              <a:srgbClr val="3A93CD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640080" y="1005840"/>
            <a:ext cx="82296" cy="82296"/>
          </a:xfrm>
          <a:prstGeom prst="ellipse">
            <a:avLst/>
          </a:prstGeom>
          <a:solidFill>
            <a:srgbClr val="DFA938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3291840" y="822960"/>
            <a:ext cx="82296" cy="82296"/>
          </a:xfrm>
          <a:prstGeom prst="ellipse">
            <a:avLst/>
          </a:prstGeom>
          <a:solidFill>
            <a:srgbClr val="DFA938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1828800" y="3108960"/>
            <a:ext cx="82296" cy="82296"/>
          </a:xfrm>
          <a:prstGeom prst="ellipse">
            <a:avLst/>
          </a:prstGeom>
          <a:solidFill>
            <a:srgbClr val="DFA938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3566160" y="2743200"/>
            <a:ext cx="82296" cy="82296"/>
          </a:xfrm>
          <a:prstGeom prst="ellipse">
            <a:avLst/>
          </a:prstGeom>
          <a:solidFill>
            <a:srgbClr val="DFA938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0" name="Oval 9"/>
          <p:cNvSpPr/>
          <p:nvPr/>
        </p:nvSpPr>
        <p:spPr>
          <a:xfrm>
            <a:off x="548640" y="5394960"/>
            <a:ext cx="82296" cy="82296"/>
          </a:xfrm>
          <a:prstGeom prst="ellipse">
            <a:avLst/>
          </a:prstGeom>
          <a:solidFill>
            <a:srgbClr val="DFA938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2743200" y="6217920"/>
            <a:ext cx="82296" cy="82296"/>
          </a:xfrm>
          <a:prstGeom prst="ellipse">
            <a:avLst/>
          </a:prstGeom>
          <a:solidFill>
            <a:srgbClr val="DFA938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1463040" y="5852160"/>
            <a:ext cx="82296" cy="82296"/>
          </a:xfrm>
          <a:prstGeom prst="ellipse">
            <a:avLst/>
          </a:prstGeom>
          <a:solidFill>
            <a:srgbClr val="DFA938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3749039" y="4572000"/>
            <a:ext cx="82296" cy="82296"/>
          </a:xfrm>
          <a:prstGeom prst="ellipse">
            <a:avLst/>
          </a:prstGeom>
          <a:solidFill>
            <a:srgbClr val="DFA938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cxnSp>
        <p:nvCxnSpPr>
          <p:cNvPr id="14" name="Connector 13"/>
          <p:cNvCxnSpPr/>
          <p:nvPr/>
        </p:nvCxnSpPr>
        <p:spPr>
          <a:xfrm>
            <a:off x="822960" y="1051560"/>
            <a:ext cx="1005840" cy="2103119"/>
          </a:xfrm>
          <a:prstGeom prst="line">
            <a:avLst/>
          </a:prstGeom>
          <a:ln w="15875">
            <a:solidFill>
              <a:srgbClr val="3A93C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" name="Connector 14"/>
          <p:cNvCxnSpPr/>
          <p:nvPr/>
        </p:nvCxnSpPr>
        <p:spPr>
          <a:xfrm>
            <a:off x="1828800" y="2788920"/>
            <a:ext cx="1783080" cy="365759"/>
          </a:xfrm>
          <a:prstGeom prst="line">
            <a:avLst/>
          </a:prstGeom>
          <a:ln w="15875">
            <a:solidFill>
              <a:srgbClr val="3A93C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" name="Connector 15"/>
          <p:cNvCxnSpPr/>
          <p:nvPr/>
        </p:nvCxnSpPr>
        <p:spPr>
          <a:xfrm>
            <a:off x="1508760" y="5897880"/>
            <a:ext cx="1280160" cy="365760"/>
          </a:xfrm>
          <a:prstGeom prst="line">
            <a:avLst/>
          </a:prstGeom>
          <a:ln w="15875">
            <a:solidFill>
              <a:srgbClr val="3A93C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" name="Connector 16"/>
          <p:cNvCxnSpPr/>
          <p:nvPr/>
        </p:nvCxnSpPr>
        <p:spPr>
          <a:xfrm>
            <a:off x="3337560" y="868680"/>
            <a:ext cx="274319" cy="1920240"/>
          </a:xfrm>
          <a:prstGeom prst="line">
            <a:avLst/>
          </a:prstGeom>
          <a:ln w="15875">
            <a:solidFill>
              <a:srgbClr val="3A93C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8" name="TextBox 17"/>
          <p:cNvSpPr txBox="1"/>
          <p:nvPr/>
        </p:nvSpPr>
        <p:spPr>
          <a:xfrm>
            <a:off x="0" y="3063240"/>
            <a:ext cx="4288536" cy="8229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4600" b="1" i="0">
                <a:solidFill>
                  <a:srgbClr val="FFFFFF"/>
                </a:solidFill>
                <a:latin typeface="Arial"/>
              </a:rPr>
              <a:t>SQL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892040" y="2514600"/>
            <a:ext cx="5852160" cy="13258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2800" b="1" i="0">
                <a:solidFill>
                  <a:srgbClr val="2C2926"/>
                </a:solidFill>
                <a:latin typeface="Arial"/>
              </a:rPr>
              <a:t>SQL Day 6: ER Model &amp; Database Design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892040" y="4069080"/>
            <a:ext cx="5760720" cy="3657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800" b="0" i="0">
                <a:solidFill>
                  <a:srgbClr val="4A4640"/>
                </a:solidFill>
                <a:latin typeface="Arial"/>
              </a:rPr>
              <a:t>Structured Query Language · B.Tech SQL Training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223760" y="5742432"/>
            <a:ext cx="2286000" cy="3840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1300" b="1" i="0">
                <a:solidFill>
                  <a:srgbClr val="D6D6D5"/>
                </a:solidFill>
                <a:latin typeface="Arial"/>
              </a:rPr>
              <a:t>Shalinee Priya</a:t>
            </a:r>
          </a:p>
          <a:p>
            <a:pPr algn="r"/>
            <a:r>
              <a:rPr sz="900" b="0" i="0">
                <a:solidFill>
                  <a:srgbClr val="D6D6D5"/>
                </a:solidFill>
                <a:latin typeface="Arial"/>
              </a:rPr>
              <a:t>Data Analyst | SQL Trainer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11480" y="6473952"/>
            <a:ext cx="1005840" cy="2743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200" b="0" i="0">
                <a:solidFill>
                  <a:srgbClr val="D6D6D5"/>
                </a:solidFill>
                <a:latin typeface="Arial"/>
              </a:rPr>
              <a:t>1/10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DFDF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94360" y="457200"/>
            <a:ext cx="1407950" cy="320040"/>
          </a:xfrm>
          <a:prstGeom prst="rect">
            <a:avLst/>
          </a:prstGeom>
          <a:solidFill>
            <a:srgbClr val="F8ECD3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457200"/>
            <a:ext cx="1407950" cy="3200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100" b="1" i="0">
                <a:solidFill>
                  <a:srgbClr val="2C2926"/>
                </a:solidFill>
                <a:latin typeface="Arial"/>
              </a:rPr>
              <a:t>TODAY'S AGENDA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868680"/>
            <a:ext cx="9875520" cy="56692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3400" b="1" i="0">
                <a:solidFill>
                  <a:srgbClr val="2C2926"/>
                </a:solidFill>
                <a:latin typeface="Arial"/>
              </a:rPr>
              <a:t>What We'll Cover Today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94360" y="1965960"/>
            <a:ext cx="4544568" cy="24688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200" b="0" i="0">
                <a:solidFill>
                  <a:srgbClr val="6B675E"/>
                </a:solidFill>
                <a:latin typeface="Arial"/>
              </a:rPr>
              <a:t>01</a:t>
            </a:r>
          </a:p>
        </p:txBody>
      </p:sp>
      <p:sp>
        <p:nvSpPr>
          <p:cNvPr id="6" name="Rectangle 5"/>
          <p:cNvSpPr/>
          <p:nvPr/>
        </p:nvSpPr>
        <p:spPr>
          <a:xfrm>
            <a:off x="594360" y="2240279"/>
            <a:ext cx="4544568" cy="18288"/>
          </a:xfrm>
          <a:prstGeom prst="rect">
            <a:avLst/>
          </a:prstGeom>
          <a:solidFill>
            <a:srgbClr val="DFA938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94360" y="2304288"/>
            <a:ext cx="4544568" cy="35661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500" b="1" i="0">
                <a:solidFill>
                  <a:srgbClr val="2C2926"/>
                </a:solidFill>
                <a:latin typeface="Arial"/>
              </a:rPr>
              <a:t>Why Database Design?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94360" y="2706624"/>
            <a:ext cx="4544568" cy="24688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200" b="0" i="0">
                <a:solidFill>
                  <a:srgbClr val="6B675E"/>
                </a:solidFill>
                <a:latin typeface="Arial"/>
              </a:rPr>
              <a:t>02</a:t>
            </a:r>
          </a:p>
        </p:txBody>
      </p:sp>
      <p:sp>
        <p:nvSpPr>
          <p:cNvPr id="9" name="Rectangle 8"/>
          <p:cNvSpPr/>
          <p:nvPr/>
        </p:nvSpPr>
        <p:spPr>
          <a:xfrm>
            <a:off x="594360" y="2980943"/>
            <a:ext cx="4544568" cy="18288"/>
          </a:xfrm>
          <a:prstGeom prst="rect">
            <a:avLst/>
          </a:prstGeom>
          <a:solidFill>
            <a:srgbClr val="DFA938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594360" y="3044952"/>
            <a:ext cx="4544568" cy="35661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500" b="1" i="0">
                <a:solidFill>
                  <a:srgbClr val="2C2926"/>
                </a:solidFill>
                <a:latin typeface="Arial"/>
              </a:rPr>
              <a:t>Problems with Poor Design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94360" y="3447288"/>
            <a:ext cx="4544568" cy="24688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200" b="0" i="0">
                <a:solidFill>
                  <a:srgbClr val="6B675E"/>
                </a:solidFill>
                <a:latin typeface="Arial"/>
              </a:rPr>
              <a:t>03</a:t>
            </a:r>
          </a:p>
        </p:txBody>
      </p:sp>
      <p:sp>
        <p:nvSpPr>
          <p:cNvPr id="12" name="Rectangle 11"/>
          <p:cNvSpPr/>
          <p:nvPr/>
        </p:nvSpPr>
        <p:spPr>
          <a:xfrm>
            <a:off x="594360" y="3721607"/>
            <a:ext cx="4544568" cy="18288"/>
          </a:xfrm>
          <a:prstGeom prst="rect">
            <a:avLst/>
          </a:prstGeom>
          <a:solidFill>
            <a:srgbClr val="DFA938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594360" y="3785616"/>
            <a:ext cx="4544568" cy="35661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500" b="1" i="0">
                <a:solidFill>
                  <a:srgbClr val="2C2926"/>
                </a:solidFill>
                <a:latin typeface="Arial"/>
              </a:rPr>
              <a:t>What is an ER Model?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94360" y="4187952"/>
            <a:ext cx="4544568" cy="24688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200" b="0" i="0">
                <a:solidFill>
                  <a:srgbClr val="6B675E"/>
                </a:solidFill>
                <a:latin typeface="Arial"/>
              </a:rPr>
              <a:t>04</a:t>
            </a:r>
          </a:p>
        </p:txBody>
      </p:sp>
      <p:sp>
        <p:nvSpPr>
          <p:cNvPr id="15" name="Rectangle 14"/>
          <p:cNvSpPr/>
          <p:nvPr/>
        </p:nvSpPr>
        <p:spPr>
          <a:xfrm>
            <a:off x="594360" y="4462271"/>
            <a:ext cx="4544568" cy="18288"/>
          </a:xfrm>
          <a:prstGeom prst="rect">
            <a:avLst/>
          </a:prstGeom>
          <a:solidFill>
            <a:srgbClr val="DFA938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594360" y="4526280"/>
            <a:ext cx="4544568" cy="35661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500" b="1" i="0">
                <a:solidFill>
                  <a:srgbClr val="2C2926"/>
                </a:solidFill>
                <a:latin typeface="Arial"/>
              </a:rPr>
              <a:t>Entity &amp; Attribute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94360" y="4928616"/>
            <a:ext cx="4544568" cy="24688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200" b="0" i="0">
                <a:solidFill>
                  <a:srgbClr val="6B675E"/>
                </a:solidFill>
                <a:latin typeface="Arial"/>
              </a:rPr>
              <a:t>05</a:t>
            </a:r>
          </a:p>
        </p:txBody>
      </p:sp>
      <p:sp>
        <p:nvSpPr>
          <p:cNvPr id="18" name="Rectangle 17"/>
          <p:cNvSpPr/>
          <p:nvPr/>
        </p:nvSpPr>
        <p:spPr>
          <a:xfrm>
            <a:off x="594360" y="5202935"/>
            <a:ext cx="4544568" cy="18288"/>
          </a:xfrm>
          <a:prstGeom prst="rect">
            <a:avLst/>
          </a:prstGeom>
          <a:solidFill>
            <a:srgbClr val="DFA938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594360" y="5266944"/>
            <a:ext cx="4544568" cy="35661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500" b="1" i="0">
                <a:solidFill>
                  <a:srgbClr val="2C2926"/>
                </a:solidFill>
                <a:latin typeface="Arial"/>
              </a:rPr>
              <a:t>Relationship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669280" y="1965960"/>
            <a:ext cx="4544568" cy="24688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200" b="0" i="0">
                <a:solidFill>
                  <a:srgbClr val="6B675E"/>
                </a:solidFill>
                <a:latin typeface="Arial"/>
              </a:rPr>
              <a:t>06</a:t>
            </a:r>
          </a:p>
        </p:txBody>
      </p:sp>
      <p:sp>
        <p:nvSpPr>
          <p:cNvPr id="21" name="Rectangle 20"/>
          <p:cNvSpPr/>
          <p:nvPr/>
        </p:nvSpPr>
        <p:spPr>
          <a:xfrm>
            <a:off x="5669280" y="2240279"/>
            <a:ext cx="4544568" cy="18288"/>
          </a:xfrm>
          <a:prstGeom prst="rect">
            <a:avLst/>
          </a:prstGeom>
          <a:solidFill>
            <a:srgbClr val="DFA938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5669280" y="2304288"/>
            <a:ext cx="4544568" cy="35661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500" b="1" i="0">
                <a:solidFill>
                  <a:srgbClr val="2C2926"/>
                </a:solidFill>
                <a:latin typeface="Arial"/>
              </a:rPr>
              <a:t>Cardinality (1:1, 1:M, M:N)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669280" y="2706624"/>
            <a:ext cx="4544568" cy="24688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200" b="0" i="0">
                <a:solidFill>
                  <a:srgbClr val="6B675E"/>
                </a:solidFill>
                <a:latin typeface="Arial"/>
              </a:rPr>
              <a:t>07</a:t>
            </a:r>
          </a:p>
        </p:txBody>
      </p:sp>
      <p:sp>
        <p:nvSpPr>
          <p:cNvPr id="24" name="Rectangle 23"/>
          <p:cNvSpPr/>
          <p:nvPr/>
        </p:nvSpPr>
        <p:spPr>
          <a:xfrm>
            <a:off x="5669280" y="2980943"/>
            <a:ext cx="4544568" cy="18288"/>
          </a:xfrm>
          <a:prstGeom prst="rect">
            <a:avLst/>
          </a:prstGeom>
          <a:solidFill>
            <a:srgbClr val="DFA938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5669280" y="3044952"/>
            <a:ext cx="4544568" cy="35661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500" b="1" i="0">
                <a:solidFill>
                  <a:srgbClr val="2C2926"/>
                </a:solidFill>
                <a:latin typeface="Arial"/>
              </a:rPr>
              <a:t>ER Diagram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5669280" y="3447288"/>
            <a:ext cx="4544568" cy="24688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200" b="0" i="0">
                <a:solidFill>
                  <a:srgbClr val="6B675E"/>
                </a:solidFill>
                <a:latin typeface="Arial"/>
              </a:rPr>
              <a:t>08</a:t>
            </a:r>
          </a:p>
        </p:txBody>
      </p:sp>
      <p:sp>
        <p:nvSpPr>
          <p:cNvPr id="27" name="Rectangle 26"/>
          <p:cNvSpPr/>
          <p:nvPr/>
        </p:nvSpPr>
        <p:spPr>
          <a:xfrm>
            <a:off x="5669280" y="3721607"/>
            <a:ext cx="4544568" cy="18288"/>
          </a:xfrm>
          <a:prstGeom prst="rect">
            <a:avLst/>
          </a:prstGeom>
          <a:solidFill>
            <a:srgbClr val="DFA938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5669280" y="3785616"/>
            <a:ext cx="4544568" cy="35661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500" b="1" i="0">
                <a:solidFill>
                  <a:srgbClr val="2C2926"/>
                </a:solidFill>
                <a:latin typeface="Arial"/>
              </a:rPr>
              <a:t>Convert ER Model into Tables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5669280" y="4187952"/>
            <a:ext cx="4544568" cy="24688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200" b="0" i="0">
                <a:solidFill>
                  <a:srgbClr val="6B675E"/>
                </a:solidFill>
                <a:latin typeface="Arial"/>
              </a:rPr>
              <a:t>09</a:t>
            </a:r>
          </a:p>
        </p:txBody>
      </p:sp>
      <p:sp>
        <p:nvSpPr>
          <p:cNvPr id="30" name="Rectangle 29"/>
          <p:cNvSpPr/>
          <p:nvPr/>
        </p:nvSpPr>
        <p:spPr>
          <a:xfrm>
            <a:off x="5669280" y="4462271"/>
            <a:ext cx="4544568" cy="18288"/>
          </a:xfrm>
          <a:prstGeom prst="rect">
            <a:avLst/>
          </a:prstGeom>
          <a:solidFill>
            <a:srgbClr val="DFA938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5669280" y="4526280"/>
            <a:ext cx="4544568" cy="35661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500" b="1" i="0">
                <a:solidFill>
                  <a:srgbClr val="2C2926"/>
                </a:solidFill>
                <a:latin typeface="Arial"/>
              </a:rPr>
              <a:t>Business Case Study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5669280" y="4928616"/>
            <a:ext cx="4544568" cy="24688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200" b="0" i="0">
                <a:solidFill>
                  <a:srgbClr val="6B675E"/>
                </a:solidFill>
                <a:latin typeface="Arial"/>
              </a:rPr>
              <a:t>10</a:t>
            </a:r>
          </a:p>
        </p:txBody>
      </p:sp>
      <p:sp>
        <p:nvSpPr>
          <p:cNvPr id="33" name="Rectangle 32"/>
          <p:cNvSpPr/>
          <p:nvPr/>
        </p:nvSpPr>
        <p:spPr>
          <a:xfrm>
            <a:off x="5669280" y="5202935"/>
            <a:ext cx="4544568" cy="18288"/>
          </a:xfrm>
          <a:prstGeom prst="rect">
            <a:avLst/>
          </a:prstGeom>
          <a:solidFill>
            <a:srgbClr val="DFA938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5669280" y="5266944"/>
            <a:ext cx="4544568" cy="35661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500" b="1" i="0">
                <a:solidFill>
                  <a:srgbClr val="2C2926"/>
                </a:solidFill>
                <a:latin typeface="Arial"/>
              </a:rPr>
              <a:t>Mini Interview Challenge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7223760" y="5742432"/>
            <a:ext cx="2286000" cy="3840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1300" b="1" i="0">
                <a:solidFill>
                  <a:srgbClr val="D6D6D5"/>
                </a:solidFill>
                <a:latin typeface="Arial"/>
              </a:rPr>
              <a:t>Shalinee Priya</a:t>
            </a:r>
          </a:p>
          <a:p>
            <a:pPr algn="r"/>
            <a:r>
              <a:rPr sz="900" b="0" i="0">
                <a:solidFill>
                  <a:srgbClr val="D6D6D5"/>
                </a:solidFill>
                <a:latin typeface="Arial"/>
              </a:rPr>
              <a:t>Data Analyst | SQL Trainer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411480" y="6473952"/>
            <a:ext cx="1005840" cy="2743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200" b="0" i="0">
                <a:solidFill>
                  <a:srgbClr val="6B675E"/>
                </a:solidFill>
                <a:latin typeface="Arial"/>
              </a:rPr>
              <a:t>2/10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DFDF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94360" y="457200"/>
            <a:ext cx="1160300" cy="320040"/>
          </a:xfrm>
          <a:prstGeom prst="rect">
            <a:avLst/>
          </a:prstGeom>
          <a:solidFill>
            <a:srgbClr val="F8ECD3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457200"/>
            <a:ext cx="1160300" cy="3200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100" b="1" i="0">
                <a:solidFill>
                  <a:srgbClr val="2C2926"/>
                </a:solidFill>
                <a:latin typeface="Arial"/>
              </a:rPr>
              <a:t>DAY 5 → DAY 6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868680"/>
            <a:ext cx="9875520" cy="56692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2800" b="1" i="0">
                <a:solidFill>
                  <a:srgbClr val="2C2926"/>
                </a:solidFill>
                <a:latin typeface="Arial"/>
              </a:rPr>
              <a:t>From Protected Tables to Connected Tables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94360" y="1481328"/>
            <a:ext cx="9875520" cy="34747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300" b="0" i="1">
                <a:solidFill>
                  <a:srgbClr val="6B675E"/>
                </a:solidFill>
                <a:latin typeface="Arial"/>
              </a:rPr>
              <a:t>Before writing JOINS, we first design how tables relate.</a:t>
            </a:r>
          </a:p>
        </p:txBody>
      </p:sp>
      <p:sp>
        <p:nvSpPr>
          <p:cNvPr id="6" name="Rectangle 5"/>
          <p:cNvSpPr/>
          <p:nvPr/>
        </p:nvSpPr>
        <p:spPr>
          <a:xfrm>
            <a:off x="2788920" y="1965960"/>
            <a:ext cx="5852160" cy="438912"/>
          </a:xfrm>
          <a:prstGeom prst="rect">
            <a:avLst/>
          </a:prstGeom>
          <a:solidFill>
            <a:srgbClr val="FFFFFF"/>
          </a:solidFill>
          <a:ln w="15875">
            <a:solidFill>
              <a:srgbClr val="E3DFD6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2788920" y="1965960"/>
            <a:ext cx="5852160" cy="43891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700" b="1" i="0">
                <a:solidFill>
                  <a:srgbClr val="2C2926"/>
                </a:solidFill>
                <a:latin typeface="Arial"/>
              </a:rPr>
              <a:t>Keys &amp; Constraints</a:t>
            </a:r>
          </a:p>
        </p:txBody>
      </p:sp>
      <p:sp>
        <p:nvSpPr>
          <p:cNvPr id="8" name="Isosceles Triangle 7"/>
          <p:cNvSpPr/>
          <p:nvPr/>
        </p:nvSpPr>
        <p:spPr>
          <a:xfrm rot="10800000">
            <a:off x="5641848" y="2456307"/>
            <a:ext cx="146304" cy="109728"/>
          </a:xfrm>
          <a:prstGeom prst="triangle">
            <a:avLst/>
          </a:prstGeom>
          <a:solidFill>
            <a:srgbClr val="3A93CD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2788920" y="2617470"/>
            <a:ext cx="5852160" cy="438912"/>
          </a:xfrm>
          <a:prstGeom prst="rect">
            <a:avLst/>
          </a:prstGeom>
          <a:solidFill>
            <a:srgbClr val="FFFFFF"/>
          </a:solidFill>
          <a:ln w="15875">
            <a:solidFill>
              <a:srgbClr val="E3DFD6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2788920" y="2617470"/>
            <a:ext cx="5852160" cy="43891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700" b="1" i="0">
                <a:solidFill>
                  <a:srgbClr val="2C2926"/>
                </a:solidFill>
                <a:latin typeface="Arial"/>
              </a:rPr>
              <a:t>Reliable Tables</a:t>
            </a:r>
          </a:p>
        </p:txBody>
      </p:sp>
      <p:sp>
        <p:nvSpPr>
          <p:cNvPr id="11" name="Isosceles Triangle 10"/>
          <p:cNvSpPr/>
          <p:nvPr/>
        </p:nvSpPr>
        <p:spPr>
          <a:xfrm rot="10800000">
            <a:off x="5641848" y="3107817"/>
            <a:ext cx="146304" cy="109728"/>
          </a:xfrm>
          <a:prstGeom prst="triangle">
            <a:avLst/>
          </a:prstGeom>
          <a:solidFill>
            <a:srgbClr val="3A93CD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2788920" y="3268980"/>
            <a:ext cx="5852160" cy="438912"/>
          </a:xfrm>
          <a:prstGeom prst="rect">
            <a:avLst/>
          </a:prstGeom>
          <a:solidFill>
            <a:srgbClr val="FFFFFF"/>
          </a:solidFill>
          <a:ln w="15875">
            <a:solidFill>
              <a:srgbClr val="E3DFD6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2788920" y="3268980"/>
            <a:ext cx="5852160" cy="43891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700" b="1" i="0">
                <a:solidFill>
                  <a:srgbClr val="2C2926"/>
                </a:solidFill>
                <a:latin typeface="Arial"/>
              </a:rPr>
              <a:t>ER Model</a:t>
            </a:r>
          </a:p>
        </p:txBody>
      </p:sp>
      <p:sp>
        <p:nvSpPr>
          <p:cNvPr id="14" name="Isosceles Triangle 13"/>
          <p:cNvSpPr/>
          <p:nvPr/>
        </p:nvSpPr>
        <p:spPr>
          <a:xfrm rot="10800000">
            <a:off x="5641848" y="3759327"/>
            <a:ext cx="146304" cy="109728"/>
          </a:xfrm>
          <a:prstGeom prst="triangle">
            <a:avLst/>
          </a:prstGeom>
          <a:solidFill>
            <a:srgbClr val="3A93CD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2788920" y="3920490"/>
            <a:ext cx="5852160" cy="438912"/>
          </a:xfrm>
          <a:prstGeom prst="rect">
            <a:avLst/>
          </a:prstGeom>
          <a:solidFill>
            <a:srgbClr val="FFFFFF"/>
          </a:solidFill>
          <a:ln w="15875">
            <a:solidFill>
              <a:srgbClr val="E3DFD6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2788920" y="3920490"/>
            <a:ext cx="5852160" cy="43891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700" b="1" i="0">
                <a:solidFill>
                  <a:srgbClr val="2C2926"/>
                </a:solidFill>
                <a:latin typeface="Arial"/>
              </a:rPr>
              <a:t>Database Blueprint</a:t>
            </a:r>
          </a:p>
        </p:txBody>
      </p:sp>
      <p:sp>
        <p:nvSpPr>
          <p:cNvPr id="17" name="Isosceles Triangle 16"/>
          <p:cNvSpPr/>
          <p:nvPr/>
        </p:nvSpPr>
        <p:spPr>
          <a:xfrm rot="10800000">
            <a:off x="5641848" y="4410837"/>
            <a:ext cx="146304" cy="109728"/>
          </a:xfrm>
          <a:prstGeom prst="triangle">
            <a:avLst/>
          </a:prstGeom>
          <a:solidFill>
            <a:srgbClr val="3A93CD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2788920" y="4572000"/>
            <a:ext cx="5852160" cy="438912"/>
          </a:xfrm>
          <a:prstGeom prst="rect">
            <a:avLst/>
          </a:prstGeom>
          <a:solidFill>
            <a:srgbClr val="E9F3F3"/>
          </a:solidFill>
          <a:ln w="15875">
            <a:solidFill>
              <a:srgbClr val="BEE0DD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2788920" y="4572000"/>
            <a:ext cx="5852160" cy="43891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700" b="1" i="0">
                <a:solidFill>
                  <a:srgbClr val="127A76"/>
                </a:solidFill>
                <a:latin typeface="Arial"/>
              </a:rPr>
              <a:t>SQL Tables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223760" y="5742432"/>
            <a:ext cx="2286000" cy="3840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1300" b="1" i="0">
                <a:solidFill>
                  <a:srgbClr val="D6D6D5"/>
                </a:solidFill>
                <a:latin typeface="Arial"/>
              </a:rPr>
              <a:t>Shalinee Priya</a:t>
            </a:r>
          </a:p>
          <a:p>
            <a:pPr algn="r"/>
            <a:r>
              <a:rPr sz="900" b="0" i="0">
                <a:solidFill>
                  <a:srgbClr val="D6D6D5"/>
                </a:solidFill>
                <a:latin typeface="Arial"/>
              </a:rPr>
              <a:t>Data Analyst | SQL Trainer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11480" y="6473952"/>
            <a:ext cx="1005840" cy="2743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200" b="0" i="0">
                <a:solidFill>
                  <a:srgbClr val="6B675E"/>
                </a:solidFill>
                <a:latin typeface="Arial"/>
              </a:rPr>
              <a:t>3/10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DFDF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94360" y="457200"/>
            <a:ext cx="1833400" cy="320040"/>
          </a:xfrm>
          <a:prstGeom prst="rect">
            <a:avLst/>
          </a:prstGeom>
          <a:solidFill>
            <a:srgbClr val="F8ECD3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457200"/>
            <a:ext cx="1833400" cy="3200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100" b="1" i="0">
                <a:solidFill>
                  <a:srgbClr val="2C2926"/>
                </a:solidFill>
                <a:latin typeface="Arial"/>
              </a:rPr>
              <a:t>CLASSROOM WARM-UP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868680"/>
            <a:ext cx="9875520" cy="56692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3000" b="1" i="0">
                <a:solidFill>
                  <a:srgbClr val="2C2926"/>
                </a:solidFill>
                <a:latin typeface="Arial"/>
              </a:rPr>
              <a:t>Why Database Design?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94360" y="1481328"/>
            <a:ext cx="9875520" cy="34747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300" b="0" i="1">
                <a:solidFill>
                  <a:srgbClr val="6B675E"/>
                </a:solidFill>
                <a:latin typeface="Arial"/>
              </a:rPr>
              <a:t>Should 5,000 students, 300 faculty and 200 courses be stored in one table?</a:t>
            </a:r>
          </a:p>
        </p:txBody>
      </p:sp>
      <p:sp>
        <p:nvSpPr>
          <p:cNvPr id="6" name="Rectangle 5"/>
          <p:cNvSpPr/>
          <p:nvPr/>
        </p:nvSpPr>
        <p:spPr>
          <a:xfrm>
            <a:off x="594360" y="1965960"/>
            <a:ext cx="4983480" cy="1950000"/>
          </a:xfrm>
          <a:prstGeom prst="rect">
            <a:avLst/>
          </a:prstGeom>
          <a:solidFill>
            <a:srgbClr val="FFFFFF"/>
          </a:solidFill>
          <a:ln w="12700">
            <a:solidFill>
              <a:srgbClr val="E3DFD6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594360" y="1965960"/>
            <a:ext cx="4983480" cy="310896"/>
          </a:xfrm>
          <a:prstGeom prst="rect">
            <a:avLst/>
          </a:prstGeom>
          <a:solidFill>
            <a:srgbClr val="FBEAE8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40664" y="1965960"/>
            <a:ext cx="4690872" cy="31089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100" b="1" i="0">
                <a:solidFill>
                  <a:srgbClr val="C0392B"/>
                </a:solidFill>
                <a:latin typeface="Arial"/>
              </a:rPr>
              <a:t>POOR DESIGN — one big table</a:t>
            </a:r>
          </a:p>
        </p:txBody>
      </p:sp>
      <p:sp>
        <p:nvSpPr>
          <p:cNvPr id="9" name="Rectangle 8"/>
          <p:cNvSpPr/>
          <p:nvPr/>
        </p:nvSpPr>
        <p:spPr>
          <a:xfrm>
            <a:off x="740664" y="2376856"/>
            <a:ext cx="4690872" cy="220000"/>
          </a:xfrm>
          <a:prstGeom prst="rect">
            <a:avLst/>
          </a:prstGeom>
          <a:solidFill>
            <a:srgbClr val="E7E7E7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80664" y="2376856"/>
            <a:ext cx="1503624" cy="2200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000" b="1" i="0">
                <a:solidFill>
                  <a:srgbClr val="2C2926"/>
                </a:solidFill>
                <a:latin typeface="Arial"/>
              </a:rPr>
              <a:t>Student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344288" y="2376856"/>
            <a:ext cx="1503624" cy="2200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000" b="1" i="0">
                <a:solidFill>
                  <a:srgbClr val="2C2926"/>
                </a:solidFill>
                <a:latin typeface="Arial"/>
              </a:rPr>
              <a:t>Dept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907912" y="2376856"/>
            <a:ext cx="1503624" cy="2200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000" b="1" i="0">
                <a:solidFill>
                  <a:srgbClr val="2C2926"/>
                </a:solidFill>
                <a:latin typeface="Arial"/>
              </a:rPr>
              <a:t>Course</a:t>
            </a:r>
          </a:p>
        </p:txBody>
      </p:sp>
      <p:sp>
        <p:nvSpPr>
          <p:cNvPr id="13" name="Rectangle 12"/>
          <p:cNvSpPr/>
          <p:nvPr/>
        </p:nvSpPr>
        <p:spPr>
          <a:xfrm>
            <a:off x="740664" y="2596856"/>
            <a:ext cx="4690872" cy="255000"/>
          </a:xfrm>
          <a:prstGeom prst="rect">
            <a:avLst/>
          </a:prstGeom>
          <a:solidFill>
            <a:srgbClr val="F4F5F6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780664" y="2596856"/>
            <a:ext cx="1503624" cy="2550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000" b="0" i="0">
                <a:solidFill>
                  <a:srgbClr val="4A4640"/>
                </a:solidFill>
                <a:latin typeface="Courier New"/>
              </a:rPr>
              <a:t>S101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2344288" y="2596856"/>
            <a:ext cx="1503624" cy="2550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000" b="0" i="0">
                <a:solidFill>
                  <a:srgbClr val="4A4640"/>
                </a:solidFill>
                <a:latin typeface="Courier New"/>
              </a:rPr>
              <a:t>CS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907912" y="2596856"/>
            <a:ext cx="1503624" cy="2550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000" b="0" i="0">
                <a:solidFill>
                  <a:srgbClr val="4A4640"/>
                </a:solidFill>
                <a:latin typeface="Courier New"/>
              </a:rPr>
              <a:t>DBMS</a:t>
            </a:r>
          </a:p>
        </p:txBody>
      </p:sp>
      <p:sp>
        <p:nvSpPr>
          <p:cNvPr id="17" name="Rectangle 16"/>
          <p:cNvSpPr/>
          <p:nvPr/>
        </p:nvSpPr>
        <p:spPr>
          <a:xfrm>
            <a:off x="740664" y="2851856"/>
            <a:ext cx="4690872" cy="255000"/>
          </a:xfrm>
          <a:prstGeom prst="rect">
            <a:avLst/>
          </a:prstGeom>
          <a:solidFill>
            <a:srgbClr val="FBEAE8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780664" y="2851856"/>
            <a:ext cx="1503624" cy="2550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000" b="0" i="0">
                <a:solidFill>
                  <a:srgbClr val="4A4640"/>
                </a:solidFill>
                <a:latin typeface="Courier New"/>
              </a:rPr>
              <a:t>S101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2344288" y="2851856"/>
            <a:ext cx="1503624" cy="2550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000" b="0" i="0">
                <a:solidFill>
                  <a:srgbClr val="4A4640"/>
                </a:solidFill>
                <a:latin typeface="Courier New"/>
              </a:rPr>
              <a:t>CS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3907912" y="2851856"/>
            <a:ext cx="1503624" cy="2550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000" b="0" i="0">
                <a:solidFill>
                  <a:srgbClr val="4A4640"/>
                </a:solidFill>
                <a:latin typeface="Courier New"/>
              </a:rPr>
              <a:t>DBMS</a:t>
            </a:r>
          </a:p>
        </p:txBody>
      </p:sp>
      <p:sp>
        <p:nvSpPr>
          <p:cNvPr id="21" name="Oval 20"/>
          <p:cNvSpPr/>
          <p:nvPr/>
        </p:nvSpPr>
        <p:spPr>
          <a:xfrm>
            <a:off x="5261536" y="2904356"/>
            <a:ext cx="150000" cy="150000"/>
          </a:xfrm>
          <a:prstGeom prst="ellipse">
            <a:avLst/>
          </a:prstGeom>
          <a:solidFill>
            <a:srgbClr val="C0392B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5261536" y="2904356"/>
            <a:ext cx="150000" cy="1500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000" b="1" i="0">
                <a:solidFill>
                  <a:srgbClr val="FFFFFF"/>
                </a:solidFill>
                <a:latin typeface="Arial"/>
              </a:rPr>
              <a:t>!</a:t>
            </a:r>
          </a:p>
        </p:txBody>
      </p:sp>
      <p:sp>
        <p:nvSpPr>
          <p:cNvPr id="23" name="Rectangle 22"/>
          <p:cNvSpPr/>
          <p:nvPr/>
        </p:nvSpPr>
        <p:spPr>
          <a:xfrm>
            <a:off x="740664" y="3106856"/>
            <a:ext cx="4690872" cy="255000"/>
          </a:xfrm>
          <a:prstGeom prst="rect">
            <a:avLst/>
          </a:prstGeom>
          <a:solidFill>
            <a:srgbClr val="F4F5F6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780664" y="3106856"/>
            <a:ext cx="1503624" cy="2550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000" b="0" i="0">
                <a:solidFill>
                  <a:srgbClr val="4A4640"/>
                </a:solidFill>
                <a:latin typeface="Courier New"/>
              </a:rPr>
              <a:t>S102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2344288" y="3106856"/>
            <a:ext cx="1503624" cy="2550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000" b="0" i="0">
                <a:solidFill>
                  <a:srgbClr val="4A4640"/>
                </a:solidFill>
                <a:latin typeface="Courier New"/>
              </a:rPr>
              <a:t>IT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3907912" y="3106856"/>
            <a:ext cx="1503624" cy="2550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000" b="0" i="0">
                <a:solidFill>
                  <a:srgbClr val="4A4640"/>
                </a:solidFill>
                <a:latin typeface="Courier New"/>
              </a:rPr>
              <a:t>OS</a:t>
            </a:r>
          </a:p>
        </p:txBody>
      </p:sp>
      <p:sp>
        <p:nvSpPr>
          <p:cNvPr id="27" name="Rectangle 26"/>
          <p:cNvSpPr/>
          <p:nvPr/>
        </p:nvSpPr>
        <p:spPr>
          <a:xfrm>
            <a:off x="740664" y="3361856"/>
            <a:ext cx="4690872" cy="255000"/>
          </a:xfrm>
          <a:prstGeom prst="rect">
            <a:avLst/>
          </a:prstGeom>
          <a:solidFill>
            <a:srgbClr val="FBEAE8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780664" y="3361856"/>
            <a:ext cx="1503624" cy="2550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000" b="0" i="0">
                <a:solidFill>
                  <a:srgbClr val="4A4640"/>
                </a:solidFill>
                <a:latin typeface="Courier New"/>
              </a:rPr>
              <a:t>S101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2344288" y="3361856"/>
            <a:ext cx="1503624" cy="2550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000" b="0" i="0">
                <a:solidFill>
                  <a:srgbClr val="4A4640"/>
                </a:solidFill>
                <a:latin typeface="Courier New"/>
              </a:rPr>
              <a:t>CS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3907912" y="3361856"/>
            <a:ext cx="1503624" cy="2550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000" b="0" i="0">
                <a:solidFill>
                  <a:srgbClr val="4A4640"/>
                </a:solidFill>
                <a:latin typeface="Courier New"/>
              </a:rPr>
              <a:t>DBMS</a:t>
            </a:r>
          </a:p>
        </p:txBody>
      </p:sp>
      <p:sp>
        <p:nvSpPr>
          <p:cNvPr id="31" name="Oval 30"/>
          <p:cNvSpPr/>
          <p:nvPr/>
        </p:nvSpPr>
        <p:spPr>
          <a:xfrm>
            <a:off x="5261536" y="3414356"/>
            <a:ext cx="150000" cy="150000"/>
          </a:xfrm>
          <a:prstGeom prst="ellipse">
            <a:avLst/>
          </a:prstGeom>
          <a:solidFill>
            <a:srgbClr val="C0392B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5261536" y="3414356"/>
            <a:ext cx="150000" cy="1500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000" b="1" i="0">
                <a:solidFill>
                  <a:srgbClr val="FFFFFF"/>
                </a:solidFill>
                <a:latin typeface="Arial"/>
              </a:rPr>
              <a:t>!</a:t>
            </a:r>
          </a:p>
        </p:txBody>
      </p:sp>
      <p:sp>
        <p:nvSpPr>
          <p:cNvPr id="33" name="Rectangle 32"/>
          <p:cNvSpPr/>
          <p:nvPr/>
        </p:nvSpPr>
        <p:spPr>
          <a:xfrm>
            <a:off x="5852160" y="1965960"/>
            <a:ext cx="4983480" cy="1950000"/>
          </a:xfrm>
          <a:prstGeom prst="rect">
            <a:avLst/>
          </a:prstGeom>
          <a:solidFill>
            <a:srgbClr val="FFFFFF"/>
          </a:solidFill>
          <a:ln w="12700">
            <a:solidFill>
              <a:srgbClr val="E3DFD6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4" name="Rectangle 33"/>
          <p:cNvSpPr/>
          <p:nvPr/>
        </p:nvSpPr>
        <p:spPr>
          <a:xfrm>
            <a:off x="5852160" y="1965960"/>
            <a:ext cx="4983480" cy="310896"/>
          </a:xfrm>
          <a:prstGeom prst="rect">
            <a:avLst/>
          </a:prstGeom>
          <a:solidFill>
            <a:srgbClr val="E9F3F3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5998464" y="1965960"/>
            <a:ext cx="4690872" cy="31089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100" b="1" i="0">
                <a:solidFill>
                  <a:srgbClr val="127A76"/>
                </a:solidFill>
                <a:latin typeface="Arial"/>
              </a:rPr>
              <a:t>GOOD DESIGN — linked tables</a:t>
            </a:r>
          </a:p>
        </p:txBody>
      </p:sp>
      <p:cxnSp>
        <p:nvCxnSpPr>
          <p:cNvPr id="36" name="Connector 35"/>
          <p:cNvCxnSpPr/>
          <p:nvPr/>
        </p:nvCxnSpPr>
        <p:spPr>
          <a:xfrm>
            <a:off x="7134606" y="2866856"/>
            <a:ext cx="1209294" cy="280000"/>
          </a:xfrm>
          <a:prstGeom prst="line">
            <a:avLst/>
          </a:prstGeom>
          <a:ln w="19050">
            <a:solidFill>
              <a:srgbClr val="127A76"/>
            </a:solidFill>
          </a:ln>
          <a:effectLst/>
        </p:spPr>
      </p:cxnSp>
      <p:cxnSp>
        <p:nvCxnSpPr>
          <p:cNvPr id="37" name="Connector 36"/>
          <p:cNvCxnSpPr/>
          <p:nvPr/>
        </p:nvCxnSpPr>
        <p:spPr>
          <a:xfrm flipH="1">
            <a:off x="8343900" y="2866856"/>
            <a:ext cx="1209294" cy="280000"/>
          </a:xfrm>
          <a:prstGeom prst="line">
            <a:avLst/>
          </a:prstGeom>
          <a:ln w="19050">
            <a:solidFill>
              <a:srgbClr val="127A76"/>
            </a:solidFill>
          </a:ln>
          <a:effectLst/>
        </p:spPr>
      </p:cxnSp>
      <p:sp>
        <p:nvSpPr>
          <p:cNvPr id="38" name="Rectangle 37"/>
          <p:cNvSpPr/>
          <p:nvPr/>
        </p:nvSpPr>
        <p:spPr>
          <a:xfrm>
            <a:off x="5998464" y="2366856"/>
            <a:ext cx="2272284" cy="500000"/>
          </a:xfrm>
          <a:prstGeom prst="rect">
            <a:avLst/>
          </a:prstGeom>
          <a:solidFill>
            <a:srgbClr val="FFFFFF"/>
          </a:solidFill>
          <a:ln w="15875">
            <a:solidFill>
              <a:srgbClr val="E3DFD6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9" name="Rectangle 38"/>
          <p:cNvSpPr/>
          <p:nvPr/>
        </p:nvSpPr>
        <p:spPr>
          <a:xfrm>
            <a:off x="5998464" y="2366856"/>
            <a:ext cx="2272284" cy="190000"/>
          </a:xfrm>
          <a:prstGeom prst="rect">
            <a:avLst/>
          </a:prstGeom>
          <a:solidFill>
            <a:srgbClr val="F4F5F6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5998464" y="2366856"/>
            <a:ext cx="2272284" cy="1900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050" b="1" i="0">
                <a:solidFill>
                  <a:srgbClr val="2C2926"/>
                </a:solidFill>
                <a:latin typeface="Arial"/>
              </a:rPr>
              <a:t>Departments</a:t>
            </a:r>
          </a:p>
        </p:txBody>
      </p:sp>
      <p:cxnSp>
        <p:nvCxnSpPr>
          <p:cNvPr id="41" name="Connector 40"/>
          <p:cNvCxnSpPr/>
          <p:nvPr/>
        </p:nvCxnSpPr>
        <p:spPr>
          <a:xfrm>
            <a:off x="6068464" y="2636856"/>
            <a:ext cx="2132284" cy="0"/>
          </a:xfrm>
          <a:prstGeom prst="line">
            <a:avLst/>
          </a:prstGeom>
          <a:ln w="9525">
            <a:solidFill>
              <a:srgbClr val="E3DFD6"/>
            </a:solidFill>
          </a:ln>
          <a:effectLst/>
        </p:spPr>
      </p:cxnSp>
      <p:cxnSp>
        <p:nvCxnSpPr>
          <p:cNvPr id="42" name="Connector 41"/>
          <p:cNvCxnSpPr/>
          <p:nvPr/>
        </p:nvCxnSpPr>
        <p:spPr>
          <a:xfrm>
            <a:off x="6068464" y="2711856"/>
            <a:ext cx="2132284" cy="0"/>
          </a:xfrm>
          <a:prstGeom prst="line">
            <a:avLst/>
          </a:prstGeom>
          <a:ln w="9525">
            <a:solidFill>
              <a:srgbClr val="E3DFD6"/>
            </a:solidFill>
          </a:ln>
          <a:effectLst/>
        </p:spPr>
      </p:cxnSp>
      <p:sp>
        <p:nvSpPr>
          <p:cNvPr id="43" name="Rectangle 42"/>
          <p:cNvSpPr/>
          <p:nvPr/>
        </p:nvSpPr>
        <p:spPr>
          <a:xfrm>
            <a:off x="8417052" y="2366856"/>
            <a:ext cx="2272284" cy="500000"/>
          </a:xfrm>
          <a:prstGeom prst="rect">
            <a:avLst/>
          </a:prstGeom>
          <a:solidFill>
            <a:srgbClr val="FFFFFF"/>
          </a:solidFill>
          <a:ln w="15875">
            <a:solidFill>
              <a:srgbClr val="E3DFD6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44" name="Rectangle 43"/>
          <p:cNvSpPr/>
          <p:nvPr/>
        </p:nvSpPr>
        <p:spPr>
          <a:xfrm>
            <a:off x="8417052" y="2366856"/>
            <a:ext cx="2272284" cy="190000"/>
          </a:xfrm>
          <a:prstGeom prst="rect">
            <a:avLst/>
          </a:prstGeom>
          <a:solidFill>
            <a:srgbClr val="F4F5F6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8417052" y="2366856"/>
            <a:ext cx="2272284" cy="1900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050" b="1" i="0">
                <a:solidFill>
                  <a:srgbClr val="2C2926"/>
                </a:solidFill>
                <a:latin typeface="Arial"/>
              </a:rPr>
              <a:t>Courses</a:t>
            </a:r>
          </a:p>
        </p:txBody>
      </p:sp>
      <p:cxnSp>
        <p:nvCxnSpPr>
          <p:cNvPr id="46" name="Connector 45"/>
          <p:cNvCxnSpPr/>
          <p:nvPr/>
        </p:nvCxnSpPr>
        <p:spPr>
          <a:xfrm>
            <a:off x="8487052" y="2636856"/>
            <a:ext cx="2132284" cy="0"/>
          </a:xfrm>
          <a:prstGeom prst="line">
            <a:avLst/>
          </a:prstGeom>
          <a:ln w="9525">
            <a:solidFill>
              <a:srgbClr val="E3DFD6"/>
            </a:solidFill>
          </a:ln>
          <a:effectLst/>
        </p:spPr>
      </p:cxnSp>
      <p:cxnSp>
        <p:nvCxnSpPr>
          <p:cNvPr id="47" name="Connector 46"/>
          <p:cNvCxnSpPr/>
          <p:nvPr/>
        </p:nvCxnSpPr>
        <p:spPr>
          <a:xfrm>
            <a:off x="8487052" y="2711856"/>
            <a:ext cx="2132284" cy="0"/>
          </a:xfrm>
          <a:prstGeom prst="line">
            <a:avLst/>
          </a:prstGeom>
          <a:ln w="9525">
            <a:solidFill>
              <a:srgbClr val="E3DFD6"/>
            </a:solidFill>
          </a:ln>
          <a:effectLst/>
        </p:spPr>
      </p:cxnSp>
      <p:sp>
        <p:nvSpPr>
          <p:cNvPr id="48" name="Rectangle 47"/>
          <p:cNvSpPr/>
          <p:nvPr/>
        </p:nvSpPr>
        <p:spPr>
          <a:xfrm>
            <a:off x="7207758" y="3146856"/>
            <a:ext cx="2272284" cy="500000"/>
          </a:xfrm>
          <a:prstGeom prst="rect">
            <a:avLst/>
          </a:prstGeom>
          <a:solidFill>
            <a:srgbClr val="FFFFFF"/>
          </a:solidFill>
          <a:ln w="15875">
            <a:solidFill>
              <a:srgbClr val="E3DFD6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49" name="Rectangle 48"/>
          <p:cNvSpPr/>
          <p:nvPr/>
        </p:nvSpPr>
        <p:spPr>
          <a:xfrm>
            <a:off x="7207758" y="3146856"/>
            <a:ext cx="2272284" cy="190000"/>
          </a:xfrm>
          <a:prstGeom prst="rect">
            <a:avLst/>
          </a:prstGeom>
          <a:solidFill>
            <a:srgbClr val="F4F5F6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50" name="TextBox 49"/>
          <p:cNvSpPr txBox="1"/>
          <p:nvPr/>
        </p:nvSpPr>
        <p:spPr>
          <a:xfrm>
            <a:off x="7207758" y="3146856"/>
            <a:ext cx="2272284" cy="1900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050" b="1" i="0">
                <a:solidFill>
                  <a:srgbClr val="2C2926"/>
                </a:solidFill>
                <a:latin typeface="Arial"/>
              </a:rPr>
              <a:t>Students</a:t>
            </a:r>
          </a:p>
        </p:txBody>
      </p:sp>
      <p:cxnSp>
        <p:nvCxnSpPr>
          <p:cNvPr id="51" name="Connector 50"/>
          <p:cNvCxnSpPr/>
          <p:nvPr/>
        </p:nvCxnSpPr>
        <p:spPr>
          <a:xfrm>
            <a:off x="7277758" y="3416856"/>
            <a:ext cx="2132284" cy="0"/>
          </a:xfrm>
          <a:prstGeom prst="line">
            <a:avLst/>
          </a:prstGeom>
          <a:ln w="9525">
            <a:solidFill>
              <a:srgbClr val="E3DFD6"/>
            </a:solidFill>
          </a:ln>
          <a:effectLst/>
        </p:spPr>
      </p:cxnSp>
      <p:cxnSp>
        <p:nvCxnSpPr>
          <p:cNvPr id="52" name="Connector 51"/>
          <p:cNvCxnSpPr/>
          <p:nvPr/>
        </p:nvCxnSpPr>
        <p:spPr>
          <a:xfrm>
            <a:off x="7277758" y="3491856"/>
            <a:ext cx="2132284" cy="0"/>
          </a:xfrm>
          <a:prstGeom prst="line">
            <a:avLst/>
          </a:prstGeom>
          <a:ln w="9525">
            <a:solidFill>
              <a:srgbClr val="E3DFD6"/>
            </a:solidFill>
          </a:ln>
          <a:effectLst/>
        </p:spPr>
      </p:cxnSp>
      <p:sp>
        <p:nvSpPr>
          <p:cNvPr id="53" name="Oval 52"/>
          <p:cNvSpPr/>
          <p:nvPr/>
        </p:nvSpPr>
        <p:spPr>
          <a:xfrm>
            <a:off x="7659253" y="2926856"/>
            <a:ext cx="160000" cy="160000"/>
          </a:xfrm>
          <a:prstGeom prst="ellipse">
            <a:avLst/>
          </a:prstGeom>
          <a:solidFill>
            <a:srgbClr val="61C554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cxnSp>
        <p:nvCxnSpPr>
          <p:cNvPr id="54" name="Connector 53"/>
          <p:cNvCxnSpPr/>
          <p:nvPr/>
        </p:nvCxnSpPr>
        <p:spPr>
          <a:xfrm>
            <a:off x="7694253" y="3011856"/>
            <a:ext cx="35000" cy="40000"/>
          </a:xfrm>
          <a:prstGeom prst="line">
            <a:avLst/>
          </a:prstGeom>
          <a:ln w="19050">
            <a:solidFill>
              <a:srgbClr val="FFFFFF"/>
            </a:solidFill>
          </a:ln>
          <a:effectLst/>
        </p:spPr>
      </p:cxnSp>
      <p:cxnSp>
        <p:nvCxnSpPr>
          <p:cNvPr id="55" name="Connector 54"/>
          <p:cNvCxnSpPr/>
          <p:nvPr/>
        </p:nvCxnSpPr>
        <p:spPr>
          <a:xfrm flipV="1">
            <a:off x="7729253" y="2966856"/>
            <a:ext cx="65000" cy="85000"/>
          </a:xfrm>
          <a:prstGeom prst="line">
            <a:avLst/>
          </a:prstGeom>
          <a:ln w="19050">
            <a:solidFill>
              <a:srgbClr val="FFFFFF"/>
            </a:solidFill>
          </a:ln>
          <a:effectLst/>
        </p:spPr>
      </p:cxnSp>
      <p:sp>
        <p:nvSpPr>
          <p:cNvPr id="56" name="Oval 55"/>
          <p:cNvSpPr/>
          <p:nvPr/>
        </p:nvSpPr>
        <p:spPr>
          <a:xfrm>
            <a:off x="8868547" y="2926856"/>
            <a:ext cx="160000" cy="160000"/>
          </a:xfrm>
          <a:prstGeom prst="ellipse">
            <a:avLst/>
          </a:prstGeom>
          <a:solidFill>
            <a:srgbClr val="61C554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cxnSp>
        <p:nvCxnSpPr>
          <p:cNvPr id="57" name="Connector 56"/>
          <p:cNvCxnSpPr/>
          <p:nvPr/>
        </p:nvCxnSpPr>
        <p:spPr>
          <a:xfrm>
            <a:off x="8903547" y="3011856"/>
            <a:ext cx="35000" cy="40000"/>
          </a:xfrm>
          <a:prstGeom prst="line">
            <a:avLst/>
          </a:prstGeom>
          <a:ln w="19050">
            <a:solidFill>
              <a:srgbClr val="FFFFFF"/>
            </a:solidFill>
          </a:ln>
          <a:effectLst/>
        </p:spPr>
      </p:cxnSp>
      <p:cxnSp>
        <p:nvCxnSpPr>
          <p:cNvPr id="58" name="Connector 57"/>
          <p:cNvCxnSpPr/>
          <p:nvPr/>
        </p:nvCxnSpPr>
        <p:spPr>
          <a:xfrm flipV="1">
            <a:off x="8938547" y="2966856"/>
            <a:ext cx="65000" cy="85000"/>
          </a:xfrm>
          <a:prstGeom prst="line">
            <a:avLst/>
          </a:prstGeom>
          <a:ln w="19050">
            <a:solidFill>
              <a:srgbClr val="FFFFFF"/>
            </a:solidFill>
          </a:ln>
          <a:effectLst/>
        </p:spPr>
      </p:cxnSp>
      <p:sp>
        <p:nvSpPr>
          <p:cNvPr id="59" name="Rectangle 58"/>
          <p:cNvSpPr/>
          <p:nvPr/>
        </p:nvSpPr>
        <p:spPr>
          <a:xfrm>
            <a:off x="594360" y="4062264"/>
            <a:ext cx="10241280" cy="704850"/>
          </a:xfrm>
          <a:prstGeom prst="rect">
            <a:avLst/>
          </a:prstGeom>
          <a:solidFill>
            <a:srgbClr val="E9F3F3"/>
          </a:solidFill>
          <a:ln w="12700">
            <a:solidFill>
              <a:srgbClr val="BEE0DD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60" name="TextBox 59"/>
          <p:cNvSpPr txBox="1"/>
          <p:nvPr/>
        </p:nvSpPr>
        <p:spPr>
          <a:xfrm>
            <a:off x="795528" y="4153704"/>
            <a:ext cx="9838944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1" i="0">
                <a:solidFill>
                  <a:srgbClr val="127A76"/>
                </a:solidFill>
                <a:latin typeface="Arial"/>
              </a:rPr>
              <a:t>THE THREE ANOMALIES</a:t>
            </a:r>
          </a:p>
        </p:txBody>
      </p:sp>
      <p:sp>
        <p:nvSpPr>
          <p:cNvPr id="61" name="TextBox 60"/>
          <p:cNvSpPr txBox="1"/>
          <p:nvPr/>
        </p:nvSpPr>
        <p:spPr>
          <a:xfrm>
            <a:off x="795528" y="4401160"/>
            <a:ext cx="9838944" cy="30595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1" i="0">
                <a:solidFill>
                  <a:srgbClr val="3A362F"/>
                </a:solidFill>
                <a:latin typeface="Courier New"/>
              </a:rPr>
              <a:t>Update Anomaly</a:t>
            </a:r>
            <a:r>
              <a:rPr sz="1300" b="0" i="0">
                <a:solidFill>
                  <a:srgbClr val="6B675E"/>
                </a:solidFill>
                <a:latin typeface="Arial"/>
              </a:rPr>
              <a:t>   ·   </a:t>
            </a:r>
            <a:r>
              <a:rPr sz="1300" b="1" i="0">
                <a:solidFill>
                  <a:srgbClr val="3A362F"/>
                </a:solidFill>
                <a:latin typeface="Courier New"/>
              </a:rPr>
              <a:t>Insert Anomaly</a:t>
            </a:r>
            <a:r>
              <a:rPr sz="1300" b="0" i="0">
                <a:solidFill>
                  <a:srgbClr val="6B675E"/>
                </a:solidFill>
                <a:latin typeface="Arial"/>
              </a:rPr>
              <a:t>   ·   </a:t>
            </a:r>
            <a:r>
              <a:rPr sz="1300" b="1" i="0">
                <a:solidFill>
                  <a:srgbClr val="3A362F"/>
                </a:solidFill>
                <a:latin typeface="Courier New"/>
              </a:rPr>
              <a:t>Delete Anomaly</a:t>
            </a:r>
          </a:p>
        </p:txBody>
      </p:sp>
      <p:sp>
        <p:nvSpPr>
          <p:cNvPr id="62" name="Rectangle 61"/>
          <p:cNvSpPr/>
          <p:nvPr/>
        </p:nvSpPr>
        <p:spPr>
          <a:xfrm>
            <a:off x="594360" y="4858554"/>
            <a:ext cx="10241280" cy="758952"/>
          </a:xfrm>
          <a:prstGeom prst="rect">
            <a:avLst/>
          </a:prstGeom>
          <a:solidFill>
            <a:srgbClr val="E9F3F3"/>
          </a:solidFill>
          <a:ln w="12700">
            <a:solidFill>
              <a:srgbClr val="BEE0DD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63" name="TextBox 62"/>
          <p:cNvSpPr txBox="1"/>
          <p:nvPr/>
        </p:nvSpPr>
        <p:spPr>
          <a:xfrm>
            <a:off x="795528" y="4949994"/>
            <a:ext cx="9838944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1" i="0">
                <a:solidFill>
                  <a:srgbClr val="127A76"/>
                </a:solidFill>
                <a:latin typeface="Arial"/>
              </a:rPr>
              <a:t>THE TAKEAWAY</a:t>
            </a:r>
          </a:p>
        </p:txBody>
      </p:sp>
      <p:sp>
        <p:nvSpPr>
          <p:cNvPr id="64" name="TextBox 63"/>
          <p:cNvSpPr txBox="1"/>
          <p:nvPr/>
        </p:nvSpPr>
        <p:spPr>
          <a:xfrm>
            <a:off x="795528" y="5197450"/>
            <a:ext cx="9838944" cy="3600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1" i="0">
                <a:solidFill>
                  <a:srgbClr val="3A362F"/>
                </a:solidFill>
                <a:latin typeface="Courier New"/>
              </a:rPr>
              <a:t>Good design </a:t>
            </a:r>
            <a:r>
              <a:rPr sz="1300" b="0" i="0">
                <a:solidFill>
                  <a:srgbClr val="4A4640"/>
                </a:solidFill>
                <a:latin typeface="Arial"/>
              </a:rPr>
              <a:t>isn't optional — it prevents the exact anomalies above before they happen. (Full detail in Normalization, next module.)</a:t>
            </a:r>
          </a:p>
        </p:txBody>
      </p:sp>
      <p:sp>
        <p:nvSpPr>
          <p:cNvPr id="65" name="TextBox 64"/>
          <p:cNvSpPr txBox="1"/>
          <p:nvPr/>
        </p:nvSpPr>
        <p:spPr>
          <a:xfrm>
            <a:off x="7223760" y="5742432"/>
            <a:ext cx="2286000" cy="3840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1300" b="1" i="0">
                <a:solidFill>
                  <a:srgbClr val="D6D6D5"/>
                </a:solidFill>
                <a:latin typeface="Arial"/>
              </a:rPr>
              <a:t>Shalinee Priya</a:t>
            </a:r>
          </a:p>
          <a:p>
            <a:pPr algn="r"/>
            <a:r>
              <a:rPr sz="900" b="0" i="0">
                <a:solidFill>
                  <a:srgbClr val="D6D6D5"/>
                </a:solidFill>
                <a:latin typeface="Arial"/>
              </a:rPr>
              <a:t>Data Analyst | SQL Trainer</a:t>
            </a:r>
          </a:p>
        </p:txBody>
      </p:sp>
      <p:sp>
        <p:nvSpPr>
          <p:cNvPr id="66" name="TextBox 65"/>
          <p:cNvSpPr txBox="1"/>
          <p:nvPr/>
        </p:nvSpPr>
        <p:spPr>
          <a:xfrm>
            <a:off x="411480" y="6473952"/>
            <a:ext cx="1005840" cy="2743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200" b="0" i="0">
                <a:solidFill>
                  <a:srgbClr val="6B675E"/>
                </a:solidFill>
                <a:latin typeface="Arial"/>
              </a:rPr>
              <a:t>4/10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DFDF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94360" y="457200"/>
            <a:ext cx="1992150" cy="320040"/>
          </a:xfrm>
          <a:prstGeom prst="rect">
            <a:avLst/>
          </a:prstGeom>
          <a:solidFill>
            <a:srgbClr val="F8ECD3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457200"/>
            <a:ext cx="1992150" cy="3200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100" b="1" i="0">
                <a:solidFill>
                  <a:srgbClr val="2C2926"/>
                </a:solidFill>
                <a:latin typeface="Arial"/>
              </a:rPr>
              <a:t>CONCEPTUAL BLUEPRINT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868680"/>
            <a:ext cx="9875520" cy="56692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3200" b="1" i="0">
                <a:solidFill>
                  <a:srgbClr val="2C2926"/>
                </a:solidFill>
                <a:latin typeface="Arial"/>
              </a:rPr>
              <a:t>What is an ER Model?</a:t>
            </a:r>
          </a:p>
        </p:txBody>
      </p:sp>
      <p:sp>
        <p:nvSpPr>
          <p:cNvPr id="5" name="Rectangle 4"/>
          <p:cNvSpPr/>
          <p:nvPr/>
        </p:nvSpPr>
        <p:spPr>
          <a:xfrm>
            <a:off x="594360" y="1965960"/>
            <a:ext cx="10241280" cy="731520"/>
          </a:xfrm>
          <a:prstGeom prst="rect">
            <a:avLst/>
          </a:prstGeom>
          <a:solidFill>
            <a:srgbClr val="E9F3F3"/>
          </a:solidFill>
          <a:ln w="12700">
            <a:solidFill>
              <a:srgbClr val="BEE0DD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95528" y="2057400"/>
            <a:ext cx="9838944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1" i="0">
                <a:solidFill>
                  <a:srgbClr val="127A76"/>
                </a:solidFill>
                <a:latin typeface="Arial"/>
              </a:rPr>
              <a:t>DEFINITION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95528" y="2304856"/>
            <a:ext cx="9838944" cy="3326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500" b="1" i="0">
                <a:solidFill>
                  <a:srgbClr val="3A362F"/>
                </a:solidFill>
                <a:latin typeface="Courier New"/>
              </a:rPr>
              <a:t>A conceptual blueprint </a:t>
            </a:r>
            <a:r>
              <a:rPr sz="1500" b="0" i="0">
                <a:solidFill>
                  <a:srgbClr val="4A4640"/>
                </a:solidFill>
                <a:latin typeface="Arial"/>
              </a:rPr>
              <a:t>representing business requirements before creating database tables.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94360" y="3060000"/>
            <a:ext cx="1096410" cy="1750000"/>
          </a:xfrm>
          <a:prstGeom prst="roundRect">
            <a:avLst>
              <a:gd name="adj" fmla="val 14000"/>
            </a:avLst>
          </a:prstGeom>
          <a:solidFill>
            <a:srgbClr val="E9F3F3"/>
          </a:solidFill>
          <a:ln w="15875">
            <a:solidFill>
              <a:srgbClr val="BEE0DD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9" name="Document 8"/>
          <p:cNvSpPr/>
          <p:nvPr/>
        </p:nvSpPr>
        <p:spPr>
          <a:xfrm>
            <a:off x="972565" y="3250000"/>
            <a:ext cx="340000" cy="278800"/>
          </a:xfrm>
          <a:prstGeom prst="flowChartDocument">
            <a:avLst/>
          </a:prstGeom>
          <a:solidFill>
            <a:srgbClr val="FFFFFF"/>
          </a:solidFill>
          <a:ln w="19050">
            <a:solidFill>
              <a:srgbClr val="127A76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cxnSp>
        <p:nvCxnSpPr>
          <p:cNvPr id="10" name="Connector 9"/>
          <p:cNvCxnSpPr/>
          <p:nvPr/>
        </p:nvCxnSpPr>
        <p:spPr>
          <a:xfrm>
            <a:off x="1032565" y="3360000"/>
            <a:ext cx="220000" cy="0"/>
          </a:xfrm>
          <a:prstGeom prst="line">
            <a:avLst/>
          </a:prstGeom>
          <a:ln w="12700">
            <a:solidFill>
              <a:srgbClr val="127A76"/>
            </a:solidFill>
          </a:ln>
          <a:effectLst/>
        </p:spPr>
      </p:cxnSp>
      <p:cxnSp>
        <p:nvCxnSpPr>
          <p:cNvPr id="11" name="Connector 10"/>
          <p:cNvCxnSpPr/>
          <p:nvPr/>
        </p:nvCxnSpPr>
        <p:spPr>
          <a:xfrm>
            <a:off x="1032565" y="3450000"/>
            <a:ext cx="220000" cy="0"/>
          </a:xfrm>
          <a:prstGeom prst="line">
            <a:avLst/>
          </a:prstGeom>
          <a:ln w="12700">
            <a:solidFill>
              <a:srgbClr val="127A76"/>
            </a:solidFill>
          </a:ln>
          <a:effectLst/>
        </p:spPr>
      </p:cxnSp>
      <p:sp>
        <p:nvSpPr>
          <p:cNvPr id="12" name="TextBox 11"/>
          <p:cNvSpPr txBox="1"/>
          <p:nvPr/>
        </p:nvSpPr>
        <p:spPr>
          <a:xfrm>
            <a:off x="644360" y="3700000"/>
            <a:ext cx="996410" cy="1040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5000"/>
              </a:lnSpc>
            </a:pPr>
            <a:r>
              <a:rPr sz="950" b="1" i="0">
                <a:solidFill>
                  <a:srgbClr val="2C2926"/>
                </a:solidFill>
                <a:latin typeface="Arial"/>
              </a:rPr>
              <a:t>Requirement Gathering</a:t>
            </a:r>
          </a:p>
        </p:txBody>
      </p:sp>
      <p:sp>
        <p:nvSpPr>
          <p:cNvPr id="13" name="Isosceles Triangle 12"/>
          <p:cNvSpPr/>
          <p:nvPr/>
        </p:nvSpPr>
        <p:spPr>
          <a:xfrm rot="5400000">
            <a:off x="1735770" y="3887500"/>
            <a:ext cx="120000" cy="95000"/>
          </a:xfrm>
          <a:prstGeom prst="triangle">
            <a:avLst/>
          </a:prstGeom>
          <a:solidFill>
            <a:srgbClr val="3A93CD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4" name="Rounded Rectangle 13"/>
          <p:cNvSpPr/>
          <p:nvPr/>
        </p:nvSpPr>
        <p:spPr>
          <a:xfrm>
            <a:off x="1900770" y="3060000"/>
            <a:ext cx="1096410" cy="1750000"/>
          </a:xfrm>
          <a:prstGeom prst="roundRect">
            <a:avLst>
              <a:gd name="adj" fmla="val 14000"/>
            </a:avLst>
          </a:prstGeom>
          <a:solidFill>
            <a:srgbClr val="E9F3F3"/>
          </a:solidFill>
          <a:ln w="15875">
            <a:solidFill>
              <a:srgbClr val="BEE0DD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5" name="Cube 14"/>
          <p:cNvSpPr/>
          <p:nvPr/>
        </p:nvSpPr>
        <p:spPr>
          <a:xfrm>
            <a:off x="2278975" y="3250000"/>
            <a:ext cx="340000" cy="340000"/>
          </a:xfrm>
          <a:prstGeom prst="cube">
            <a:avLst/>
          </a:prstGeom>
          <a:solidFill>
            <a:srgbClr val="E9F3F3"/>
          </a:solidFill>
          <a:ln w="19050">
            <a:solidFill>
              <a:srgbClr val="127A76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1950770" y="3700000"/>
            <a:ext cx="996410" cy="1040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5000"/>
              </a:lnSpc>
            </a:pPr>
            <a:r>
              <a:rPr sz="950" b="1" i="0">
                <a:solidFill>
                  <a:srgbClr val="2C2926"/>
                </a:solidFill>
                <a:latin typeface="Arial"/>
              </a:rPr>
              <a:t>Identify Entities</a:t>
            </a:r>
          </a:p>
        </p:txBody>
      </p:sp>
      <p:sp>
        <p:nvSpPr>
          <p:cNvPr id="17" name="Isosceles Triangle 16"/>
          <p:cNvSpPr/>
          <p:nvPr/>
        </p:nvSpPr>
        <p:spPr>
          <a:xfrm rot="5400000">
            <a:off x="3042180" y="3887500"/>
            <a:ext cx="120000" cy="95000"/>
          </a:xfrm>
          <a:prstGeom prst="triangle">
            <a:avLst/>
          </a:prstGeom>
          <a:solidFill>
            <a:srgbClr val="3A93CD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8" name="Rounded Rectangle 17"/>
          <p:cNvSpPr/>
          <p:nvPr/>
        </p:nvSpPr>
        <p:spPr>
          <a:xfrm>
            <a:off x="3207180" y="3060000"/>
            <a:ext cx="1096410" cy="1750000"/>
          </a:xfrm>
          <a:prstGeom prst="roundRect">
            <a:avLst>
              <a:gd name="adj" fmla="val 14000"/>
            </a:avLst>
          </a:prstGeom>
          <a:solidFill>
            <a:srgbClr val="E9F3F3"/>
          </a:solidFill>
          <a:ln w="15875">
            <a:solidFill>
              <a:srgbClr val="BEE0DD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9" name="Pentagon 18"/>
          <p:cNvSpPr/>
          <p:nvPr/>
        </p:nvSpPr>
        <p:spPr>
          <a:xfrm>
            <a:off x="3585385" y="3290000"/>
            <a:ext cx="340000" cy="210800"/>
          </a:xfrm>
          <a:prstGeom prst="homePlate">
            <a:avLst/>
          </a:prstGeom>
          <a:solidFill>
            <a:srgbClr val="E9F3F3"/>
          </a:solidFill>
          <a:ln w="19050">
            <a:solidFill>
              <a:srgbClr val="127A76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0" name="Oval 19"/>
          <p:cNvSpPr/>
          <p:nvPr/>
        </p:nvSpPr>
        <p:spPr>
          <a:xfrm>
            <a:off x="3645385" y="3367900"/>
            <a:ext cx="55000" cy="55000"/>
          </a:xfrm>
          <a:prstGeom prst="ellipse">
            <a:avLst/>
          </a:prstGeom>
          <a:solidFill>
            <a:srgbClr val="FFFFFF"/>
          </a:solidFill>
          <a:ln w="9525">
            <a:solidFill>
              <a:srgbClr val="127A76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3257180" y="3700000"/>
            <a:ext cx="996410" cy="1040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5000"/>
              </a:lnSpc>
            </a:pPr>
            <a:r>
              <a:rPr sz="950" b="1" i="0">
                <a:solidFill>
                  <a:srgbClr val="2C2926"/>
                </a:solidFill>
                <a:latin typeface="Arial"/>
              </a:rPr>
              <a:t>Identify Attributes</a:t>
            </a:r>
          </a:p>
        </p:txBody>
      </p:sp>
      <p:sp>
        <p:nvSpPr>
          <p:cNvPr id="22" name="Isosceles Triangle 21"/>
          <p:cNvSpPr/>
          <p:nvPr/>
        </p:nvSpPr>
        <p:spPr>
          <a:xfrm rot="5400000">
            <a:off x="4348590" y="3887500"/>
            <a:ext cx="120000" cy="95000"/>
          </a:xfrm>
          <a:prstGeom prst="triangle">
            <a:avLst/>
          </a:prstGeom>
          <a:solidFill>
            <a:srgbClr val="3A93CD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3" name="Rounded Rectangle 22"/>
          <p:cNvSpPr/>
          <p:nvPr/>
        </p:nvSpPr>
        <p:spPr>
          <a:xfrm>
            <a:off x="4513590" y="3060000"/>
            <a:ext cx="1096410" cy="1750000"/>
          </a:xfrm>
          <a:prstGeom prst="roundRect">
            <a:avLst>
              <a:gd name="adj" fmla="val 14000"/>
            </a:avLst>
          </a:prstGeom>
          <a:solidFill>
            <a:srgbClr val="E9F3F3"/>
          </a:solidFill>
          <a:ln w="15875">
            <a:solidFill>
              <a:srgbClr val="BEE0DD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4" name="Oval 23"/>
          <p:cNvSpPr/>
          <p:nvPr/>
        </p:nvSpPr>
        <p:spPr>
          <a:xfrm>
            <a:off x="4940995" y="3290000"/>
            <a:ext cx="210800" cy="210800"/>
          </a:xfrm>
          <a:prstGeom prst="ellipse">
            <a:avLst/>
          </a:prstGeom>
          <a:noFill/>
          <a:ln w="25400">
            <a:solidFill>
              <a:srgbClr val="127A76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5" name="Oval 24"/>
          <p:cNvSpPr/>
          <p:nvPr/>
        </p:nvSpPr>
        <p:spPr>
          <a:xfrm>
            <a:off x="4971795" y="3290000"/>
            <a:ext cx="210800" cy="210800"/>
          </a:xfrm>
          <a:prstGeom prst="ellipse">
            <a:avLst/>
          </a:prstGeom>
          <a:noFill/>
          <a:ln w="25400">
            <a:solidFill>
              <a:srgbClr val="127A76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4563590" y="3700000"/>
            <a:ext cx="996410" cy="1040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5000"/>
              </a:lnSpc>
            </a:pPr>
            <a:r>
              <a:rPr sz="950" b="1" i="0">
                <a:solidFill>
                  <a:srgbClr val="2C2926"/>
                </a:solidFill>
                <a:latin typeface="Arial"/>
              </a:rPr>
              <a:t>Identify Relationships</a:t>
            </a:r>
          </a:p>
        </p:txBody>
      </p:sp>
      <p:sp>
        <p:nvSpPr>
          <p:cNvPr id="27" name="Isosceles Triangle 26"/>
          <p:cNvSpPr/>
          <p:nvPr/>
        </p:nvSpPr>
        <p:spPr>
          <a:xfrm rot="5400000">
            <a:off x="5655000" y="3887500"/>
            <a:ext cx="120000" cy="95000"/>
          </a:xfrm>
          <a:prstGeom prst="triangle">
            <a:avLst/>
          </a:prstGeom>
          <a:solidFill>
            <a:srgbClr val="3A93CD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8" name="Rounded Rectangle 27"/>
          <p:cNvSpPr/>
          <p:nvPr/>
        </p:nvSpPr>
        <p:spPr>
          <a:xfrm>
            <a:off x="5820000" y="3060000"/>
            <a:ext cx="1096410" cy="1750000"/>
          </a:xfrm>
          <a:prstGeom prst="roundRect">
            <a:avLst>
              <a:gd name="adj" fmla="val 14000"/>
            </a:avLst>
          </a:prstGeom>
          <a:solidFill>
            <a:srgbClr val="E9F3F3"/>
          </a:solidFill>
          <a:ln w="15875">
            <a:solidFill>
              <a:srgbClr val="BEE0DD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cxnSp>
        <p:nvCxnSpPr>
          <p:cNvPr id="29" name="Connector 28"/>
          <p:cNvCxnSpPr/>
          <p:nvPr/>
        </p:nvCxnSpPr>
        <p:spPr>
          <a:xfrm flipH="1">
            <a:off x="6260705" y="3312500"/>
            <a:ext cx="107500" cy="235000"/>
          </a:xfrm>
          <a:prstGeom prst="line">
            <a:avLst/>
          </a:prstGeom>
          <a:ln w="15875">
            <a:solidFill>
              <a:srgbClr val="127A76"/>
            </a:solidFill>
          </a:ln>
          <a:effectLst/>
        </p:spPr>
      </p:cxnSp>
      <p:cxnSp>
        <p:nvCxnSpPr>
          <p:cNvPr id="30" name="Connector 29"/>
          <p:cNvCxnSpPr/>
          <p:nvPr/>
        </p:nvCxnSpPr>
        <p:spPr>
          <a:xfrm>
            <a:off x="6368205" y="3312500"/>
            <a:ext cx="107500" cy="235000"/>
          </a:xfrm>
          <a:prstGeom prst="line">
            <a:avLst/>
          </a:prstGeom>
          <a:ln w="15875">
            <a:solidFill>
              <a:srgbClr val="127A76"/>
            </a:solidFill>
          </a:ln>
          <a:effectLst/>
        </p:spPr>
      </p:cxnSp>
      <p:sp>
        <p:nvSpPr>
          <p:cNvPr id="31" name="Oval 30"/>
          <p:cNvSpPr/>
          <p:nvPr/>
        </p:nvSpPr>
        <p:spPr>
          <a:xfrm>
            <a:off x="6325705" y="3270000"/>
            <a:ext cx="85000" cy="85000"/>
          </a:xfrm>
          <a:prstGeom prst="ellipse">
            <a:avLst/>
          </a:prstGeom>
          <a:solidFill>
            <a:srgbClr val="127A76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2" name="Oval 31"/>
          <p:cNvSpPr/>
          <p:nvPr/>
        </p:nvSpPr>
        <p:spPr>
          <a:xfrm>
            <a:off x="6218205" y="3505000"/>
            <a:ext cx="85000" cy="85000"/>
          </a:xfrm>
          <a:prstGeom prst="ellipse">
            <a:avLst/>
          </a:prstGeom>
          <a:solidFill>
            <a:srgbClr val="127A76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3" name="Oval 32"/>
          <p:cNvSpPr/>
          <p:nvPr/>
        </p:nvSpPr>
        <p:spPr>
          <a:xfrm>
            <a:off x="6433205" y="3505000"/>
            <a:ext cx="85000" cy="85000"/>
          </a:xfrm>
          <a:prstGeom prst="ellipse">
            <a:avLst/>
          </a:prstGeom>
          <a:solidFill>
            <a:srgbClr val="127A76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5870000" y="3700000"/>
            <a:ext cx="996410" cy="1040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5000"/>
              </a:lnSpc>
            </a:pPr>
            <a:r>
              <a:rPr sz="950" b="1" i="0">
                <a:solidFill>
                  <a:srgbClr val="2C2926"/>
                </a:solidFill>
                <a:latin typeface="Arial"/>
              </a:rPr>
              <a:t>Decide Cardinality</a:t>
            </a:r>
          </a:p>
        </p:txBody>
      </p:sp>
      <p:sp>
        <p:nvSpPr>
          <p:cNvPr id="35" name="Isosceles Triangle 34"/>
          <p:cNvSpPr/>
          <p:nvPr/>
        </p:nvSpPr>
        <p:spPr>
          <a:xfrm rot="5400000">
            <a:off x="6961410" y="3887500"/>
            <a:ext cx="120000" cy="95000"/>
          </a:xfrm>
          <a:prstGeom prst="triangle">
            <a:avLst/>
          </a:prstGeom>
          <a:solidFill>
            <a:srgbClr val="3A93CD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6" name="Rounded Rectangle 35"/>
          <p:cNvSpPr/>
          <p:nvPr/>
        </p:nvSpPr>
        <p:spPr>
          <a:xfrm>
            <a:off x="7126410" y="3060000"/>
            <a:ext cx="1096410" cy="1750000"/>
          </a:xfrm>
          <a:prstGeom prst="roundRect">
            <a:avLst>
              <a:gd name="adj" fmla="val 14000"/>
            </a:avLst>
          </a:prstGeom>
          <a:solidFill>
            <a:srgbClr val="E9F3F3"/>
          </a:solidFill>
          <a:ln w="15875">
            <a:solidFill>
              <a:srgbClr val="BEE0DD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cxnSp>
        <p:nvCxnSpPr>
          <p:cNvPr id="37" name="Connector 36"/>
          <p:cNvCxnSpPr/>
          <p:nvPr/>
        </p:nvCxnSpPr>
        <p:spPr>
          <a:xfrm>
            <a:off x="7674615" y="3365000"/>
            <a:ext cx="110000" cy="135000"/>
          </a:xfrm>
          <a:prstGeom prst="line">
            <a:avLst/>
          </a:prstGeom>
          <a:ln w="12700">
            <a:solidFill>
              <a:srgbClr val="127A76"/>
            </a:solidFill>
          </a:ln>
          <a:effectLst/>
        </p:spPr>
      </p:cxnSp>
      <p:sp>
        <p:nvSpPr>
          <p:cNvPr id="38" name="Rectangle 37"/>
          <p:cNvSpPr/>
          <p:nvPr/>
        </p:nvSpPr>
        <p:spPr>
          <a:xfrm>
            <a:off x="7504615" y="3310000"/>
            <a:ext cx="170000" cy="110000"/>
          </a:xfrm>
          <a:prstGeom prst="rect">
            <a:avLst/>
          </a:prstGeom>
          <a:solidFill>
            <a:srgbClr val="E9F3F3"/>
          </a:solidFill>
          <a:ln w="15875">
            <a:solidFill>
              <a:srgbClr val="127A76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9" name="Oval 38"/>
          <p:cNvSpPr/>
          <p:nvPr/>
        </p:nvSpPr>
        <p:spPr>
          <a:xfrm>
            <a:off x="7724615" y="3440000"/>
            <a:ext cx="120000" cy="120000"/>
          </a:xfrm>
          <a:prstGeom prst="ellipse">
            <a:avLst/>
          </a:prstGeom>
          <a:solidFill>
            <a:srgbClr val="DFA938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7176410" y="3700000"/>
            <a:ext cx="996410" cy="1040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5000"/>
              </a:lnSpc>
            </a:pPr>
            <a:r>
              <a:rPr sz="950" b="1" i="0">
                <a:solidFill>
                  <a:srgbClr val="2C2926"/>
                </a:solidFill>
                <a:latin typeface="Arial"/>
              </a:rPr>
              <a:t>Draw ER Diagram</a:t>
            </a:r>
          </a:p>
        </p:txBody>
      </p:sp>
      <p:sp>
        <p:nvSpPr>
          <p:cNvPr id="41" name="Isosceles Triangle 40"/>
          <p:cNvSpPr/>
          <p:nvPr/>
        </p:nvSpPr>
        <p:spPr>
          <a:xfrm rot="5400000">
            <a:off x="8267820" y="3887500"/>
            <a:ext cx="120000" cy="95000"/>
          </a:xfrm>
          <a:prstGeom prst="triangle">
            <a:avLst/>
          </a:prstGeom>
          <a:solidFill>
            <a:srgbClr val="3A93CD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42" name="Rounded Rectangle 41"/>
          <p:cNvSpPr/>
          <p:nvPr/>
        </p:nvSpPr>
        <p:spPr>
          <a:xfrm>
            <a:off x="8432820" y="3060000"/>
            <a:ext cx="1096410" cy="1750000"/>
          </a:xfrm>
          <a:prstGeom prst="roundRect">
            <a:avLst>
              <a:gd name="adj" fmla="val 14000"/>
            </a:avLst>
          </a:prstGeom>
          <a:solidFill>
            <a:srgbClr val="E9F3F3"/>
          </a:solidFill>
          <a:ln w="15875">
            <a:solidFill>
              <a:srgbClr val="BEE0DD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43" name="Rectangle 42"/>
          <p:cNvSpPr/>
          <p:nvPr/>
        </p:nvSpPr>
        <p:spPr>
          <a:xfrm>
            <a:off x="8811025" y="3280000"/>
            <a:ext cx="340000" cy="265200"/>
          </a:xfrm>
          <a:prstGeom prst="rect">
            <a:avLst/>
          </a:prstGeom>
          <a:solidFill>
            <a:srgbClr val="FFFFFF"/>
          </a:solidFill>
          <a:ln w="19050">
            <a:solidFill>
              <a:srgbClr val="127A76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cxnSp>
        <p:nvCxnSpPr>
          <p:cNvPr id="44" name="Connector 43"/>
          <p:cNvCxnSpPr/>
          <p:nvPr/>
        </p:nvCxnSpPr>
        <p:spPr>
          <a:xfrm>
            <a:off x="8811025" y="3412600"/>
            <a:ext cx="340000" cy="0"/>
          </a:xfrm>
          <a:prstGeom prst="line">
            <a:avLst/>
          </a:prstGeom>
          <a:ln w="12700">
            <a:solidFill>
              <a:srgbClr val="127A76"/>
            </a:solidFill>
          </a:ln>
          <a:effectLst/>
        </p:spPr>
      </p:cxnSp>
      <p:cxnSp>
        <p:nvCxnSpPr>
          <p:cNvPr id="45" name="Connector 44"/>
          <p:cNvCxnSpPr/>
          <p:nvPr/>
        </p:nvCxnSpPr>
        <p:spPr>
          <a:xfrm>
            <a:off x="8981025" y="3280000"/>
            <a:ext cx="0" cy="265200"/>
          </a:xfrm>
          <a:prstGeom prst="line">
            <a:avLst/>
          </a:prstGeom>
          <a:ln w="12700">
            <a:solidFill>
              <a:srgbClr val="127A76"/>
            </a:solidFill>
          </a:ln>
          <a:effectLst/>
        </p:spPr>
      </p:cxnSp>
      <p:sp>
        <p:nvSpPr>
          <p:cNvPr id="46" name="TextBox 45"/>
          <p:cNvSpPr txBox="1"/>
          <p:nvPr/>
        </p:nvSpPr>
        <p:spPr>
          <a:xfrm>
            <a:off x="8482820" y="3700000"/>
            <a:ext cx="996410" cy="1040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5000"/>
              </a:lnSpc>
            </a:pPr>
            <a:r>
              <a:rPr sz="950" b="1" i="0">
                <a:solidFill>
                  <a:srgbClr val="2C2926"/>
                </a:solidFill>
                <a:latin typeface="Arial"/>
              </a:rPr>
              <a:t>Convert into Tables</a:t>
            </a:r>
          </a:p>
        </p:txBody>
      </p:sp>
      <p:sp>
        <p:nvSpPr>
          <p:cNvPr id="47" name="Isosceles Triangle 46"/>
          <p:cNvSpPr/>
          <p:nvPr/>
        </p:nvSpPr>
        <p:spPr>
          <a:xfrm rot="5400000">
            <a:off x="9574230" y="3887500"/>
            <a:ext cx="120000" cy="95000"/>
          </a:xfrm>
          <a:prstGeom prst="triangle">
            <a:avLst/>
          </a:prstGeom>
          <a:solidFill>
            <a:srgbClr val="3A93CD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48" name="Rounded Rectangle 47"/>
          <p:cNvSpPr/>
          <p:nvPr/>
        </p:nvSpPr>
        <p:spPr>
          <a:xfrm>
            <a:off x="9739230" y="3060000"/>
            <a:ext cx="1096410" cy="1750000"/>
          </a:xfrm>
          <a:prstGeom prst="roundRect">
            <a:avLst>
              <a:gd name="adj" fmla="val 14000"/>
            </a:avLst>
          </a:prstGeom>
          <a:solidFill>
            <a:srgbClr val="E9F3F3"/>
          </a:solidFill>
          <a:ln w="15875">
            <a:solidFill>
              <a:srgbClr val="BEE0DD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49" name="Can 48"/>
          <p:cNvSpPr/>
          <p:nvPr/>
        </p:nvSpPr>
        <p:spPr>
          <a:xfrm>
            <a:off x="10117435" y="3250000"/>
            <a:ext cx="340000" cy="357000"/>
          </a:xfrm>
          <a:prstGeom prst="can">
            <a:avLst/>
          </a:prstGeom>
          <a:solidFill>
            <a:srgbClr val="E9F3F3"/>
          </a:solidFill>
          <a:ln w="19050">
            <a:solidFill>
              <a:srgbClr val="127A76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50" name="TextBox 49"/>
          <p:cNvSpPr txBox="1"/>
          <p:nvPr/>
        </p:nvSpPr>
        <p:spPr>
          <a:xfrm>
            <a:off x="9789230" y="3700000"/>
            <a:ext cx="996410" cy="1040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5000"/>
              </a:lnSpc>
            </a:pPr>
            <a:r>
              <a:rPr sz="950" b="1" i="0">
                <a:solidFill>
                  <a:srgbClr val="2C2926"/>
                </a:solidFill>
                <a:latin typeface="Arial"/>
              </a:rPr>
              <a:t>Write SQL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594360" y="5030000"/>
            <a:ext cx="10241280" cy="2800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300" b="1" i="0">
                <a:solidFill>
                  <a:srgbClr val="2C2926"/>
                </a:solidFill>
                <a:latin typeface="Arial"/>
              </a:rPr>
              <a:t>Business Requirement</a:t>
            </a:r>
            <a:r>
              <a:rPr sz="1300" b="1" i="0">
                <a:solidFill>
                  <a:srgbClr val="3A93CD"/>
                </a:solidFill>
                <a:latin typeface="Arial"/>
              </a:rPr>
              <a:t>   →   </a:t>
            </a:r>
            <a:r>
              <a:rPr sz="1300" b="1" i="0">
                <a:solidFill>
                  <a:srgbClr val="2C2926"/>
                </a:solidFill>
                <a:latin typeface="Arial"/>
              </a:rPr>
              <a:t>ER Diagram</a:t>
            </a:r>
            <a:r>
              <a:rPr sz="1300" b="1" i="0">
                <a:solidFill>
                  <a:srgbClr val="3A93CD"/>
                </a:solidFill>
                <a:latin typeface="Arial"/>
              </a:rPr>
              <a:t>   →   </a:t>
            </a:r>
            <a:r>
              <a:rPr sz="1300" b="1" i="0">
                <a:solidFill>
                  <a:srgbClr val="127A76"/>
                </a:solidFill>
                <a:latin typeface="Arial"/>
              </a:rPr>
              <a:t>SQL Database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7223760" y="5742432"/>
            <a:ext cx="2286000" cy="3840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1300" b="1" i="0">
                <a:solidFill>
                  <a:srgbClr val="D6D6D5"/>
                </a:solidFill>
                <a:latin typeface="Arial"/>
              </a:rPr>
              <a:t>Shalinee Priya</a:t>
            </a:r>
          </a:p>
          <a:p>
            <a:pPr algn="r"/>
            <a:r>
              <a:rPr sz="900" b="0" i="0">
                <a:solidFill>
                  <a:srgbClr val="D6D6D5"/>
                </a:solidFill>
                <a:latin typeface="Arial"/>
              </a:rPr>
              <a:t>Data Analyst | SQL Trainer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411480" y="6473952"/>
            <a:ext cx="1005840" cy="2743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200" b="0" i="0">
                <a:solidFill>
                  <a:srgbClr val="6B675E"/>
                </a:solidFill>
                <a:latin typeface="Arial"/>
              </a:rPr>
              <a:t>5/10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DFDF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94360" y="457200"/>
            <a:ext cx="1458750" cy="320040"/>
          </a:xfrm>
          <a:prstGeom prst="rect">
            <a:avLst/>
          </a:prstGeom>
          <a:solidFill>
            <a:srgbClr val="F8ECD3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457200"/>
            <a:ext cx="1458750" cy="3200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100" b="1" i="0">
                <a:solidFill>
                  <a:srgbClr val="2C2926"/>
                </a:solidFill>
                <a:latin typeface="Arial"/>
              </a:rPr>
              <a:t>BUILDING BLOCKS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868680"/>
            <a:ext cx="9875520" cy="56692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3200" b="1" i="0">
                <a:solidFill>
                  <a:srgbClr val="2C2926"/>
                </a:solidFill>
                <a:latin typeface="Arial"/>
              </a:rPr>
              <a:t>Entity &amp; Attribute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94360" y="1481328"/>
            <a:ext cx="9875520" cy="34747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300" b="0" i="1">
                <a:solidFill>
                  <a:srgbClr val="6B675E"/>
                </a:solidFill>
                <a:latin typeface="Arial"/>
              </a:rPr>
              <a:t>Every ER Model starts with one entity and its describing attributes.</a:t>
            </a:r>
          </a:p>
        </p:txBody>
      </p:sp>
      <p:sp>
        <p:nvSpPr>
          <p:cNvPr id="6" name="Rectangle 5"/>
          <p:cNvSpPr/>
          <p:nvPr/>
        </p:nvSpPr>
        <p:spPr>
          <a:xfrm>
            <a:off x="594360" y="1965960"/>
            <a:ext cx="5852160" cy="1200000"/>
          </a:xfrm>
          <a:prstGeom prst="rect">
            <a:avLst/>
          </a:prstGeom>
          <a:solidFill>
            <a:srgbClr val="FFFFFF"/>
          </a:solidFill>
          <a:ln w="12700">
            <a:solidFill>
              <a:srgbClr val="E3DFD6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54360" y="2305960"/>
            <a:ext cx="1350000" cy="520000"/>
          </a:xfrm>
          <a:prstGeom prst="rect">
            <a:avLst/>
          </a:prstGeom>
          <a:solidFill>
            <a:srgbClr val="3FA34D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54360" y="2305960"/>
            <a:ext cx="1350000" cy="5200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Arial"/>
              </a:rPr>
              <a:t>STUDENT</a:t>
            </a:r>
          </a:p>
        </p:txBody>
      </p:sp>
      <p:cxnSp>
        <p:nvCxnSpPr>
          <p:cNvPr id="9" name="Connector 8"/>
          <p:cNvCxnSpPr/>
          <p:nvPr/>
        </p:nvCxnSpPr>
        <p:spPr>
          <a:xfrm flipV="1">
            <a:off x="2104360" y="2120960"/>
            <a:ext cx="620000" cy="445000"/>
          </a:xfrm>
          <a:prstGeom prst="line">
            <a:avLst/>
          </a:prstGeom>
          <a:ln w="12700">
            <a:solidFill>
              <a:srgbClr val="E3DFD6"/>
            </a:solidFill>
          </a:ln>
          <a:effectLst/>
        </p:spPr>
      </p:cxnSp>
      <p:sp>
        <p:nvSpPr>
          <p:cNvPr id="10" name="Oval 9"/>
          <p:cNvSpPr/>
          <p:nvPr/>
        </p:nvSpPr>
        <p:spPr>
          <a:xfrm>
            <a:off x="2724360" y="2025960"/>
            <a:ext cx="1500000" cy="190000"/>
          </a:xfrm>
          <a:prstGeom prst="ellipse">
            <a:avLst/>
          </a:prstGeom>
          <a:solidFill>
            <a:srgbClr val="DFA938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2724360" y="2025960"/>
            <a:ext cx="1500000" cy="1900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050" b="1" i="0" u="sng">
                <a:solidFill>
                  <a:srgbClr val="2C2926"/>
                </a:solidFill>
                <a:latin typeface="Arial"/>
              </a:rPr>
              <a:t>Student_ID</a:t>
            </a:r>
          </a:p>
        </p:txBody>
      </p:sp>
      <p:cxnSp>
        <p:nvCxnSpPr>
          <p:cNvPr id="12" name="Connector 11"/>
          <p:cNvCxnSpPr/>
          <p:nvPr/>
        </p:nvCxnSpPr>
        <p:spPr>
          <a:xfrm flipV="1">
            <a:off x="2104360" y="2343460"/>
            <a:ext cx="620000" cy="222500"/>
          </a:xfrm>
          <a:prstGeom prst="line">
            <a:avLst/>
          </a:prstGeom>
          <a:ln w="12700">
            <a:solidFill>
              <a:srgbClr val="E3DFD6"/>
            </a:solidFill>
          </a:ln>
          <a:effectLst/>
        </p:spPr>
      </p:cxnSp>
      <p:sp>
        <p:nvSpPr>
          <p:cNvPr id="13" name="Oval 12"/>
          <p:cNvSpPr/>
          <p:nvPr/>
        </p:nvSpPr>
        <p:spPr>
          <a:xfrm>
            <a:off x="2724360" y="2248460"/>
            <a:ext cx="1500000" cy="190000"/>
          </a:xfrm>
          <a:prstGeom prst="ellipse">
            <a:avLst/>
          </a:prstGeom>
          <a:solidFill>
            <a:srgbClr val="DFA938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2724360" y="2248460"/>
            <a:ext cx="1500000" cy="1900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050" b="1" i="0">
                <a:solidFill>
                  <a:srgbClr val="2C2926"/>
                </a:solidFill>
                <a:latin typeface="Arial"/>
              </a:rPr>
              <a:t>Name</a:t>
            </a:r>
          </a:p>
        </p:txBody>
      </p:sp>
      <p:cxnSp>
        <p:nvCxnSpPr>
          <p:cNvPr id="15" name="Connector 14"/>
          <p:cNvCxnSpPr/>
          <p:nvPr/>
        </p:nvCxnSpPr>
        <p:spPr>
          <a:xfrm>
            <a:off x="2104360" y="2565960"/>
            <a:ext cx="620000" cy="0"/>
          </a:xfrm>
          <a:prstGeom prst="line">
            <a:avLst/>
          </a:prstGeom>
          <a:ln w="12700">
            <a:solidFill>
              <a:srgbClr val="E3DFD6"/>
            </a:solidFill>
          </a:ln>
          <a:effectLst/>
        </p:spPr>
      </p:cxnSp>
      <p:sp>
        <p:nvSpPr>
          <p:cNvPr id="16" name="Oval 15"/>
          <p:cNvSpPr/>
          <p:nvPr/>
        </p:nvSpPr>
        <p:spPr>
          <a:xfrm>
            <a:off x="2724360" y="2470960"/>
            <a:ext cx="1500000" cy="190000"/>
          </a:xfrm>
          <a:prstGeom prst="ellipse">
            <a:avLst/>
          </a:prstGeom>
          <a:solidFill>
            <a:srgbClr val="DFA938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2724360" y="2470960"/>
            <a:ext cx="1500000" cy="1900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050" b="1" i="0">
                <a:solidFill>
                  <a:srgbClr val="2C2926"/>
                </a:solidFill>
                <a:latin typeface="Arial"/>
              </a:rPr>
              <a:t>Email</a:t>
            </a:r>
          </a:p>
        </p:txBody>
      </p:sp>
      <p:cxnSp>
        <p:nvCxnSpPr>
          <p:cNvPr id="18" name="Connector 17"/>
          <p:cNvCxnSpPr/>
          <p:nvPr/>
        </p:nvCxnSpPr>
        <p:spPr>
          <a:xfrm>
            <a:off x="2104360" y="2565960"/>
            <a:ext cx="620000" cy="222500"/>
          </a:xfrm>
          <a:prstGeom prst="line">
            <a:avLst/>
          </a:prstGeom>
          <a:ln w="12700">
            <a:solidFill>
              <a:srgbClr val="E3DFD6"/>
            </a:solidFill>
          </a:ln>
          <a:effectLst/>
        </p:spPr>
      </p:cxnSp>
      <p:sp>
        <p:nvSpPr>
          <p:cNvPr id="19" name="Oval 18"/>
          <p:cNvSpPr/>
          <p:nvPr/>
        </p:nvSpPr>
        <p:spPr>
          <a:xfrm>
            <a:off x="2724360" y="2693460"/>
            <a:ext cx="1500000" cy="190000"/>
          </a:xfrm>
          <a:prstGeom prst="ellipse">
            <a:avLst/>
          </a:prstGeom>
          <a:solidFill>
            <a:srgbClr val="DFA938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2724360" y="2693460"/>
            <a:ext cx="1500000" cy="1900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050" b="1" i="0">
                <a:solidFill>
                  <a:srgbClr val="2C2926"/>
                </a:solidFill>
                <a:latin typeface="Arial"/>
              </a:rPr>
              <a:t>Phone</a:t>
            </a:r>
          </a:p>
        </p:txBody>
      </p:sp>
      <p:cxnSp>
        <p:nvCxnSpPr>
          <p:cNvPr id="21" name="Connector 20"/>
          <p:cNvCxnSpPr/>
          <p:nvPr/>
        </p:nvCxnSpPr>
        <p:spPr>
          <a:xfrm>
            <a:off x="2104360" y="2565960"/>
            <a:ext cx="620000" cy="445000"/>
          </a:xfrm>
          <a:prstGeom prst="line">
            <a:avLst/>
          </a:prstGeom>
          <a:ln w="12700">
            <a:solidFill>
              <a:srgbClr val="E3DFD6"/>
            </a:solidFill>
          </a:ln>
          <a:effectLst/>
        </p:spPr>
      </p:cxnSp>
      <p:sp>
        <p:nvSpPr>
          <p:cNvPr id="22" name="Oval 21"/>
          <p:cNvSpPr/>
          <p:nvPr/>
        </p:nvSpPr>
        <p:spPr>
          <a:xfrm>
            <a:off x="2724360" y="2915960"/>
            <a:ext cx="1500000" cy="190000"/>
          </a:xfrm>
          <a:prstGeom prst="ellipse">
            <a:avLst/>
          </a:prstGeom>
          <a:solidFill>
            <a:srgbClr val="DFA938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2724360" y="2915960"/>
            <a:ext cx="1500000" cy="1900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050" b="1" i="0">
                <a:solidFill>
                  <a:srgbClr val="2C2926"/>
                </a:solidFill>
                <a:latin typeface="Arial"/>
              </a:rPr>
              <a:t>DOB</a:t>
            </a:r>
          </a:p>
        </p:txBody>
      </p:sp>
      <p:sp>
        <p:nvSpPr>
          <p:cNvPr id="24" name="Rectangle 23"/>
          <p:cNvSpPr/>
          <p:nvPr/>
        </p:nvSpPr>
        <p:spPr>
          <a:xfrm>
            <a:off x="594360" y="3285960"/>
            <a:ext cx="5852160" cy="2280000"/>
          </a:xfrm>
          <a:prstGeom prst="rect">
            <a:avLst/>
          </a:prstGeom>
          <a:solidFill>
            <a:srgbClr val="FFFFFF"/>
          </a:solidFill>
          <a:ln w="12700">
            <a:solidFill>
              <a:srgbClr val="E3DFD6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594360" y="3285960"/>
            <a:ext cx="5852160" cy="310896"/>
          </a:xfrm>
          <a:prstGeom prst="rect">
            <a:avLst/>
          </a:prstGeom>
          <a:solidFill>
            <a:srgbClr val="F4F5F6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6" name="Oval 25"/>
          <p:cNvSpPr/>
          <p:nvPr/>
        </p:nvSpPr>
        <p:spPr>
          <a:xfrm>
            <a:off x="740664" y="3338538"/>
            <a:ext cx="100584" cy="100584"/>
          </a:xfrm>
          <a:prstGeom prst="ellipse">
            <a:avLst/>
          </a:prstGeom>
          <a:solidFill>
            <a:srgbClr val="E8695B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7" name="Oval 26"/>
          <p:cNvSpPr/>
          <p:nvPr/>
        </p:nvSpPr>
        <p:spPr>
          <a:xfrm>
            <a:off x="941832" y="3338538"/>
            <a:ext cx="100584" cy="100584"/>
          </a:xfrm>
          <a:prstGeom prst="ellipse">
            <a:avLst/>
          </a:prstGeom>
          <a:solidFill>
            <a:srgbClr val="F4BF4F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8" name="Oval 27"/>
          <p:cNvSpPr/>
          <p:nvPr/>
        </p:nvSpPr>
        <p:spPr>
          <a:xfrm>
            <a:off x="1143000" y="3338538"/>
            <a:ext cx="100584" cy="100584"/>
          </a:xfrm>
          <a:prstGeom prst="ellipse">
            <a:avLst/>
          </a:prstGeom>
          <a:solidFill>
            <a:srgbClr val="61C554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1435608" y="3285960"/>
            <a:ext cx="4864608" cy="31089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050" b="0" i="0">
                <a:solidFill>
                  <a:srgbClr val="555555"/>
                </a:solidFill>
                <a:latin typeface="Arial"/>
              </a:rPr>
              <a:t>MySQL Workbench — college_db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868680" y="3736856"/>
            <a:ext cx="5303520" cy="178910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2000"/>
              </a:lnSpc>
            </a:pPr>
            <a:r>
              <a:rPr sz="1250" b="0" i="0">
                <a:solidFill>
                  <a:srgbClr val="6B8F5A"/>
                </a:solidFill>
                <a:latin typeface="Courier New"/>
              </a:rPr>
              <a:t>-- Entity: Student</a:t>
            </a:r>
          </a:p>
          <a:p>
            <a:pPr algn="l">
              <a:lnSpc>
                <a:spcPct val="112000"/>
              </a:lnSpc>
            </a:pPr>
            <a:r>
              <a:rPr sz="1250" b="1" i="0">
                <a:solidFill>
                  <a:srgbClr val="1D5FAE"/>
                </a:solidFill>
                <a:latin typeface="Courier New"/>
              </a:rPr>
              <a:t>CREATE TABLE</a:t>
            </a:r>
            <a:r>
              <a:rPr sz="1250" b="0" i="0">
                <a:solidFill>
                  <a:srgbClr val="3A362F"/>
                </a:solidFill>
                <a:latin typeface="Courier New"/>
              </a:rPr>
              <a:t> Student (</a:t>
            </a:r>
          </a:p>
          <a:p>
            <a:pPr algn="l">
              <a:lnSpc>
                <a:spcPct val="112000"/>
              </a:lnSpc>
            </a:pPr>
            <a:r>
              <a:rPr sz="1250" b="0" i="0">
                <a:solidFill>
                  <a:srgbClr val="3A362F"/>
                </a:solidFill>
                <a:latin typeface="Courier New"/>
              </a:rPr>
              <a:t>    Student_ID INT </a:t>
            </a:r>
            <a:r>
              <a:rPr sz="1250" b="1" i="0">
                <a:solidFill>
                  <a:srgbClr val="1D5FAE"/>
                </a:solidFill>
                <a:latin typeface="Courier New"/>
              </a:rPr>
              <a:t>PRIMARY KEY</a:t>
            </a:r>
            <a:r>
              <a:rPr sz="1250" b="0" i="0">
                <a:solidFill>
                  <a:srgbClr val="3A362F"/>
                </a:solidFill>
                <a:latin typeface="Courier New"/>
              </a:rPr>
              <a:t>,</a:t>
            </a:r>
          </a:p>
          <a:p>
            <a:pPr algn="l">
              <a:lnSpc>
                <a:spcPct val="112000"/>
              </a:lnSpc>
            </a:pPr>
            <a:r>
              <a:rPr sz="1250" b="0" i="0">
                <a:solidFill>
                  <a:srgbClr val="3A362F"/>
                </a:solidFill>
                <a:latin typeface="Courier New"/>
              </a:rPr>
              <a:t>    Name VARCHAR(50),</a:t>
            </a:r>
          </a:p>
          <a:p>
            <a:pPr algn="l">
              <a:lnSpc>
                <a:spcPct val="112000"/>
              </a:lnSpc>
            </a:pPr>
            <a:r>
              <a:rPr sz="1250" b="0" i="0">
                <a:solidFill>
                  <a:srgbClr val="3A362F"/>
                </a:solidFill>
                <a:latin typeface="Courier New"/>
              </a:rPr>
              <a:t>    Email VARCHAR(100),</a:t>
            </a:r>
          </a:p>
          <a:p>
            <a:pPr algn="l">
              <a:lnSpc>
                <a:spcPct val="112000"/>
              </a:lnSpc>
            </a:pPr>
            <a:r>
              <a:rPr sz="1250" b="0" i="0">
                <a:solidFill>
                  <a:srgbClr val="3A362F"/>
                </a:solidFill>
                <a:latin typeface="Courier New"/>
              </a:rPr>
              <a:t>    Phone VARCHAR(15),</a:t>
            </a:r>
          </a:p>
          <a:p>
            <a:pPr algn="l">
              <a:lnSpc>
                <a:spcPct val="112000"/>
              </a:lnSpc>
            </a:pPr>
            <a:r>
              <a:rPr sz="1250" b="0" i="0">
                <a:solidFill>
                  <a:srgbClr val="3A362F"/>
                </a:solidFill>
                <a:latin typeface="Courier New"/>
              </a:rPr>
              <a:t>    DOB DATE</a:t>
            </a:r>
          </a:p>
          <a:p>
            <a:pPr algn="l">
              <a:lnSpc>
                <a:spcPct val="112000"/>
              </a:lnSpc>
            </a:pPr>
            <a:r>
              <a:rPr sz="1250" b="0" i="0">
                <a:solidFill>
                  <a:srgbClr val="3A362F"/>
                </a:solidFill>
                <a:latin typeface="Courier New"/>
              </a:rPr>
              <a:t>);</a:t>
            </a:r>
          </a:p>
        </p:txBody>
      </p:sp>
      <p:sp>
        <p:nvSpPr>
          <p:cNvPr id="31" name="Rectangle 30"/>
          <p:cNvSpPr/>
          <p:nvPr/>
        </p:nvSpPr>
        <p:spPr>
          <a:xfrm>
            <a:off x="6720840" y="1965960"/>
            <a:ext cx="4114800" cy="585000"/>
          </a:xfrm>
          <a:prstGeom prst="rect">
            <a:avLst/>
          </a:prstGeom>
          <a:solidFill>
            <a:srgbClr val="FFFFFF"/>
          </a:solidFill>
          <a:ln w="12700">
            <a:solidFill>
              <a:srgbClr val="E3DFD6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6885432" y="1965960"/>
            <a:ext cx="3814800" cy="190000"/>
          </a:xfrm>
          <a:prstGeom prst="rect">
            <a:avLst/>
          </a:prstGeom>
          <a:noFill/>
        </p:spPr>
        <p:txBody>
          <a:bodyPr wrap="square" lIns="0" rIns="0" tIns="0" bIns="0" anchor="b">
            <a:spAutoFit/>
          </a:bodyPr>
          <a:lstStyle/>
          <a:p>
            <a:pPr algn="l"/>
            <a:r>
              <a:rPr sz="1250" b="1" i="0">
                <a:solidFill>
                  <a:srgbClr val="2C2926"/>
                </a:solidFill>
                <a:latin typeface="Arial"/>
              </a:rPr>
              <a:t>Simple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6885432" y="2155960"/>
            <a:ext cx="3814800" cy="395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0" i="0">
                <a:solidFill>
                  <a:srgbClr val="6B675E"/>
                </a:solidFill>
                <a:latin typeface="Arial"/>
              </a:rPr>
              <a:t>Cannot be divided further — e.g. Phone.</a:t>
            </a:r>
          </a:p>
        </p:txBody>
      </p:sp>
      <p:sp>
        <p:nvSpPr>
          <p:cNvPr id="34" name="Rectangle 33"/>
          <p:cNvSpPr/>
          <p:nvPr/>
        </p:nvSpPr>
        <p:spPr>
          <a:xfrm>
            <a:off x="6720840" y="2568960"/>
            <a:ext cx="4114800" cy="585000"/>
          </a:xfrm>
          <a:prstGeom prst="rect">
            <a:avLst/>
          </a:prstGeom>
          <a:solidFill>
            <a:srgbClr val="FFFFFF"/>
          </a:solidFill>
          <a:ln w="12700">
            <a:solidFill>
              <a:srgbClr val="E3DFD6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6885432" y="2568960"/>
            <a:ext cx="3814800" cy="190000"/>
          </a:xfrm>
          <a:prstGeom prst="rect">
            <a:avLst/>
          </a:prstGeom>
          <a:noFill/>
        </p:spPr>
        <p:txBody>
          <a:bodyPr wrap="square" lIns="0" rIns="0" tIns="0" bIns="0" anchor="b">
            <a:spAutoFit/>
          </a:bodyPr>
          <a:lstStyle/>
          <a:p>
            <a:pPr algn="l"/>
            <a:r>
              <a:rPr sz="1250" b="1" i="0">
                <a:solidFill>
                  <a:srgbClr val="2C2926"/>
                </a:solidFill>
                <a:latin typeface="Arial"/>
              </a:rPr>
              <a:t>Composite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6885432" y="2758960"/>
            <a:ext cx="3814800" cy="395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0" i="0">
                <a:solidFill>
                  <a:srgbClr val="6B675E"/>
                </a:solidFill>
                <a:latin typeface="Arial"/>
              </a:rPr>
              <a:t>Made of sub-parts — e.g. Name (First + Last).</a:t>
            </a:r>
          </a:p>
        </p:txBody>
      </p:sp>
      <p:sp>
        <p:nvSpPr>
          <p:cNvPr id="37" name="Rectangle 36"/>
          <p:cNvSpPr/>
          <p:nvPr/>
        </p:nvSpPr>
        <p:spPr>
          <a:xfrm>
            <a:off x="6720840" y="3171960"/>
            <a:ext cx="4114800" cy="585000"/>
          </a:xfrm>
          <a:prstGeom prst="rect">
            <a:avLst/>
          </a:prstGeom>
          <a:solidFill>
            <a:srgbClr val="FFFFFF"/>
          </a:solidFill>
          <a:ln w="12700">
            <a:solidFill>
              <a:srgbClr val="E3DFD6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6885432" y="3171960"/>
            <a:ext cx="3814800" cy="190000"/>
          </a:xfrm>
          <a:prstGeom prst="rect">
            <a:avLst/>
          </a:prstGeom>
          <a:noFill/>
        </p:spPr>
        <p:txBody>
          <a:bodyPr wrap="square" lIns="0" rIns="0" tIns="0" bIns="0" anchor="b">
            <a:spAutoFit/>
          </a:bodyPr>
          <a:lstStyle/>
          <a:p>
            <a:pPr algn="l"/>
            <a:r>
              <a:rPr sz="1250" b="1" i="0">
                <a:solidFill>
                  <a:srgbClr val="2C2926"/>
                </a:solidFill>
                <a:latin typeface="Arial"/>
              </a:rPr>
              <a:t>Single-valued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6885432" y="3361960"/>
            <a:ext cx="3814800" cy="395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0" i="0">
                <a:solidFill>
                  <a:srgbClr val="6B675E"/>
                </a:solidFill>
                <a:latin typeface="Arial"/>
              </a:rPr>
              <a:t>Holds exactly one value — e.g. DOB.</a:t>
            </a:r>
          </a:p>
        </p:txBody>
      </p:sp>
      <p:sp>
        <p:nvSpPr>
          <p:cNvPr id="40" name="Rectangle 39"/>
          <p:cNvSpPr/>
          <p:nvPr/>
        </p:nvSpPr>
        <p:spPr>
          <a:xfrm>
            <a:off x="6720840" y="3774960"/>
            <a:ext cx="4114800" cy="585000"/>
          </a:xfrm>
          <a:prstGeom prst="rect">
            <a:avLst/>
          </a:prstGeom>
          <a:solidFill>
            <a:srgbClr val="FFFFFF"/>
          </a:solidFill>
          <a:ln w="12700">
            <a:solidFill>
              <a:srgbClr val="E3DFD6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6885432" y="3774960"/>
            <a:ext cx="3814800" cy="190000"/>
          </a:xfrm>
          <a:prstGeom prst="rect">
            <a:avLst/>
          </a:prstGeom>
          <a:noFill/>
        </p:spPr>
        <p:txBody>
          <a:bodyPr wrap="square" lIns="0" rIns="0" tIns="0" bIns="0" anchor="b">
            <a:spAutoFit/>
          </a:bodyPr>
          <a:lstStyle/>
          <a:p>
            <a:pPr algn="l"/>
            <a:r>
              <a:rPr sz="1250" b="1" i="0">
                <a:solidFill>
                  <a:srgbClr val="2C2926"/>
                </a:solidFill>
                <a:latin typeface="Arial"/>
              </a:rPr>
              <a:t>Multi-valued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6885432" y="3964960"/>
            <a:ext cx="3814800" cy="395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0" i="0">
                <a:solidFill>
                  <a:srgbClr val="6B675E"/>
                </a:solidFill>
                <a:latin typeface="Arial"/>
              </a:rPr>
              <a:t>Can hold many values — e.g. Phone Numbers.</a:t>
            </a:r>
          </a:p>
        </p:txBody>
      </p:sp>
      <p:sp>
        <p:nvSpPr>
          <p:cNvPr id="43" name="Rectangle 42"/>
          <p:cNvSpPr/>
          <p:nvPr/>
        </p:nvSpPr>
        <p:spPr>
          <a:xfrm>
            <a:off x="6720840" y="4377960"/>
            <a:ext cx="4114800" cy="585000"/>
          </a:xfrm>
          <a:prstGeom prst="rect">
            <a:avLst/>
          </a:prstGeom>
          <a:solidFill>
            <a:srgbClr val="FFFFFF"/>
          </a:solidFill>
          <a:ln w="12700">
            <a:solidFill>
              <a:srgbClr val="E3DFD6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6885432" y="4377960"/>
            <a:ext cx="3814800" cy="190000"/>
          </a:xfrm>
          <a:prstGeom prst="rect">
            <a:avLst/>
          </a:prstGeom>
          <a:noFill/>
        </p:spPr>
        <p:txBody>
          <a:bodyPr wrap="square" lIns="0" rIns="0" tIns="0" bIns="0" anchor="b">
            <a:spAutoFit/>
          </a:bodyPr>
          <a:lstStyle/>
          <a:p>
            <a:pPr algn="l"/>
            <a:r>
              <a:rPr sz="1250" b="1" i="0">
                <a:solidFill>
                  <a:srgbClr val="2C2926"/>
                </a:solidFill>
                <a:latin typeface="Arial"/>
              </a:rPr>
              <a:t>Derived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6885432" y="4567960"/>
            <a:ext cx="3814800" cy="395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0" i="0">
                <a:solidFill>
                  <a:srgbClr val="6B675E"/>
                </a:solidFill>
                <a:latin typeface="Arial"/>
              </a:rPr>
              <a:t>Computed from another attribute — e.g. Age from DOB.</a:t>
            </a:r>
          </a:p>
        </p:txBody>
      </p:sp>
      <p:sp>
        <p:nvSpPr>
          <p:cNvPr id="46" name="Rectangle 45"/>
          <p:cNvSpPr/>
          <p:nvPr/>
        </p:nvSpPr>
        <p:spPr>
          <a:xfrm>
            <a:off x="6720840" y="4980960"/>
            <a:ext cx="4114800" cy="585000"/>
          </a:xfrm>
          <a:prstGeom prst="rect">
            <a:avLst/>
          </a:prstGeom>
          <a:solidFill>
            <a:srgbClr val="FFFFFF"/>
          </a:solidFill>
          <a:ln w="12700">
            <a:solidFill>
              <a:srgbClr val="E3DFD6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47" name="TextBox 46"/>
          <p:cNvSpPr txBox="1"/>
          <p:nvPr/>
        </p:nvSpPr>
        <p:spPr>
          <a:xfrm>
            <a:off x="6885432" y="4980960"/>
            <a:ext cx="3814800" cy="190000"/>
          </a:xfrm>
          <a:prstGeom prst="rect">
            <a:avLst/>
          </a:prstGeom>
          <a:noFill/>
        </p:spPr>
        <p:txBody>
          <a:bodyPr wrap="square" lIns="0" rIns="0" tIns="0" bIns="0" anchor="b">
            <a:spAutoFit/>
          </a:bodyPr>
          <a:lstStyle/>
          <a:p>
            <a:pPr algn="l"/>
            <a:r>
              <a:rPr sz="1250" b="1" i="0">
                <a:solidFill>
                  <a:srgbClr val="2C2926"/>
                </a:solidFill>
                <a:latin typeface="Arial"/>
              </a:rPr>
              <a:t>Key Attribute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6885432" y="5170960"/>
            <a:ext cx="3814800" cy="395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0" i="0">
                <a:solidFill>
                  <a:srgbClr val="6B675E"/>
                </a:solidFill>
                <a:latin typeface="Arial"/>
              </a:rPr>
              <a:t>Uniquely identifies the entity — Student_ID.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7223760" y="5742432"/>
            <a:ext cx="2286000" cy="3840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1300" b="1" i="0">
                <a:solidFill>
                  <a:srgbClr val="D6D6D5"/>
                </a:solidFill>
                <a:latin typeface="Arial"/>
              </a:rPr>
              <a:t>Shalinee Priya</a:t>
            </a:r>
          </a:p>
          <a:p>
            <a:pPr algn="r"/>
            <a:r>
              <a:rPr sz="900" b="0" i="0">
                <a:solidFill>
                  <a:srgbClr val="D6D6D5"/>
                </a:solidFill>
                <a:latin typeface="Arial"/>
              </a:rPr>
              <a:t>Data Analyst | SQL Trainer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411480" y="6473952"/>
            <a:ext cx="1005840" cy="2743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200" b="0" i="0">
                <a:solidFill>
                  <a:srgbClr val="6B675E"/>
                </a:solidFill>
                <a:latin typeface="Arial"/>
              </a:rPr>
              <a:t>6/10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DFDF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94360" y="457200"/>
            <a:ext cx="2147725" cy="320040"/>
          </a:xfrm>
          <a:prstGeom prst="rect">
            <a:avLst/>
          </a:prstGeom>
          <a:solidFill>
            <a:srgbClr val="F8ECD3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457200"/>
            <a:ext cx="2147725" cy="3200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100" b="1" i="0">
                <a:solidFill>
                  <a:srgbClr val="2C2926"/>
                </a:solidFill>
                <a:latin typeface="Arial"/>
              </a:rPr>
              <a:t>MAPPING BUSINESS RULES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868680"/>
            <a:ext cx="9875520" cy="56692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2800" b="1" i="0">
                <a:solidFill>
                  <a:srgbClr val="2C2926"/>
                </a:solidFill>
                <a:latin typeface="Arial"/>
              </a:rPr>
              <a:t>Relationship &amp; Cardinality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94360" y="1481328"/>
            <a:ext cx="9875520" cy="34747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300" b="0" i="1">
                <a:solidFill>
                  <a:srgbClr val="6B675E"/>
                </a:solidFill>
                <a:latin typeface="Arial"/>
              </a:rPr>
              <a:t>How many records on one side can connect to how many on the other.</a:t>
            </a:r>
          </a:p>
        </p:txBody>
      </p:sp>
      <p:sp>
        <p:nvSpPr>
          <p:cNvPr id="6" name="Rectangle 5"/>
          <p:cNvSpPr/>
          <p:nvPr/>
        </p:nvSpPr>
        <p:spPr>
          <a:xfrm>
            <a:off x="594360" y="1965960"/>
            <a:ext cx="5020640" cy="1040000"/>
          </a:xfrm>
          <a:prstGeom prst="rect">
            <a:avLst/>
          </a:prstGeom>
          <a:solidFill>
            <a:srgbClr val="FFFFFF"/>
          </a:solidFill>
          <a:ln w="12700">
            <a:solidFill>
              <a:srgbClr val="E3DFD6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14360" y="2065960"/>
            <a:ext cx="406075" cy="230000"/>
          </a:xfrm>
          <a:prstGeom prst="rect">
            <a:avLst/>
          </a:prstGeom>
          <a:solidFill>
            <a:srgbClr val="E9F3F3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14360" y="2065960"/>
            <a:ext cx="406075" cy="2300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100" b="1" i="0">
                <a:solidFill>
                  <a:srgbClr val="127A76"/>
                </a:solidFill>
                <a:latin typeface="Arial"/>
              </a:rPr>
              <a:t>1 : 1</a:t>
            </a:r>
          </a:p>
        </p:txBody>
      </p:sp>
      <p:sp>
        <p:nvSpPr>
          <p:cNvPr id="9" name="Rectangle 8"/>
          <p:cNvSpPr/>
          <p:nvPr/>
        </p:nvSpPr>
        <p:spPr>
          <a:xfrm>
            <a:off x="814360" y="2485960"/>
            <a:ext cx="1500000" cy="340000"/>
          </a:xfrm>
          <a:prstGeom prst="rect">
            <a:avLst/>
          </a:prstGeom>
          <a:solidFill>
            <a:srgbClr val="F4F5F6"/>
          </a:solidFill>
          <a:ln w="12700">
            <a:solidFill>
              <a:srgbClr val="E3DFD6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14360" y="2485960"/>
            <a:ext cx="1500000" cy="3400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200" b="1" i="0">
                <a:solidFill>
                  <a:srgbClr val="2C2926"/>
                </a:solidFill>
                <a:latin typeface="Arial"/>
              </a:rPr>
              <a:t>Person</a:t>
            </a:r>
          </a:p>
        </p:txBody>
      </p:sp>
      <p:sp>
        <p:nvSpPr>
          <p:cNvPr id="11" name="Rectangle 10"/>
          <p:cNvSpPr/>
          <p:nvPr/>
        </p:nvSpPr>
        <p:spPr>
          <a:xfrm>
            <a:off x="3895000" y="2485960"/>
            <a:ext cx="1500000" cy="340000"/>
          </a:xfrm>
          <a:prstGeom prst="rect">
            <a:avLst/>
          </a:prstGeom>
          <a:solidFill>
            <a:srgbClr val="F4F5F6"/>
          </a:solidFill>
          <a:ln w="12700">
            <a:solidFill>
              <a:srgbClr val="E3DFD6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3895000" y="2485960"/>
            <a:ext cx="1500000" cy="3400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200" b="1" i="0">
                <a:solidFill>
                  <a:srgbClr val="2C2926"/>
                </a:solidFill>
                <a:latin typeface="Arial"/>
              </a:rPr>
              <a:t>Passport</a:t>
            </a:r>
          </a:p>
        </p:txBody>
      </p:sp>
      <p:sp>
        <p:nvSpPr>
          <p:cNvPr id="13" name="Diamond 12"/>
          <p:cNvSpPr/>
          <p:nvPr/>
        </p:nvSpPr>
        <p:spPr>
          <a:xfrm>
            <a:off x="2864680" y="2485960"/>
            <a:ext cx="480000" cy="340000"/>
          </a:xfrm>
          <a:prstGeom prst="diamond">
            <a:avLst/>
          </a:prstGeom>
          <a:solidFill>
            <a:srgbClr val="E9F3F3"/>
          </a:solidFill>
          <a:ln w="15875">
            <a:solidFill>
              <a:srgbClr val="BEE0DD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cxnSp>
        <p:nvCxnSpPr>
          <p:cNvPr id="14" name="Connector 13"/>
          <p:cNvCxnSpPr/>
          <p:nvPr/>
        </p:nvCxnSpPr>
        <p:spPr>
          <a:xfrm>
            <a:off x="2314360" y="2655960"/>
            <a:ext cx="550320" cy="0"/>
          </a:xfrm>
          <a:prstGeom prst="line">
            <a:avLst/>
          </a:prstGeom>
          <a:ln w="12700">
            <a:solidFill>
              <a:srgbClr val="6B675E"/>
            </a:solidFill>
          </a:ln>
          <a:effectLst/>
        </p:spPr>
      </p:cxnSp>
      <p:cxnSp>
        <p:nvCxnSpPr>
          <p:cNvPr id="15" name="Connector 14"/>
          <p:cNvCxnSpPr/>
          <p:nvPr/>
        </p:nvCxnSpPr>
        <p:spPr>
          <a:xfrm>
            <a:off x="3344680" y="2655960"/>
            <a:ext cx="550320" cy="0"/>
          </a:xfrm>
          <a:prstGeom prst="line">
            <a:avLst/>
          </a:prstGeom>
          <a:ln w="12700">
            <a:solidFill>
              <a:srgbClr val="6B675E"/>
            </a:solidFill>
          </a:ln>
          <a:effectLst/>
        </p:spPr>
      </p:cxnSp>
      <p:sp>
        <p:nvSpPr>
          <p:cNvPr id="16" name="Oval 15"/>
          <p:cNvSpPr/>
          <p:nvPr/>
        </p:nvSpPr>
        <p:spPr>
          <a:xfrm>
            <a:off x="2384360" y="2540960"/>
            <a:ext cx="230000" cy="230000"/>
          </a:xfrm>
          <a:prstGeom prst="ellipse">
            <a:avLst/>
          </a:prstGeom>
          <a:solidFill>
            <a:srgbClr val="FFFFFF"/>
          </a:solidFill>
          <a:ln w="12700">
            <a:solidFill>
              <a:srgbClr val="3A93CD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2384360" y="2540960"/>
            <a:ext cx="230000" cy="2300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000" b="1" i="0">
                <a:solidFill>
                  <a:srgbClr val="3A93CD"/>
                </a:solidFill>
                <a:latin typeface="Arial"/>
              </a:rPr>
              <a:t>1</a:t>
            </a:r>
          </a:p>
        </p:txBody>
      </p:sp>
      <p:sp>
        <p:nvSpPr>
          <p:cNvPr id="18" name="Oval 17"/>
          <p:cNvSpPr/>
          <p:nvPr/>
        </p:nvSpPr>
        <p:spPr>
          <a:xfrm>
            <a:off x="3595000" y="2540960"/>
            <a:ext cx="230000" cy="230000"/>
          </a:xfrm>
          <a:prstGeom prst="ellipse">
            <a:avLst/>
          </a:prstGeom>
          <a:solidFill>
            <a:srgbClr val="FFFFFF"/>
          </a:solidFill>
          <a:ln w="12700">
            <a:solidFill>
              <a:srgbClr val="3A93CD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3595000" y="2540960"/>
            <a:ext cx="230000" cy="2300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000" b="1" i="0">
                <a:solidFill>
                  <a:srgbClr val="3A93CD"/>
                </a:solidFill>
                <a:latin typeface="Arial"/>
              </a:rPr>
              <a:t>1</a:t>
            </a:r>
          </a:p>
        </p:txBody>
      </p:sp>
      <p:sp>
        <p:nvSpPr>
          <p:cNvPr id="20" name="Rectangle 19"/>
          <p:cNvSpPr/>
          <p:nvPr/>
        </p:nvSpPr>
        <p:spPr>
          <a:xfrm>
            <a:off x="5815000" y="1965960"/>
            <a:ext cx="5020640" cy="1040000"/>
          </a:xfrm>
          <a:prstGeom prst="rect">
            <a:avLst/>
          </a:prstGeom>
          <a:solidFill>
            <a:srgbClr val="FFFFFF"/>
          </a:solidFill>
          <a:ln w="12700">
            <a:solidFill>
              <a:srgbClr val="E3DFD6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5935000" y="2065960"/>
            <a:ext cx="450525" cy="230000"/>
          </a:xfrm>
          <a:prstGeom prst="rect">
            <a:avLst/>
          </a:prstGeom>
          <a:solidFill>
            <a:srgbClr val="E9F3F3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5935000" y="2065960"/>
            <a:ext cx="450525" cy="2300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100" b="1" i="0">
                <a:solidFill>
                  <a:srgbClr val="127A76"/>
                </a:solidFill>
                <a:latin typeface="Arial"/>
              </a:rPr>
              <a:t>1 : M</a:t>
            </a:r>
          </a:p>
        </p:txBody>
      </p:sp>
      <p:sp>
        <p:nvSpPr>
          <p:cNvPr id="23" name="Rectangle 22"/>
          <p:cNvSpPr/>
          <p:nvPr/>
        </p:nvSpPr>
        <p:spPr>
          <a:xfrm>
            <a:off x="6035000" y="2485960"/>
            <a:ext cx="1500000" cy="340000"/>
          </a:xfrm>
          <a:prstGeom prst="rect">
            <a:avLst/>
          </a:prstGeom>
          <a:solidFill>
            <a:srgbClr val="F4F5F6"/>
          </a:solidFill>
          <a:ln w="12700">
            <a:solidFill>
              <a:srgbClr val="E3DFD6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6035000" y="2485960"/>
            <a:ext cx="1500000" cy="3400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200" b="1" i="0">
                <a:solidFill>
                  <a:srgbClr val="2C2926"/>
                </a:solidFill>
                <a:latin typeface="Arial"/>
              </a:rPr>
              <a:t>Department</a:t>
            </a:r>
          </a:p>
        </p:txBody>
      </p:sp>
      <p:sp>
        <p:nvSpPr>
          <p:cNvPr id="25" name="Rectangle 24"/>
          <p:cNvSpPr/>
          <p:nvPr/>
        </p:nvSpPr>
        <p:spPr>
          <a:xfrm>
            <a:off x="9115640" y="2485960"/>
            <a:ext cx="1500000" cy="340000"/>
          </a:xfrm>
          <a:prstGeom prst="rect">
            <a:avLst/>
          </a:prstGeom>
          <a:solidFill>
            <a:srgbClr val="F4F5F6"/>
          </a:solidFill>
          <a:ln w="12700">
            <a:solidFill>
              <a:srgbClr val="E3DFD6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9115640" y="2485960"/>
            <a:ext cx="1500000" cy="3400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200" b="1" i="0">
                <a:solidFill>
                  <a:srgbClr val="2C2926"/>
                </a:solidFill>
                <a:latin typeface="Arial"/>
              </a:rPr>
              <a:t>Students</a:t>
            </a:r>
          </a:p>
        </p:txBody>
      </p:sp>
      <p:sp>
        <p:nvSpPr>
          <p:cNvPr id="27" name="Diamond 26"/>
          <p:cNvSpPr/>
          <p:nvPr/>
        </p:nvSpPr>
        <p:spPr>
          <a:xfrm>
            <a:off x="8085320" y="2485960"/>
            <a:ext cx="480000" cy="340000"/>
          </a:xfrm>
          <a:prstGeom prst="diamond">
            <a:avLst/>
          </a:prstGeom>
          <a:solidFill>
            <a:srgbClr val="E9F3F3"/>
          </a:solidFill>
          <a:ln w="15875">
            <a:solidFill>
              <a:srgbClr val="BEE0DD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cxnSp>
        <p:nvCxnSpPr>
          <p:cNvPr id="28" name="Connector 27"/>
          <p:cNvCxnSpPr/>
          <p:nvPr/>
        </p:nvCxnSpPr>
        <p:spPr>
          <a:xfrm>
            <a:off x="7535000" y="2655960"/>
            <a:ext cx="550320" cy="0"/>
          </a:xfrm>
          <a:prstGeom prst="line">
            <a:avLst/>
          </a:prstGeom>
          <a:ln w="12700">
            <a:solidFill>
              <a:srgbClr val="6B675E"/>
            </a:solidFill>
          </a:ln>
          <a:effectLst/>
        </p:spPr>
      </p:cxnSp>
      <p:cxnSp>
        <p:nvCxnSpPr>
          <p:cNvPr id="29" name="Connector 28"/>
          <p:cNvCxnSpPr/>
          <p:nvPr/>
        </p:nvCxnSpPr>
        <p:spPr>
          <a:xfrm>
            <a:off x="8565320" y="2655960"/>
            <a:ext cx="550320" cy="0"/>
          </a:xfrm>
          <a:prstGeom prst="line">
            <a:avLst/>
          </a:prstGeom>
          <a:ln w="12700">
            <a:solidFill>
              <a:srgbClr val="6B675E"/>
            </a:solidFill>
          </a:ln>
          <a:effectLst/>
        </p:spPr>
      </p:cxnSp>
      <p:sp>
        <p:nvSpPr>
          <p:cNvPr id="30" name="Oval 29"/>
          <p:cNvSpPr/>
          <p:nvPr/>
        </p:nvSpPr>
        <p:spPr>
          <a:xfrm>
            <a:off x="7605000" y="2540960"/>
            <a:ext cx="230000" cy="230000"/>
          </a:xfrm>
          <a:prstGeom prst="ellipse">
            <a:avLst/>
          </a:prstGeom>
          <a:solidFill>
            <a:srgbClr val="FFFFFF"/>
          </a:solidFill>
          <a:ln w="12700">
            <a:solidFill>
              <a:srgbClr val="3A93CD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7605000" y="2540960"/>
            <a:ext cx="230000" cy="2300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000" b="1" i="0">
                <a:solidFill>
                  <a:srgbClr val="3A93CD"/>
                </a:solidFill>
                <a:latin typeface="Arial"/>
              </a:rPr>
              <a:t>1</a:t>
            </a:r>
          </a:p>
        </p:txBody>
      </p:sp>
      <p:sp>
        <p:nvSpPr>
          <p:cNvPr id="32" name="Oval 31"/>
          <p:cNvSpPr/>
          <p:nvPr/>
        </p:nvSpPr>
        <p:spPr>
          <a:xfrm>
            <a:off x="8815640" y="2540960"/>
            <a:ext cx="230000" cy="230000"/>
          </a:xfrm>
          <a:prstGeom prst="ellipse">
            <a:avLst/>
          </a:prstGeom>
          <a:solidFill>
            <a:srgbClr val="FFFFFF"/>
          </a:solidFill>
          <a:ln w="12700">
            <a:solidFill>
              <a:srgbClr val="3A93CD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8815640" y="2540960"/>
            <a:ext cx="230000" cy="2300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000" b="1" i="0">
                <a:solidFill>
                  <a:srgbClr val="3A93CD"/>
                </a:solidFill>
                <a:latin typeface="Arial"/>
              </a:rPr>
              <a:t>N</a:t>
            </a:r>
          </a:p>
        </p:txBody>
      </p:sp>
      <p:sp>
        <p:nvSpPr>
          <p:cNvPr id="34" name="Rectangle 33"/>
          <p:cNvSpPr/>
          <p:nvPr/>
        </p:nvSpPr>
        <p:spPr>
          <a:xfrm>
            <a:off x="594360" y="3205960"/>
            <a:ext cx="5020640" cy="1040000"/>
          </a:xfrm>
          <a:prstGeom prst="rect">
            <a:avLst/>
          </a:prstGeom>
          <a:solidFill>
            <a:srgbClr val="FFFFFF"/>
          </a:solidFill>
          <a:ln w="12700">
            <a:solidFill>
              <a:srgbClr val="E3DFD6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5" name="Rectangle 34"/>
          <p:cNvSpPr/>
          <p:nvPr/>
        </p:nvSpPr>
        <p:spPr>
          <a:xfrm>
            <a:off x="714360" y="3305960"/>
            <a:ext cx="450525" cy="230000"/>
          </a:xfrm>
          <a:prstGeom prst="rect">
            <a:avLst/>
          </a:prstGeom>
          <a:solidFill>
            <a:srgbClr val="E9F3F3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714360" y="3305960"/>
            <a:ext cx="450525" cy="2300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100" b="1" i="0">
                <a:solidFill>
                  <a:srgbClr val="127A76"/>
                </a:solidFill>
                <a:latin typeface="Arial"/>
              </a:rPr>
              <a:t>M : 1</a:t>
            </a:r>
          </a:p>
        </p:txBody>
      </p:sp>
      <p:sp>
        <p:nvSpPr>
          <p:cNvPr id="37" name="Rectangle 36"/>
          <p:cNvSpPr/>
          <p:nvPr/>
        </p:nvSpPr>
        <p:spPr>
          <a:xfrm>
            <a:off x="814360" y="3725960"/>
            <a:ext cx="1500000" cy="340000"/>
          </a:xfrm>
          <a:prstGeom prst="rect">
            <a:avLst/>
          </a:prstGeom>
          <a:solidFill>
            <a:srgbClr val="F4F5F6"/>
          </a:solidFill>
          <a:ln w="12700">
            <a:solidFill>
              <a:srgbClr val="E3DFD6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814360" y="3725960"/>
            <a:ext cx="1500000" cy="3400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200" b="1" i="0">
                <a:solidFill>
                  <a:srgbClr val="2C2926"/>
                </a:solidFill>
                <a:latin typeface="Arial"/>
              </a:rPr>
              <a:t>Students</a:t>
            </a:r>
          </a:p>
        </p:txBody>
      </p:sp>
      <p:sp>
        <p:nvSpPr>
          <p:cNvPr id="39" name="Rectangle 38"/>
          <p:cNvSpPr/>
          <p:nvPr/>
        </p:nvSpPr>
        <p:spPr>
          <a:xfrm>
            <a:off x="3895000" y="3725960"/>
            <a:ext cx="1500000" cy="340000"/>
          </a:xfrm>
          <a:prstGeom prst="rect">
            <a:avLst/>
          </a:prstGeom>
          <a:solidFill>
            <a:srgbClr val="F4F5F6"/>
          </a:solidFill>
          <a:ln w="12700">
            <a:solidFill>
              <a:srgbClr val="E3DFD6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3895000" y="3725960"/>
            <a:ext cx="1500000" cy="3400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200" b="1" i="0">
                <a:solidFill>
                  <a:srgbClr val="2C2926"/>
                </a:solidFill>
                <a:latin typeface="Arial"/>
              </a:rPr>
              <a:t>Department</a:t>
            </a:r>
          </a:p>
        </p:txBody>
      </p:sp>
      <p:sp>
        <p:nvSpPr>
          <p:cNvPr id="41" name="Diamond 40"/>
          <p:cNvSpPr/>
          <p:nvPr/>
        </p:nvSpPr>
        <p:spPr>
          <a:xfrm>
            <a:off x="2864680" y="3725960"/>
            <a:ext cx="480000" cy="340000"/>
          </a:xfrm>
          <a:prstGeom prst="diamond">
            <a:avLst/>
          </a:prstGeom>
          <a:solidFill>
            <a:srgbClr val="E9F3F3"/>
          </a:solidFill>
          <a:ln w="15875">
            <a:solidFill>
              <a:srgbClr val="BEE0DD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cxnSp>
        <p:nvCxnSpPr>
          <p:cNvPr id="42" name="Connector 41"/>
          <p:cNvCxnSpPr/>
          <p:nvPr/>
        </p:nvCxnSpPr>
        <p:spPr>
          <a:xfrm>
            <a:off x="2314360" y="3895960"/>
            <a:ext cx="550320" cy="0"/>
          </a:xfrm>
          <a:prstGeom prst="line">
            <a:avLst/>
          </a:prstGeom>
          <a:ln w="12700">
            <a:solidFill>
              <a:srgbClr val="6B675E"/>
            </a:solidFill>
          </a:ln>
          <a:effectLst/>
        </p:spPr>
      </p:cxnSp>
      <p:cxnSp>
        <p:nvCxnSpPr>
          <p:cNvPr id="43" name="Connector 42"/>
          <p:cNvCxnSpPr/>
          <p:nvPr/>
        </p:nvCxnSpPr>
        <p:spPr>
          <a:xfrm>
            <a:off x="3344680" y="3895960"/>
            <a:ext cx="550320" cy="0"/>
          </a:xfrm>
          <a:prstGeom prst="line">
            <a:avLst/>
          </a:prstGeom>
          <a:ln w="12700">
            <a:solidFill>
              <a:srgbClr val="6B675E"/>
            </a:solidFill>
          </a:ln>
          <a:effectLst/>
        </p:spPr>
      </p:cxnSp>
      <p:sp>
        <p:nvSpPr>
          <p:cNvPr id="44" name="Oval 43"/>
          <p:cNvSpPr/>
          <p:nvPr/>
        </p:nvSpPr>
        <p:spPr>
          <a:xfrm>
            <a:off x="2384360" y="3780960"/>
            <a:ext cx="230000" cy="230000"/>
          </a:xfrm>
          <a:prstGeom prst="ellipse">
            <a:avLst/>
          </a:prstGeom>
          <a:solidFill>
            <a:srgbClr val="FFFFFF"/>
          </a:solidFill>
          <a:ln w="12700">
            <a:solidFill>
              <a:srgbClr val="3A93CD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2384360" y="3780960"/>
            <a:ext cx="230000" cy="2300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000" b="1" i="0">
                <a:solidFill>
                  <a:srgbClr val="3A93CD"/>
                </a:solidFill>
                <a:latin typeface="Arial"/>
              </a:rPr>
              <a:t>N</a:t>
            </a:r>
          </a:p>
        </p:txBody>
      </p:sp>
      <p:sp>
        <p:nvSpPr>
          <p:cNvPr id="46" name="Oval 45"/>
          <p:cNvSpPr/>
          <p:nvPr/>
        </p:nvSpPr>
        <p:spPr>
          <a:xfrm>
            <a:off x="3595000" y="3780960"/>
            <a:ext cx="230000" cy="230000"/>
          </a:xfrm>
          <a:prstGeom prst="ellipse">
            <a:avLst/>
          </a:prstGeom>
          <a:solidFill>
            <a:srgbClr val="FFFFFF"/>
          </a:solidFill>
          <a:ln w="12700">
            <a:solidFill>
              <a:srgbClr val="3A93CD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47" name="TextBox 46"/>
          <p:cNvSpPr txBox="1"/>
          <p:nvPr/>
        </p:nvSpPr>
        <p:spPr>
          <a:xfrm>
            <a:off x="3595000" y="3780960"/>
            <a:ext cx="230000" cy="2300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000" b="1" i="0">
                <a:solidFill>
                  <a:srgbClr val="3A93CD"/>
                </a:solidFill>
                <a:latin typeface="Arial"/>
              </a:rPr>
              <a:t>1</a:t>
            </a:r>
          </a:p>
        </p:txBody>
      </p:sp>
      <p:sp>
        <p:nvSpPr>
          <p:cNvPr id="48" name="Rectangle 47"/>
          <p:cNvSpPr/>
          <p:nvPr/>
        </p:nvSpPr>
        <p:spPr>
          <a:xfrm>
            <a:off x="5815000" y="3205960"/>
            <a:ext cx="5020640" cy="1040000"/>
          </a:xfrm>
          <a:prstGeom prst="rect">
            <a:avLst/>
          </a:prstGeom>
          <a:solidFill>
            <a:srgbClr val="FFFFFF"/>
          </a:solidFill>
          <a:ln w="12700">
            <a:solidFill>
              <a:srgbClr val="E3DFD6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49" name="Rectangle 48"/>
          <p:cNvSpPr/>
          <p:nvPr/>
        </p:nvSpPr>
        <p:spPr>
          <a:xfrm>
            <a:off x="5935000" y="3305960"/>
            <a:ext cx="469575" cy="230000"/>
          </a:xfrm>
          <a:prstGeom prst="rect">
            <a:avLst/>
          </a:prstGeom>
          <a:solidFill>
            <a:srgbClr val="E9F3F3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50" name="TextBox 49"/>
          <p:cNvSpPr txBox="1"/>
          <p:nvPr/>
        </p:nvSpPr>
        <p:spPr>
          <a:xfrm>
            <a:off x="5935000" y="3305960"/>
            <a:ext cx="469575" cy="2300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100" b="1" i="0">
                <a:solidFill>
                  <a:srgbClr val="127A76"/>
                </a:solidFill>
                <a:latin typeface="Arial"/>
              </a:rPr>
              <a:t>M : N</a:t>
            </a:r>
          </a:p>
        </p:txBody>
      </p:sp>
      <p:sp>
        <p:nvSpPr>
          <p:cNvPr id="51" name="Rectangle 50"/>
          <p:cNvSpPr/>
          <p:nvPr/>
        </p:nvSpPr>
        <p:spPr>
          <a:xfrm>
            <a:off x="6035000" y="3725960"/>
            <a:ext cx="1500000" cy="340000"/>
          </a:xfrm>
          <a:prstGeom prst="rect">
            <a:avLst/>
          </a:prstGeom>
          <a:solidFill>
            <a:srgbClr val="F4F5F6"/>
          </a:solidFill>
          <a:ln w="12700">
            <a:solidFill>
              <a:srgbClr val="E3DFD6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52" name="TextBox 51"/>
          <p:cNvSpPr txBox="1"/>
          <p:nvPr/>
        </p:nvSpPr>
        <p:spPr>
          <a:xfrm>
            <a:off x="6035000" y="3725960"/>
            <a:ext cx="1500000" cy="3400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200" b="1" i="0">
                <a:solidFill>
                  <a:srgbClr val="2C2926"/>
                </a:solidFill>
                <a:latin typeface="Arial"/>
              </a:rPr>
              <a:t>Students</a:t>
            </a:r>
          </a:p>
        </p:txBody>
      </p:sp>
      <p:sp>
        <p:nvSpPr>
          <p:cNvPr id="53" name="Rectangle 52"/>
          <p:cNvSpPr/>
          <p:nvPr/>
        </p:nvSpPr>
        <p:spPr>
          <a:xfrm>
            <a:off x="9115640" y="3725960"/>
            <a:ext cx="1500000" cy="340000"/>
          </a:xfrm>
          <a:prstGeom prst="rect">
            <a:avLst/>
          </a:prstGeom>
          <a:solidFill>
            <a:srgbClr val="F4F5F6"/>
          </a:solidFill>
          <a:ln w="12700">
            <a:solidFill>
              <a:srgbClr val="E3DFD6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54" name="TextBox 53"/>
          <p:cNvSpPr txBox="1"/>
          <p:nvPr/>
        </p:nvSpPr>
        <p:spPr>
          <a:xfrm>
            <a:off x="9115640" y="3725960"/>
            <a:ext cx="1500000" cy="3400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200" b="1" i="0">
                <a:solidFill>
                  <a:srgbClr val="2C2926"/>
                </a:solidFill>
                <a:latin typeface="Arial"/>
              </a:rPr>
              <a:t>Courses</a:t>
            </a:r>
          </a:p>
        </p:txBody>
      </p:sp>
      <p:sp>
        <p:nvSpPr>
          <p:cNvPr id="55" name="Diamond 54"/>
          <p:cNvSpPr/>
          <p:nvPr/>
        </p:nvSpPr>
        <p:spPr>
          <a:xfrm>
            <a:off x="8085320" y="3725960"/>
            <a:ext cx="480000" cy="340000"/>
          </a:xfrm>
          <a:prstGeom prst="diamond">
            <a:avLst/>
          </a:prstGeom>
          <a:solidFill>
            <a:srgbClr val="E9F3F3"/>
          </a:solidFill>
          <a:ln w="15875">
            <a:solidFill>
              <a:srgbClr val="BEE0DD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cxnSp>
        <p:nvCxnSpPr>
          <p:cNvPr id="56" name="Connector 55"/>
          <p:cNvCxnSpPr/>
          <p:nvPr/>
        </p:nvCxnSpPr>
        <p:spPr>
          <a:xfrm>
            <a:off x="7535000" y="3895960"/>
            <a:ext cx="550320" cy="0"/>
          </a:xfrm>
          <a:prstGeom prst="line">
            <a:avLst/>
          </a:prstGeom>
          <a:ln w="12700">
            <a:solidFill>
              <a:srgbClr val="6B675E"/>
            </a:solidFill>
          </a:ln>
          <a:effectLst/>
        </p:spPr>
      </p:cxnSp>
      <p:cxnSp>
        <p:nvCxnSpPr>
          <p:cNvPr id="57" name="Connector 56"/>
          <p:cNvCxnSpPr/>
          <p:nvPr/>
        </p:nvCxnSpPr>
        <p:spPr>
          <a:xfrm>
            <a:off x="8565320" y="3895960"/>
            <a:ext cx="550320" cy="0"/>
          </a:xfrm>
          <a:prstGeom prst="line">
            <a:avLst/>
          </a:prstGeom>
          <a:ln w="12700">
            <a:solidFill>
              <a:srgbClr val="6B675E"/>
            </a:solidFill>
          </a:ln>
          <a:effectLst/>
        </p:spPr>
      </p:cxnSp>
      <p:sp>
        <p:nvSpPr>
          <p:cNvPr id="58" name="Oval 57"/>
          <p:cNvSpPr/>
          <p:nvPr/>
        </p:nvSpPr>
        <p:spPr>
          <a:xfrm>
            <a:off x="7605000" y="3780960"/>
            <a:ext cx="230000" cy="230000"/>
          </a:xfrm>
          <a:prstGeom prst="ellipse">
            <a:avLst/>
          </a:prstGeom>
          <a:solidFill>
            <a:srgbClr val="FFFFFF"/>
          </a:solidFill>
          <a:ln w="12700">
            <a:solidFill>
              <a:srgbClr val="3A93CD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59" name="TextBox 58"/>
          <p:cNvSpPr txBox="1"/>
          <p:nvPr/>
        </p:nvSpPr>
        <p:spPr>
          <a:xfrm>
            <a:off x="7605000" y="3780960"/>
            <a:ext cx="230000" cy="2300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000" b="1" i="0">
                <a:solidFill>
                  <a:srgbClr val="3A93CD"/>
                </a:solidFill>
                <a:latin typeface="Arial"/>
              </a:rPr>
              <a:t>N</a:t>
            </a:r>
          </a:p>
        </p:txBody>
      </p:sp>
      <p:sp>
        <p:nvSpPr>
          <p:cNvPr id="60" name="Oval 59"/>
          <p:cNvSpPr/>
          <p:nvPr/>
        </p:nvSpPr>
        <p:spPr>
          <a:xfrm>
            <a:off x="8815640" y="3780960"/>
            <a:ext cx="230000" cy="230000"/>
          </a:xfrm>
          <a:prstGeom prst="ellipse">
            <a:avLst/>
          </a:prstGeom>
          <a:solidFill>
            <a:srgbClr val="FFFFFF"/>
          </a:solidFill>
          <a:ln w="12700">
            <a:solidFill>
              <a:srgbClr val="3A93CD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61" name="TextBox 60"/>
          <p:cNvSpPr txBox="1"/>
          <p:nvPr/>
        </p:nvSpPr>
        <p:spPr>
          <a:xfrm>
            <a:off x="8815640" y="3780960"/>
            <a:ext cx="230000" cy="2300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000" b="1" i="0">
                <a:solidFill>
                  <a:srgbClr val="3A93CD"/>
                </a:solidFill>
                <a:latin typeface="Arial"/>
              </a:rPr>
              <a:t>M</a:t>
            </a:r>
          </a:p>
        </p:txBody>
      </p:sp>
      <p:sp>
        <p:nvSpPr>
          <p:cNvPr id="62" name="Rectangle 61"/>
          <p:cNvSpPr/>
          <p:nvPr/>
        </p:nvSpPr>
        <p:spPr>
          <a:xfrm>
            <a:off x="594360" y="4392264"/>
            <a:ext cx="10241280" cy="886968"/>
          </a:xfrm>
          <a:prstGeom prst="rect">
            <a:avLst/>
          </a:prstGeom>
          <a:solidFill>
            <a:srgbClr val="E9F3F3"/>
          </a:solidFill>
          <a:ln w="12700">
            <a:solidFill>
              <a:srgbClr val="BEE0DD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63" name="TextBox 62"/>
          <p:cNvSpPr txBox="1"/>
          <p:nvPr/>
        </p:nvSpPr>
        <p:spPr>
          <a:xfrm>
            <a:off x="795528" y="4483704"/>
            <a:ext cx="9838944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1" i="0">
                <a:solidFill>
                  <a:srgbClr val="127A76"/>
                </a:solidFill>
                <a:latin typeface="Arial"/>
              </a:rPr>
              <a:t>THE BIG IDEA</a:t>
            </a:r>
          </a:p>
        </p:txBody>
      </p:sp>
      <p:sp>
        <p:nvSpPr>
          <p:cNvPr id="64" name="TextBox 63"/>
          <p:cNvSpPr txBox="1"/>
          <p:nvPr/>
        </p:nvSpPr>
        <p:spPr>
          <a:xfrm>
            <a:off x="795528" y="4731160"/>
            <a:ext cx="9838944" cy="48807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350" b="1" i="0">
                <a:solidFill>
                  <a:srgbClr val="3A362F"/>
                </a:solidFill>
                <a:latin typeface="Courier New"/>
              </a:rPr>
              <a:t>M:N is resolved </a:t>
            </a:r>
            <a:r>
              <a:rPr sz="1350" b="0" i="0">
                <a:solidFill>
                  <a:srgbClr val="4A4640"/>
                </a:solidFill>
                <a:latin typeface="Arial"/>
              </a:rPr>
              <a:t>using a junction table — </a:t>
            </a:r>
            <a:r>
              <a:rPr sz="1350" b="1" i="0">
                <a:solidFill>
                  <a:srgbClr val="1D5FAE"/>
                </a:solidFill>
                <a:latin typeface="Courier New"/>
              </a:rPr>
              <a:t>Enrollment</a:t>
            </a:r>
            <a:r>
              <a:rPr sz="1350" b="0" i="0">
                <a:solidFill>
                  <a:srgbClr val="4A4640"/>
                </a:solidFill>
                <a:latin typeface="Arial"/>
              </a:rPr>
              <a:t> — that breaks the many-to-many link into two clean one-to-many links.</a:t>
            </a:r>
          </a:p>
        </p:txBody>
      </p:sp>
      <p:sp>
        <p:nvSpPr>
          <p:cNvPr id="65" name="TextBox 64"/>
          <p:cNvSpPr txBox="1"/>
          <p:nvPr/>
        </p:nvSpPr>
        <p:spPr>
          <a:xfrm>
            <a:off x="7223760" y="5742432"/>
            <a:ext cx="2286000" cy="3840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1300" b="1" i="0">
                <a:solidFill>
                  <a:srgbClr val="D6D6D5"/>
                </a:solidFill>
                <a:latin typeface="Arial"/>
              </a:rPr>
              <a:t>Shalinee Priya</a:t>
            </a:r>
          </a:p>
          <a:p>
            <a:pPr algn="r"/>
            <a:r>
              <a:rPr sz="900" b="0" i="0">
                <a:solidFill>
                  <a:srgbClr val="D6D6D5"/>
                </a:solidFill>
                <a:latin typeface="Arial"/>
              </a:rPr>
              <a:t>Data Analyst | SQL Trainer</a:t>
            </a:r>
          </a:p>
        </p:txBody>
      </p:sp>
      <p:sp>
        <p:nvSpPr>
          <p:cNvPr id="66" name="TextBox 65"/>
          <p:cNvSpPr txBox="1"/>
          <p:nvPr/>
        </p:nvSpPr>
        <p:spPr>
          <a:xfrm>
            <a:off x="411480" y="6473952"/>
            <a:ext cx="1005840" cy="2743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200" b="0" i="0">
                <a:solidFill>
                  <a:srgbClr val="6B675E"/>
                </a:solidFill>
                <a:latin typeface="Arial"/>
              </a:rPr>
              <a:t>7/10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DFDF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94360" y="457200"/>
            <a:ext cx="1490500" cy="320040"/>
          </a:xfrm>
          <a:prstGeom prst="rect">
            <a:avLst/>
          </a:prstGeom>
          <a:solidFill>
            <a:srgbClr val="F8ECD3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457200"/>
            <a:ext cx="1490500" cy="3200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100" b="1" i="0">
                <a:solidFill>
                  <a:srgbClr val="2C2926"/>
                </a:solidFill>
                <a:latin typeface="Arial"/>
              </a:rPr>
              <a:t>THE FULL PICTURE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868680"/>
            <a:ext cx="9875520" cy="56692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3200" b="1" i="0">
                <a:solidFill>
                  <a:srgbClr val="2C2926"/>
                </a:solidFill>
                <a:latin typeface="Arial"/>
              </a:rPr>
              <a:t>College ER Diagram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94360" y="1481328"/>
            <a:ext cx="9875520" cy="34747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300" b="0" i="1">
                <a:solidFill>
                  <a:srgbClr val="6B675E"/>
                </a:solidFill>
                <a:latin typeface="Arial"/>
              </a:rPr>
              <a:t>Every entity, key, and relationship — this is the blueprint behind every table we build.</a:t>
            </a:r>
          </a:p>
        </p:txBody>
      </p:sp>
      <p:sp>
        <p:nvSpPr>
          <p:cNvPr id="6" name="Rectangle 5"/>
          <p:cNvSpPr/>
          <p:nvPr/>
        </p:nvSpPr>
        <p:spPr>
          <a:xfrm>
            <a:off x="594360" y="1965960"/>
            <a:ext cx="10241280" cy="2976472"/>
          </a:xfrm>
          <a:prstGeom prst="rect">
            <a:avLst/>
          </a:prstGeom>
          <a:solidFill>
            <a:srgbClr val="FFFFFF"/>
          </a:solidFill>
          <a:ln w="12700">
            <a:solidFill>
              <a:srgbClr val="E3DFD6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pic>
        <p:nvPicPr>
          <p:cNvPr id="7" name="Picture 6" descr="er_diagram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85800" y="2057400"/>
            <a:ext cx="4190388" cy="2793592"/>
          </a:xfrm>
          <a:prstGeom prst="rect">
            <a:avLst/>
          </a:prstGeom>
        </p:spPr>
      </p:pic>
      <p:sp>
        <p:nvSpPr>
          <p:cNvPr id="8" name="Rectangle 7"/>
          <p:cNvSpPr/>
          <p:nvPr/>
        </p:nvSpPr>
        <p:spPr>
          <a:xfrm>
            <a:off x="6844200" y="4022432"/>
            <a:ext cx="3900000" cy="760000"/>
          </a:xfrm>
          <a:prstGeom prst="rect">
            <a:avLst/>
          </a:prstGeom>
          <a:solidFill>
            <a:srgbClr val="E9F3F3"/>
          </a:solidFill>
          <a:ln w="12700">
            <a:solidFill>
              <a:srgbClr val="BEE0DD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045368" y="4113872"/>
            <a:ext cx="3497664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1" i="0">
                <a:solidFill>
                  <a:srgbClr val="127A76"/>
                </a:solidFill>
                <a:latin typeface="Arial"/>
              </a:rPr>
              <a:t>INTERVIEW INSIGHT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045368" y="4361328"/>
            <a:ext cx="3497664" cy="36110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150" b="1" i="0">
                <a:solidFill>
                  <a:srgbClr val="3A362F"/>
                </a:solidFill>
                <a:latin typeface="Courier New"/>
              </a:rPr>
              <a:t>Many-to-Many relationships </a:t>
            </a:r>
            <a:r>
              <a:rPr sz="1150" b="0" i="0">
                <a:solidFill>
                  <a:srgbClr val="4A4640"/>
                </a:solidFill>
                <a:latin typeface="Arial"/>
              </a:rPr>
              <a:t>are implemented using a Junction Table (</a:t>
            </a:r>
            <a:r>
              <a:rPr sz="1150" b="1" i="0">
                <a:solidFill>
                  <a:srgbClr val="1D5FAE"/>
                </a:solidFill>
                <a:latin typeface="Courier New"/>
              </a:rPr>
              <a:t>ENROLLMENTS</a:t>
            </a:r>
            <a:r>
              <a:rPr sz="1150" b="0" i="0">
                <a:solidFill>
                  <a:srgbClr val="4A4640"/>
                </a:solidFill>
                <a:latin typeface="Arial"/>
              </a:rPr>
              <a:t>).</a:t>
            </a:r>
          </a:p>
        </p:txBody>
      </p:sp>
      <p:sp>
        <p:nvSpPr>
          <p:cNvPr id="11" name="Rectangle 10"/>
          <p:cNvSpPr/>
          <p:nvPr/>
        </p:nvSpPr>
        <p:spPr>
          <a:xfrm>
            <a:off x="594360" y="5062432"/>
            <a:ext cx="10241280" cy="330000"/>
          </a:xfrm>
          <a:prstGeom prst="rect">
            <a:avLst/>
          </a:prstGeom>
          <a:solidFill>
            <a:srgbClr val="E9F3F3"/>
          </a:solidFill>
          <a:ln w="12700">
            <a:solidFill>
              <a:srgbClr val="BEE0DD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2689387" y="5157432"/>
            <a:ext cx="140000" cy="140000"/>
          </a:xfrm>
          <a:prstGeom prst="rect">
            <a:avLst/>
          </a:prstGeom>
          <a:solidFill>
            <a:srgbClr val="3FA34D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2919387" y="5062432"/>
            <a:ext cx="1095375" cy="3300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100" b="1" i="0">
                <a:solidFill>
                  <a:srgbClr val="2C2926"/>
                </a:solidFill>
                <a:latin typeface="Arial"/>
              </a:rPr>
              <a:t>Entity = Table</a:t>
            </a:r>
          </a:p>
        </p:txBody>
      </p:sp>
      <p:sp>
        <p:nvSpPr>
          <p:cNvPr id="14" name="Rectangle 13"/>
          <p:cNvSpPr/>
          <p:nvPr/>
        </p:nvSpPr>
        <p:spPr>
          <a:xfrm>
            <a:off x="4334762" y="5157432"/>
            <a:ext cx="140000" cy="140000"/>
          </a:xfrm>
          <a:prstGeom prst="rect">
            <a:avLst/>
          </a:prstGeom>
          <a:solidFill>
            <a:srgbClr val="DFA938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4564762" y="5062432"/>
            <a:ext cx="1524000" cy="3300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100" b="1" i="0">
                <a:solidFill>
                  <a:srgbClr val="2C2926"/>
                </a:solidFill>
                <a:latin typeface="Arial"/>
              </a:rPr>
              <a:t>Attribute = Column</a:t>
            </a:r>
          </a:p>
        </p:txBody>
      </p:sp>
      <p:sp>
        <p:nvSpPr>
          <p:cNvPr id="16" name="Rectangle 15"/>
          <p:cNvSpPr/>
          <p:nvPr/>
        </p:nvSpPr>
        <p:spPr>
          <a:xfrm>
            <a:off x="6408762" y="5157432"/>
            <a:ext cx="140000" cy="140000"/>
          </a:xfrm>
          <a:prstGeom prst="rect">
            <a:avLst/>
          </a:prstGeom>
          <a:solidFill>
            <a:srgbClr val="1D5FAE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638762" y="5062432"/>
            <a:ext cx="2101850" cy="3300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100" b="1" i="0">
                <a:solidFill>
                  <a:srgbClr val="2C2926"/>
                </a:solidFill>
                <a:latin typeface="Arial"/>
              </a:rPr>
              <a:t>PK / FK = Relationship Key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94360" y="5482432"/>
            <a:ext cx="10241280" cy="2600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200" b="0" i="1">
                <a:solidFill>
                  <a:srgbClr val="6B675E"/>
                </a:solidFill>
                <a:latin typeface="Arial"/>
              </a:rPr>
              <a:t>Primary Keys uniquely identify records, while Foreign Keys create relationships between entities.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223760" y="5742432"/>
            <a:ext cx="2286000" cy="3840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1300" b="1" i="0">
                <a:solidFill>
                  <a:srgbClr val="D6D6D5"/>
                </a:solidFill>
                <a:latin typeface="Arial"/>
              </a:rPr>
              <a:t>Shalinee Priya</a:t>
            </a:r>
          </a:p>
          <a:p>
            <a:pPr algn="r"/>
            <a:r>
              <a:rPr sz="900" b="0" i="0">
                <a:solidFill>
                  <a:srgbClr val="D6D6D5"/>
                </a:solidFill>
                <a:latin typeface="Arial"/>
              </a:rPr>
              <a:t>Data Analyst | SQL Trainer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11480" y="6473952"/>
            <a:ext cx="1005840" cy="2743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200" b="0" i="0">
                <a:solidFill>
                  <a:srgbClr val="6B675E"/>
                </a:solidFill>
                <a:latin typeface="Arial"/>
              </a:rPr>
              <a:t>8/10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DFDF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94360" y="457200"/>
            <a:ext cx="757075" cy="320040"/>
          </a:xfrm>
          <a:prstGeom prst="rect">
            <a:avLst/>
          </a:prstGeom>
          <a:solidFill>
            <a:srgbClr val="F8ECD3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457200"/>
            <a:ext cx="757075" cy="3200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100" b="1" i="0">
                <a:solidFill>
                  <a:srgbClr val="2C2926"/>
                </a:solidFill>
                <a:latin typeface="Arial"/>
              </a:rPr>
              <a:t>ER → SQL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868680"/>
            <a:ext cx="9875520" cy="56692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2800" b="1" i="0">
                <a:solidFill>
                  <a:srgbClr val="2C2926"/>
                </a:solidFill>
                <a:latin typeface="Arial"/>
              </a:rPr>
              <a:t>Convert ER Model into Tables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94360" y="1481328"/>
            <a:ext cx="9875520" cy="34747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300" b="0" i="1">
                <a:solidFill>
                  <a:srgbClr val="6B675E"/>
                </a:solidFill>
                <a:latin typeface="Arial"/>
              </a:rPr>
              <a:t>Every ER concept has a direct, predictable SQL equivalent.</a:t>
            </a:r>
          </a:p>
        </p:txBody>
      </p:sp>
      <p:sp>
        <p:nvSpPr>
          <p:cNvPr id="6" name="Rectangle 5"/>
          <p:cNvSpPr/>
          <p:nvPr/>
        </p:nvSpPr>
        <p:spPr>
          <a:xfrm>
            <a:off x="594360" y="1965960"/>
            <a:ext cx="10241280" cy="2584632"/>
          </a:xfrm>
          <a:prstGeom prst="rect">
            <a:avLst/>
          </a:prstGeom>
          <a:solidFill>
            <a:srgbClr val="FFFFFF"/>
          </a:solidFill>
          <a:ln w="12700">
            <a:solidFill>
              <a:srgbClr val="E3DFD6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51560" y="1965960"/>
            <a:ext cx="4663440" cy="48463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300" b="1" i="0">
                <a:solidFill>
                  <a:srgbClr val="6B675E"/>
                </a:solidFill>
                <a:latin typeface="Arial"/>
              </a:rPr>
              <a:t>ER CONCEPT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172200" y="1965960"/>
            <a:ext cx="4663440" cy="48463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300" b="1" i="0">
                <a:solidFill>
                  <a:srgbClr val="127A76"/>
                </a:solidFill>
                <a:latin typeface="Arial"/>
              </a:rPr>
              <a:t>SQL</a:t>
            </a:r>
          </a:p>
        </p:txBody>
      </p:sp>
      <p:sp>
        <p:nvSpPr>
          <p:cNvPr id="9" name="Rectangle 8"/>
          <p:cNvSpPr/>
          <p:nvPr/>
        </p:nvSpPr>
        <p:spPr>
          <a:xfrm>
            <a:off x="5710428" y="1965960"/>
            <a:ext cx="9144" cy="2584632"/>
          </a:xfrm>
          <a:prstGeom prst="rect">
            <a:avLst/>
          </a:prstGeom>
          <a:solidFill>
            <a:srgbClr val="E3DFD6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594360" y="2450592"/>
            <a:ext cx="10241280" cy="420000"/>
          </a:xfrm>
          <a:prstGeom prst="rect">
            <a:avLst/>
          </a:prstGeom>
          <a:solidFill>
            <a:srgbClr val="F4F5F6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051560" y="2450592"/>
            <a:ext cx="4663440" cy="4200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300" b="0" i="0">
                <a:solidFill>
                  <a:srgbClr val="4A4640"/>
                </a:solidFill>
                <a:latin typeface="Arial"/>
              </a:rPr>
              <a:t>Entity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172200" y="2450592"/>
            <a:ext cx="4663440" cy="4200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300" b="1" i="0">
                <a:solidFill>
                  <a:srgbClr val="2C2926"/>
                </a:solidFill>
                <a:latin typeface="Arial"/>
              </a:rPr>
              <a:t>Table</a:t>
            </a:r>
          </a:p>
        </p:txBody>
      </p:sp>
      <p:sp>
        <p:nvSpPr>
          <p:cNvPr id="13" name="Rectangle 12"/>
          <p:cNvSpPr/>
          <p:nvPr/>
        </p:nvSpPr>
        <p:spPr>
          <a:xfrm>
            <a:off x="594360" y="2870592"/>
            <a:ext cx="10241280" cy="420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051560" y="2870592"/>
            <a:ext cx="4663440" cy="4200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300" b="0" i="0">
                <a:solidFill>
                  <a:srgbClr val="4A4640"/>
                </a:solidFill>
                <a:latin typeface="Arial"/>
              </a:rPr>
              <a:t>Attribute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172200" y="2870592"/>
            <a:ext cx="4663440" cy="4200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300" b="1" i="0">
                <a:solidFill>
                  <a:srgbClr val="2C2926"/>
                </a:solidFill>
                <a:latin typeface="Arial"/>
              </a:rPr>
              <a:t>Column</a:t>
            </a:r>
          </a:p>
        </p:txBody>
      </p:sp>
      <p:sp>
        <p:nvSpPr>
          <p:cNvPr id="16" name="Rectangle 15"/>
          <p:cNvSpPr/>
          <p:nvPr/>
        </p:nvSpPr>
        <p:spPr>
          <a:xfrm>
            <a:off x="594360" y="3290592"/>
            <a:ext cx="10241280" cy="420000"/>
          </a:xfrm>
          <a:prstGeom prst="rect">
            <a:avLst/>
          </a:prstGeom>
          <a:solidFill>
            <a:srgbClr val="F4F5F6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1051560" y="3290592"/>
            <a:ext cx="4663440" cy="4200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300" b="0" i="0">
                <a:solidFill>
                  <a:srgbClr val="4A4640"/>
                </a:solidFill>
                <a:latin typeface="Arial"/>
              </a:rPr>
              <a:t>Key Attribute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172200" y="3290592"/>
            <a:ext cx="4663440" cy="4200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300" b="1" i="0">
                <a:solidFill>
                  <a:srgbClr val="1D5FAE"/>
                </a:solidFill>
                <a:latin typeface="Courier New"/>
              </a:rPr>
              <a:t>PRIMARY KEY</a:t>
            </a:r>
          </a:p>
        </p:txBody>
      </p:sp>
      <p:sp>
        <p:nvSpPr>
          <p:cNvPr id="19" name="Rectangle 18"/>
          <p:cNvSpPr/>
          <p:nvPr/>
        </p:nvSpPr>
        <p:spPr>
          <a:xfrm>
            <a:off x="594360" y="3710592"/>
            <a:ext cx="10241280" cy="420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1051560" y="3710592"/>
            <a:ext cx="4663440" cy="4200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300" b="0" i="0">
                <a:solidFill>
                  <a:srgbClr val="4A4640"/>
                </a:solidFill>
                <a:latin typeface="Arial"/>
              </a:rPr>
              <a:t>Relationship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172200" y="3710592"/>
            <a:ext cx="4663440" cy="4200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300" b="1" i="0">
                <a:solidFill>
                  <a:srgbClr val="1D5FAE"/>
                </a:solidFill>
                <a:latin typeface="Courier New"/>
              </a:rPr>
              <a:t>FOREIGN KEY</a:t>
            </a:r>
          </a:p>
        </p:txBody>
      </p:sp>
      <p:sp>
        <p:nvSpPr>
          <p:cNvPr id="22" name="Rectangle 21"/>
          <p:cNvSpPr/>
          <p:nvPr/>
        </p:nvSpPr>
        <p:spPr>
          <a:xfrm>
            <a:off x="594360" y="4130592"/>
            <a:ext cx="10241280" cy="420000"/>
          </a:xfrm>
          <a:prstGeom prst="rect">
            <a:avLst/>
          </a:prstGeom>
          <a:solidFill>
            <a:srgbClr val="F4F5F6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1051560" y="4130592"/>
            <a:ext cx="4663440" cy="4200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300" b="0" i="0">
                <a:solidFill>
                  <a:srgbClr val="4A4640"/>
                </a:solidFill>
                <a:latin typeface="Arial"/>
              </a:rPr>
              <a:t>M:N Relationship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172200" y="4130592"/>
            <a:ext cx="4663440" cy="4200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300" b="1" i="0">
                <a:solidFill>
                  <a:srgbClr val="1D5FAE"/>
                </a:solidFill>
                <a:latin typeface="Courier New"/>
              </a:rPr>
              <a:t>Junction Table</a:t>
            </a:r>
          </a:p>
        </p:txBody>
      </p:sp>
      <p:sp>
        <p:nvSpPr>
          <p:cNvPr id="25" name="Rectangle 24"/>
          <p:cNvSpPr/>
          <p:nvPr/>
        </p:nvSpPr>
        <p:spPr>
          <a:xfrm>
            <a:off x="594360" y="4678608"/>
            <a:ext cx="10241280" cy="750000"/>
          </a:xfrm>
          <a:prstGeom prst="rect">
            <a:avLst/>
          </a:prstGeom>
          <a:solidFill>
            <a:srgbClr val="E9F3F3"/>
          </a:solidFill>
          <a:ln w="12700">
            <a:solidFill>
              <a:srgbClr val="BEE0DD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795528" y="4770048"/>
            <a:ext cx="9838944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1" i="0">
                <a:solidFill>
                  <a:srgbClr val="127A76"/>
                </a:solidFill>
                <a:latin typeface="Arial"/>
              </a:rPr>
              <a:t>EXAMPLE — THE ENROLLMENT JUNCTION TABLE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795528" y="5017504"/>
            <a:ext cx="9838944" cy="35110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250" b="1" i="0">
                <a:solidFill>
                  <a:srgbClr val="3A362F"/>
                </a:solidFill>
                <a:latin typeface="Courier New"/>
              </a:rPr>
              <a:t>CREATE TABLE Enrollment (Student_ID INT, Course_ID INT, </a:t>
            </a:r>
            <a:r>
              <a:rPr sz="1250" b="1" i="0">
                <a:solidFill>
                  <a:srgbClr val="1D5FAE"/>
                </a:solidFill>
                <a:latin typeface="Courier New"/>
              </a:rPr>
              <a:t>PRIMARY KEY</a:t>
            </a:r>
            <a:r>
              <a:rPr sz="1250" b="1" i="0">
                <a:solidFill>
                  <a:srgbClr val="3A362F"/>
                </a:solidFill>
                <a:latin typeface="Courier New"/>
              </a:rPr>
              <a:t>(Student_ID, Course_ID));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7223760" y="5742432"/>
            <a:ext cx="2286000" cy="3840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1300" b="1" i="0">
                <a:solidFill>
                  <a:srgbClr val="D6D6D5"/>
                </a:solidFill>
                <a:latin typeface="Arial"/>
              </a:rPr>
              <a:t>Shalinee Priya</a:t>
            </a:r>
          </a:p>
          <a:p>
            <a:pPr algn="r"/>
            <a:r>
              <a:rPr sz="900" b="0" i="0">
                <a:solidFill>
                  <a:srgbClr val="D6D6D5"/>
                </a:solidFill>
                <a:latin typeface="Arial"/>
              </a:rPr>
              <a:t>Data Analyst | SQL Trainer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411480" y="6473952"/>
            <a:ext cx="1005840" cy="2743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200" b="0" i="0">
                <a:solidFill>
                  <a:srgbClr val="6B675E"/>
                </a:solidFill>
                <a:latin typeface="Arial"/>
              </a:rPr>
              <a:t>9/10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DFDF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94360" y="457200"/>
            <a:ext cx="880900" cy="320040"/>
          </a:xfrm>
          <a:prstGeom prst="rect">
            <a:avLst/>
          </a:prstGeom>
          <a:solidFill>
            <a:srgbClr val="F8ECD3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457200"/>
            <a:ext cx="880900" cy="3200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100" b="1" i="0">
                <a:solidFill>
                  <a:srgbClr val="2C2926"/>
                </a:solidFill>
                <a:latin typeface="Arial"/>
              </a:rPr>
              <a:t>HANDS-ON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868680"/>
            <a:ext cx="9875520" cy="56692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3000" b="1" i="0">
                <a:solidFill>
                  <a:srgbClr val="2C2926"/>
                </a:solidFill>
                <a:latin typeface="Arial"/>
              </a:rPr>
              <a:t>Mini Interview Challenge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94360" y="1481328"/>
            <a:ext cx="9875520" cy="34747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300" b="0" i="1">
                <a:solidFill>
                  <a:srgbClr val="6B675E"/>
                </a:solidFill>
                <a:latin typeface="Arial"/>
              </a:rPr>
              <a:t>Five questions using everything from today — no answers here!</a:t>
            </a:r>
          </a:p>
        </p:txBody>
      </p:sp>
      <p:sp>
        <p:nvSpPr>
          <p:cNvPr id="6" name="Rectangle 5"/>
          <p:cNvSpPr/>
          <p:nvPr/>
        </p:nvSpPr>
        <p:spPr>
          <a:xfrm>
            <a:off x="594360" y="1965960"/>
            <a:ext cx="10241280" cy="475488"/>
          </a:xfrm>
          <a:prstGeom prst="rect">
            <a:avLst/>
          </a:prstGeom>
          <a:solidFill>
            <a:srgbClr val="FFFFFF"/>
          </a:solidFill>
          <a:ln w="12700">
            <a:solidFill>
              <a:srgbClr val="E3DFD6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795528" y="2039112"/>
            <a:ext cx="329184" cy="329184"/>
          </a:xfrm>
          <a:prstGeom prst="ellipse">
            <a:avLst/>
          </a:prstGeom>
          <a:solidFill>
            <a:srgbClr val="DFA938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95528" y="2039112"/>
            <a:ext cx="329184" cy="32918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500" b="1" i="0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325880" y="1965960"/>
            <a:ext cx="9359760" cy="47548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300" b="0" i="0">
                <a:solidFill>
                  <a:srgbClr val="2C2926"/>
                </a:solidFill>
                <a:latin typeface="Arial"/>
              </a:rPr>
              <a:t>Entity vs Attribute — what's the difference?</a:t>
            </a:r>
          </a:p>
        </p:txBody>
      </p:sp>
      <p:sp>
        <p:nvSpPr>
          <p:cNvPr id="10" name="Rectangle 9"/>
          <p:cNvSpPr/>
          <p:nvPr/>
        </p:nvSpPr>
        <p:spPr>
          <a:xfrm>
            <a:off x="594360" y="2501448"/>
            <a:ext cx="10241280" cy="475488"/>
          </a:xfrm>
          <a:prstGeom prst="rect">
            <a:avLst/>
          </a:prstGeom>
          <a:solidFill>
            <a:srgbClr val="FFFFFF"/>
          </a:solidFill>
          <a:ln w="12700">
            <a:solidFill>
              <a:srgbClr val="E3DFD6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795528" y="2574600"/>
            <a:ext cx="329184" cy="329184"/>
          </a:xfrm>
          <a:prstGeom prst="ellipse">
            <a:avLst/>
          </a:prstGeom>
          <a:solidFill>
            <a:srgbClr val="DFA938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95528" y="2574600"/>
            <a:ext cx="329184" cy="32918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500" b="1" i="0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325880" y="2501448"/>
            <a:ext cx="9359760" cy="47548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300" b="0" i="0">
                <a:solidFill>
                  <a:srgbClr val="2C2926"/>
                </a:solidFill>
                <a:latin typeface="Arial"/>
              </a:rPr>
              <a:t>Strong vs Weak Entity — what sets them apart?</a:t>
            </a:r>
          </a:p>
        </p:txBody>
      </p:sp>
      <p:sp>
        <p:nvSpPr>
          <p:cNvPr id="14" name="Rectangle 13"/>
          <p:cNvSpPr/>
          <p:nvPr/>
        </p:nvSpPr>
        <p:spPr>
          <a:xfrm>
            <a:off x="594360" y="3036936"/>
            <a:ext cx="10241280" cy="475488"/>
          </a:xfrm>
          <a:prstGeom prst="rect">
            <a:avLst/>
          </a:prstGeom>
          <a:solidFill>
            <a:srgbClr val="FFFFFF"/>
          </a:solidFill>
          <a:ln w="12700">
            <a:solidFill>
              <a:srgbClr val="E3DFD6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5" name="Oval 14"/>
          <p:cNvSpPr/>
          <p:nvPr/>
        </p:nvSpPr>
        <p:spPr>
          <a:xfrm>
            <a:off x="795528" y="3110088"/>
            <a:ext cx="329184" cy="329184"/>
          </a:xfrm>
          <a:prstGeom prst="ellipse">
            <a:avLst/>
          </a:prstGeom>
          <a:solidFill>
            <a:srgbClr val="DFA938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795528" y="3110088"/>
            <a:ext cx="329184" cy="32918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500" b="1" i="0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325880" y="3036936"/>
            <a:ext cx="9359760" cy="47548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300" b="0" i="0">
                <a:solidFill>
                  <a:srgbClr val="2C2926"/>
                </a:solidFill>
                <a:latin typeface="Arial"/>
              </a:rPr>
              <a:t>What is Cardinality?</a:t>
            </a:r>
          </a:p>
        </p:txBody>
      </p:sp>
      <p:sp>
        <p:nvSpPr>
          <p:cNvPr id="18" name="Rectangle 17"/>
          <p:cNvSpPr/>
          <p:nvPr/>
        </p:nvSpPr>
        <p:spPr>
          <a:xfrm>
            <a:off x="594360" y="3572424"/>
            <a:ext cx="10241280" cy="475488"/>
          </a:xfrm>
          <a:prstGeom prst="rect">
            <a:avLst/>
          </a:prstGeom>
          <a:solidFill>
            <a:srgbClr val="FFFFFF"/>
          </a:solidFill>
          <a:ln w="12700">
            <a:solidFill>
              <a:srgbClr val="E3DFD6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795528" y="3645576"/>
            <a:ext cx="329184" cy="329184"/>
          </a:xfrm>
          <a:prstGeom prst="ellipse">
            <a:avLst/>
          </a:prstGeom>
          <a:solidFill>
            <a:srgbClr val="DFA938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795528" y="3645576"/>
            <a:ext cx="329184" cy="32918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500" b="1" i="0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325880" y="3572424"/>
            <a:ext cx="9359760" cy="47548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300" b="0" i="0">
                <a:solidFill>
                  <a:srgbClr val="2C2926"/>
                </a:solidFill>
                <a:latin typeface="Arial"/>
              </a:rPr>
              <a:t>Why is an Enrollment (junction) table required?</a:t>
            </a:r>
          </a:p>
        </p:txBody>
      </p:sp>
      <p:sp>
        <p:nvSpPr>
          <p:cNvPr id="22" name="Rectangle 21"/>
          <p:cNvSpPr/>
          <p:nvPr/>
        </p:nvSpPr>
        <p:spPr>
          <a:xfrm>
            <a:off x="594360" y="4107912"/>
            <a:ext cx="10241280" cy="475488"/>
          </a:xfrm>
          <a:prstGeom prst="rect">
            <a:avLst/>
          </a:prstGeom>
          <a:solidFill>
            <a:srgbClr val="FFFFFF"/>
          </a:solidFill>
          <a:ln w="12700">
            <a:solidFill>
              <a:srgbClr val="E3DFD6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3" name="Oval 22"/>
          <p:cNvSpPr/>
          <p:nvPr/>
        </p:nvSpPr>
        <p:spPr>
          <a:xfrm>
            <a:off x="795528" y="4181064"/>
            <a:ext cx="329184" cy="329184"/>
          </a:xfrm>
          <a:prstGeom prst="ellipse">
            <a:avLst/>
          </a:prstGeom>
          <a:solidFill>
            <a:srgbClr val="DFA938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795528" y="4181064"/>
            <a:ext cx="329184" cy="32918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500" b="1" i="0">
                <a:solidFill>
                  <a:srgbClr val="FFFFFF"/>
                </a:solidFill>
                <a:latin typeface="Arial"/>
              </a:rPr>
              <a:t>5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325880" y="4107912"/>
            <a:ext cx="9359760" cy="47548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300" b="0" i="0">
                <a:solidFill>
                  <a:srgbClr val="2C2926"/>
                </a:solidFill>
                <a:latin typeface="Arial"/>
              </a:rPr>
              <a:t>Convert a Library ER model into tables.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594360" y="4663400"/>
            <a:ext cx="10241280" cy="29260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350" b="1" i="0">
                <a:solidFill>
                  <a:srgbClr val="2C2926"/>
                </a:solidFill>
                <a:latin typeface="Courier New"/>
              </a:rPr>
              <a:t>ER Model</a:t>
            </a:r>
            <a:r>
              <a:rPr sz="1350" b="1" i="0">
                <a:solidFill>
                  <a:srgbClr val="3A93CD"/>
                </a:solidFill>
                <a:latin typeface="Arial"/>
              </a:rPr>
              <a:t>   →   </a:t>
            </a:r>
            <a:r>
              <a:rPr sz="1350" b="1" i="0">
                <a:solidFill>
                  <a:srgbClr val="2C2926"/>
                </a:solidFill>
                <a:latin typeface="Courier New"/>
              </a:rPr>
              <a:t>Tables</a:t>
            </a:r>
            <a:r>
              <a:rPr sz="1350" b="1" i="0">
                <a:solidFill>
                  <a:srgbClr val="3A93CD"/>
                </a:solidFill>
                <a:latin typeface="Arial"/>
              </a:rPr>
              <a:t>   →   </a:t>
            </a:r>
            <a:r>
              <a:rPr sz="1350" b="1" i="0">
                <a:solidFill>
                  <a:srgbClr val="127A76"/>
                </a:solidFill>
                <a:latin typeface="Arial"/>
              </a:rPr>
              <a:t>Normalization (Next Module)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7223760" y="5742432"/>
            <a:ext cx="2286000" cy="3840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1300" b="1" i="0">
                <a:solidFill>
                  <a:srgbClr val="D6D6D5"/>
                </a:solidFill>
                <a:latin typeface="Arial"/>
              </a:rPr>
              <a:t>Shalinee Priya</a:t>
            </a:r>
          </a:p>
          <a:p>
            <a:pPr algn="r"/>
            <a:r>
              <a:rPr sz="900" b="0" i="0">
                <a:solidFill>
                  <a:srgbClr val="D6D6D5"/>
                </a:solidFill>
                <a:latin typeface="Arial"/>
              </a:rPr>
              <a:t>Data Analyst | SQL Trainer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411480" y="6473952"/>
            <a:ext cx="1005840" cy="2743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200" b="0" i="0">
                <a:solidFill>
                  <a:srgbClr val="6B675E"/>
                </a:solidFill>
                <a:latin typeface="Arial"/>
              </a:rPr>
              <a:t>10/10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