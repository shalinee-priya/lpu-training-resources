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1430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88536" cy="6858000"/>
          </a:xfrm>
          <a:prstGeom prst="rect">
            <a:avLst/>
          </a:prstGeom>
          <a:solidFill>
            <a:srgbClr val="1F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640080"/>
            <a:ext cx="2377440" cy="237744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3063240"/>
            <a:ext cx="1554480" cy="155448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4160520"/>
            <a:ext cx="1920240" cy="1920240"/>
          </a:xfrm>
          <a:prstGeom prst="ellipse">
            <a:avLst/>
          </a:prstGeom>
          <a:noFill/>
          <a:ln w="15875">
            <a:solidFill>
              <a:srgbClr val="3A9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0584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822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3108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274320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53949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200" y="621792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63040" y="585216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4572000"/>
            <a:ext cx="82296" cy="8229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960" y="1051560"/>
            <a:ext cx="1005840" cy="2103119"/>
          </a:xfrm>
          <a:prstGeom prst="line">
            <a:avLst/>
          </a:prstGeom>
          <a:ln w="12700">
            <a:solidFill>
              <a:srgbClr val="3A93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2788920"/>
            <a:ext cx="1783080" cy="365759"/>
          </a:xfrm>
          <a:prstGeom prst="line">
            <a:avLst/>
          </a:prstGeom>
          <a:ln w="12700">
            <a:solidFill>
              <a:srgbClr val="3A93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08760" y="5897880"/>
            <a:ext cx="1280160" cy="365760"/>
          </a:xfrm>
          <a:prstGeom prst="line">
            <a:avLst/>
          </a:prstGeom>
          <a:ln w="12700">
            <a:solidFill>
              <a:srgbClr val="3A93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37560" y="868680"/>
            <a:ext cx="274319" cy="1920240"/>
          </a:xfrm>
          <a:prstGeom prst="line">
            <a:avLst/>
          </a:prstGeom>
          <a:ln w="12700">
            <a:solidFill>
              <a:srgbClr val="3A93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0" y="3063240"/>
            <a:ext cx="42885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14600"/>
            <a:ext cx="5852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2C2926"/>
                </a:solidFill>
                <a:latin typeface="Arial"/>
              </a:rPr>
              <a:t>SQL Day 5: Keys &amp;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069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A4640"/>
                </a:solidFill>
                <a:latin typeface="Arial"/>
              </a:rPr>
              <a:t>Structured Query Language · B.Tech SQL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2C2926"/>
                </a:solidFill>
                <a:latin typeface="Arial"/>
              </a:rPr>
              <a:t>What We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2/10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79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Why Data Integrity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65960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240279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304288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Primary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06624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80944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4495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Foreign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706624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980944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04495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UNIQUE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38144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712463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7647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NOT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438144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3712463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3776472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178808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453128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17136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AUTO_INCREMENT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178808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4453128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4517136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Constraint Violations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919472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93792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257800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Business Case Studies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919472"/>
            <a:ext cx="47731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5193792"/>
            <a:ext cx="4544568" cy="18288"/>
          </a:xfrm>
          <a:prstGeom prst="rect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5257800"/>
            <a:ext cx="4544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2926"/>
                </a:solidFill>
                <a:latin typeface="Arial"/>
              </a:rPr>
              <a:t>Mini Interview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 i="0">
                <a:solidFill>
                  <a:srgbClr val="2C2926"/>
                </a:solidFill>
                <a:latin typeface="Arial"/>
              </a:rPr>
              <a:t>Why Keys &amp; Constraints?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Two students share an ID. A placement references a student who doesn't exist.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232257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10241280" cy="48463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48920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B675E"/>
                </a:solidFill>
                <a:latin typeface="Arial"/>
              </a:rPr>
              <a:t>WITHOUT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965960"/>
            <a:ext cx="48920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7A76"/>
                </a:solidFill>
                <a:latin typeface="Arial"/>
              </a:rPr>
              <a:t>WITH CONSTRAINTS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50591"/>
            <a:ext cx="10241280" cy="459485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50591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Duplicate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50591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926"/>
                </a:solidFill>
                <a:latin typeface="Arial"/>
              </a:rPr>
              <a:t>Unique 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10077"/>
            <a:ext cx="10241280" cy="4594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10077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Missing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910077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NOT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369563"/>
            <a:ext cx="10241280" cy="459485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69563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Invalid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369563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FOREIGN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829050"/>
            <a:ext cx="10241280" cy="4594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29050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A4640"/>
                </a:solidFill>
                <a:latin typeface="Arial"/>
              </a:rPr>
              <a:t>Inconsistent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829050"/>
            <a:ext cx="4892040" cy="4594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C2926"/>
                </a:solidFill>
                <a:latin typeface="Arial"/>
              </a:rPr>
              <a:t>Reliable 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65960"/>
            <a:ext cx="9144" cy="2322576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498848"/>
            <a:ext cx="10241280" cy="795528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590288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809744"/>
            <a:ext cx="983894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362F"/>
                </a:solidFill>
                <a:latin typeface="Courier New"/>
              </a:rPr>
              <a:t>Constraints </a:t>
            </a:r>
            <a:r>
              <a:rPr sz="1300" b="0" i="0">
                <a:solidFill>
                  <a:srgbClr val="4A4640"/>
                </a:solidFill>
                <a:latin typeface="Arial"/>
              </a:rPr>
              <a:t>protect the quality of data before it enters the database.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2866644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8666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UNIQUE IDENTIFIER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2C2926"/>
                </a:solidFill>
                <a:latin typeface="Arial"/>
              </a:rPr>
              <a:t>Primary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Every table needs one column that identifies each row without doubt.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5852160" cy="2258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2071116"/>
            <a:ext cx="100584" cy="100584"/>
          </a:xfrm>
          <a:prstGeom prst="ellipse">
            <a:avLst/>
          </a:prstGeom>
          <a:solidFill>
            <a:srgbClr val="E86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071116"/>
            <a:ext cx="100584" cy="100584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2071116"/>
            <a:ext cx="100584" cy="100584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MySQL Workbench — college_db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5303520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8F5A"/>
                </a:solidFill>
                <a:latin typeface="Courier New"/>
              </a:rPr>
              <a:t>-- One column, always unique</a:t>
            </a:r>
          </a:p>
          <a:p>
            <a:pPr algn="l"/>
            <a:r>
              <a:rPr sz="1300" b="0" i="0">
                <a:solidFill>
                  <a:srgbClr val="2C2926"/>
                </a:solidFill>
                <a:latin typeface="Courier New"/>
              </a:rPr>
              <a:t> </a:t>
            </a:r>
          </a:p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CREATE TABLE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 students (</a:t>
            </a:r>
          </a:p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    student_id INT </a:t>
            </a:r>
            <a:r>
              <a:rPr sz="1300" b="1" i="0">
                <a:solidFill>
                  <a:srgbClr val="1D5FAE"/>
                </a:solidFill>
                <a:latin typeface="Courier New"/>
              </a:rPr>
              <a:t>PRIMARY KEY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,</a:t>
            </a:r>
          </a:p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    name VARCHAR(50)</a:t>
            </a:r>
          </a:p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9659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2029967"/>
            <a:ext cx="37856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2926"/>
                </a:solidFill>
                <a:latin typeface="Arial"/>
              </a:rPr>
              <a:t>Unique Identifier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231136"/>
            <a:ext cx="3785615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Arial"/>
              </a:rPr>
              <a:t>No two rows can ever share the same student_id.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6243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1" y="2688336"/>
            <a:ext cx="37856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2926"/>
                </a:solidFill>
                <a:latin typeface="Arial"/>
              </a:rPr>
              <a:t>Cannot Be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1" y="2889504"/>
            <a:ext cx="3785615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Arial"/>
              </a:rPr>
              <a:t>A Primary Key column can never be left empty.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28269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1" y="3346703"/>
            <a:ext cx="37856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2926"/>
                </a:solidFill>
                <a:latin typeface="Arial"/>
              </a:rPr>
              <a:t>One Per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1" y="3547872"/>
            <a:ext cx="3785615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640"/>
                </a:solidFill>
                <a:latin typeface="Arial"/>
              </a:rPr>
              <a:t>A table declares exactly one Primary Key, ever.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370832"/>
            <a:ext cx="5852160" cy="1161288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462272"/>
            <a:ext cx="5449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BUSINESS ANALOGY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681728"/>
            <a:ext cx="54498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A362F"/>
                </a:solidFill>
                <a:latin typeface="Courier New"/>
              </a:rPr>
              <a:t>Think Aadhaar or Employee ID</a:t>
            </a:r>
            <a:r>
              <a:rPr sz="1250" b="0" i="0">
                <a:solidFill>
                  <a:srgbClr val="4A4640"/>
                </a:solidFill>
                <a:latin typeface="Arial"/>
              </a:rPr>
              <a:t> — one number, one person, never reused for anyone 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986784"/>
            <a:ext cx="4114800" cy="1618487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1" y="4078224"/>
            <a:ext cx="378561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27A76"/>
                </a:solidFill>
                <a:latin typeface="Arial"/>
              </a:rPr>
              <a:t>INTERVIEW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1" y="4279392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Candidate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4279392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C2926"/>
                </a:solidFill>
                <a:latin typeface="Arial"/>
              </a:rPr>
              <a:t>Primary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1" y="4443984"/>
            <a:ext cx="1847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4640"/>
                </a:solidFill>
                <a:latin typeface="Arial"/>
              </a:rPr>
              <a:t>All possible unique identifiers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4443984"/>
            <a:ext cx="1847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4640"/>
                </a:solidFill>
                <a:latin typeface="Arial"/>
              </a:rPr>
              <a:t>The chosen unique identifier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1" y="4700016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B675E"/>
                </a:solidFill>
                <a:latin typeface="Arial"/>
              </a:rPr>
              <a:t>Multiple may exist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59" y="4700016"/>
            <a:ext cx="184708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B675E"/>
                </a:solidFill>
                <a:latin typeface="Arial"/>
              </a:rPr>
              <a:t>Only one per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1" y="4882896"/>
            <a:ext cx="3785615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D5FAE"/>
                </a:solidFill>
                <a:latin typeface="Courier New"/>
              </a:rPr>
              <a:t>Email, Phone </a:t>
            </a:r>
            <a:r>
              <a:rPr sz="800" b="0" i="0">
                <a:solidFill>
                  <a:srgbClr val="4A4640"/>
                </a:solidFill>
                <a:latin typeface="Arial"/>
              </a:rPr>
              <a:t>→ Candidate Key   ·   </a:t>
            </a:r>
            <a:r>
              <a:rPr sz="800" b="1" i="0">
                <a:solidFill>
                  <a:srgbClr val="1D5FAE"/>
                </a:solidFill>
                <a:latin typeface="Courier New"/>
              </a:rPr>
              <a:t>Student_ID </a:t>
            </a:r>
            <a:r>
              <a:rPr sz="800" b="0" i="0">
                <a:solidFill>
                  <a:srgbClr val="4A4640"/>
                </a:solidFill>
                <a:latin typeface="Arial"/>
              </a:rPr>
              <a:t>→ Primary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1" y="5065776"/>
            <a:ext cx="37856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C2926"/>
                </a:solidFill>
                <a:latin typeface="Arial"/>
              </a:rPr>
              <a:t>Composite Primary Key: </a:t>
            </a:r>
            <a:r>
              <a:rPr sz="850" b="0" i="0">
                <a:solidFill>
                  <a:srgbClr val="4A4640"/>
                </a:solidFill>
                <a:latin typeface="Arial"/>
              </a:rPr>
              <a:t>two+ columns together uniquely identify a record.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1" y="5321808"/>
            <a:ext cx="378561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A362F"/>
                </a:solidFill>
                <a:latin typeface="Courier New"/>
              </a:rPr>
              <a:t>PRIMARY KEY(student_id, course_id)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LINKING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2C2926"/>
                </a:solidFill>
                <a:latin typeface="Arial"/>
              </a:rPr>
              <a:t>Foreign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One table's key becomes another table's promise.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4434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4434840" cy="27432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79"/>
            <a:ext cx="4434840" cy="31089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40279"/>
            <a:ext cx="20528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D5FAE"/>
                </a:solidFill>
                <a:latin typeface="Courier New"/>
              </a:rPr>
              <a:t>student_id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499" y="2240279"/>
            <a:ext cx="20528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D5FAE"/>
                </a:solidFill>
                <a:latin typeface="Courier New"/>
              </a:rPr>
              <a:t>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551175"/>
            <a:ext cx="4434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551175"/>
            <a:ext cx="20528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C2926"/>
                </a:solidFill>
                <a:latin typeface="Courier New"/>
              </a:rPr>
              <a:t>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99" y="2551175"/>
            <a:ext cx="20528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C2926"/>
                </a:solidFill>
                <a:latin typeface="Courier New"/>
              </a:rPr>
              <a:t>Aarav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130552"/>
            <a:ext cx="9144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A93CD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5146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6B675E"/>
                </a:solidFill>
                <a:latin typeface="Arial"/>
              </a:rPr>
              <a:t>REFERENCES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65960"/>
            <a:ext cx="4434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65960"/>
            <a:ext cx="4434840" cy="274320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C2926"/>
                </a:solidFill>
                <a:latin typeface="Arial"/>
              </a:rPr>
              <a:t>placements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40279"/>
            <a:ext cx="4434840" cy="31089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240279"/>
            <a:ext cx="20528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D5FAE"/>
                </a:solidFill>
                <a:latin typeface="Courier New"/>
              </a:rPr>
              <a:t>placement_id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3940" y="2240279"/>
            <a:ext cx="20528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D5FAE"/>
                </a:solidFill>
                <a:latin typeface="Courier New"/>
              </a:rPr>
              <a:t>student_id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51175"/>
            <a:ext cx="4434840" cy="329184"/>
          </a:xfrm>
          <a:prstGeom prst="rect">
            <a:avLst/>
          </a:prstGeom>
          <a:solidFill>
            <a:srgbClr val="E9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551175"/>
            <a:ext cx="20528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C2926"/>
                </a:solidFill>
                <a:latin typeface="Courier New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3940" y="2551175"/>
            <a:ext cx="20528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C2926"/>
                </a:solidFill>
                <a:latin typeface="Courier New"/>
              </a:rPr>
              <a:t>101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081528"/>
            <a:ext cx="10241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081528"/>
            <a:ext cx="10241280" cy="310896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0664" y="3186684"/>
            <a:ext cx="100584" cy="100584"/>
          </a:xfrm>
          <a:prstGeom prst="ellipse">
            <a:avLst/>
          </a:prstGeom>
          <a:solidFill>
            <a:srgbClr val="E86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" y="3186684"/>
            <a:ext cx="100584" cy="100584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3000" y="3186684"/>
            <a:ext cx="100584" cy="100584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08152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MySQL Workbench — college_db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538728"/>
            <a:ext cx="9692640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FOREIGN KEY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 (student_id)</a:t>
            </a:r>
          </a:p>
          <a:p>
            <a:pPr algn="l"/>
            <a:r>
              <a:rPr sz="1300" b="1" i="0">
                <a:solidFill>
                  <a:srgbClr val="1D5FAE"/>
                </a:solidFill>
                <a:latin typeface="Courier New"/>
              </a:rPr>
              <a:t>REFERENCES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 students(student_id);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270248"/>
            <a:ext cx="10241280" cy="438912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4270248"/>
            <a:ext cx="983894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27A76"/>
                </a:solidFill>
                <a:latin typeface="Arial"/>
              </a:rPr>
              <a:t>Interview Tip: </a:t>
            </a:r>
            <a:r>
              <a:rPr sz="1250" b="0" i="0">
                <a:solidFill>
                  <a:srgbClr val="4A4640"/>
                </a:solidFill>
                <a:latin typeface="Arial"/>
              </a:rPr>
              <a:t>A Foreign Key can contain NULL unless it is also declared NOT NULL.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846320"/>
            <a:ext cx="10241280" cy="758952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937760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THE BIG IDEA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157216"/>
            <a:ext cx="983894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362F"/>
                </a:solidFill>
                <a:latin typeface="Courier New"/>
              </a:rPr>
              <a:t>Foreign Key </a:t>
            </a:r>
            <a:r>
              <a:rPr sz="1300" b="0" i="0">
                <a:solidFill>
                  <a:srgbClr val="4A4640"/>
                </a:solidFill>
                <a:latin typeface="Arial"/>
              </a:rPr>
              <a:t>creates relationships between tables — placements can't point to a student who doesn't exist.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874519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2C2926"/>
                </a:solidFill>
                <a:latin typeface="Arial"/>
              </a:rPr>
              <a:t>UNIQUE, NOT NULL &amp;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Three small rules that keep every row honest.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3154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8" y="2130552"/>
            <a:ext cx="1417320" cy="347472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30552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B5A14"/>
                </a:solidFill>
                <a:latin typeface="Courier New"/>
              </a:rPr>
              <a:t>UNIQUE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87752"/>
            <a:ext cx="2752344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A4640"/>
                </a:solidFill>
                <a:latin typeface="Arial"/>
              </a:rPr>
              <a:t>No duplicate emails allowed in the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2" y="1965960"/>
            <a:ext cx="3154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30552"/>
            <a:ext cx="1417320" cy="347472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30552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B5A14"/>
                </a:solidFill>
                <a:latin typeface="Courier New"/>
              </a:rPr>
              <a:t>NOT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87752"/>
            <a:ext cx="2752344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A4640"/>
                </a:solidFill>
                <a:latin typeface="Arial"/>
              </a:rPr>
              <a:t>Name is mandatory — the field can't be empty.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965960"/>
            <a:ext cx="3154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82128" y="2130552"/>
            <a:ext cx="1417320" cy="347472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2130552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B5A14"/>
                </a:solidFill>
                <a:latin typeface="Courier New"/>
              </a:rP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587752"/>
            <a:ext cx="2752344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A4640"/>
                </a:solidFill>
                <a:latin typeface="Arial"/>
              </a:rPr>
              <a:t>Attendance defaults to 75 when not provided.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10241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429000"/>
            <a:ext cx="10241280" cy="310896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0664" y="3534156"/>
            <a:ext cx="100584" cy="100584"/>
          </a:xfrm>
          <a:prstGeom prst="ellipse">
            <a:avLst/>
          </a:prstGeom>
          <a:solidFill>
            <a:srgbClr val="E86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534156"/>
            <a:ext cx="100584" cy="100584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3000" y="3534156"/>
            <a:ext cx="100584" cy="100584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29000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MySQL Workbench — college_db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email VARCHAR(100) </a:t>
            </a:r>
            <a:r>
              <a:rPr sz="1300" b="1" i="0">
                <a:solidFill>
                  <a:srgbClr val="1D5FAE"/>
                </a:solidFill>
                <a:latin typeface="Courier New"/>
              </a:rPr>
              <a:t>UNIQUE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,</a:t>
            </a:r>
          </a:p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name VARCHAR(50) </a:t>
            </a:r>
            <a:r>
              <a:rPr sz="1300" b="1" i="0">
                <a:solidFill>
                  <a:srgbClr val="1D5FAE"/>
                </a:solidFill>
                <a:latin typeface="Courier New"/>
              </a:rPr>
              <a:t>NOT NULL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,</a:t>
            </a:r>
          </a:p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attendance INT </a:t>
            </a:r>
            <a:r>
              <a:rPr sz="1300" b="1" i="0">
                <a:solidFill>
                  <a:srgbClr val="1D5FAE"/>
                </a:solidFill>
                <a:latin typeface="Courier New"/>
              </a:rPr>
              <a:t>DEFAULT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 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846320"/>
            <a:ext cx="10241280" cy="758952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937759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INTERVIEW ANGLE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157216"/>
            <a:ext cx="983894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A362F"/>
                </a:solidFill>
                <a:latin typeface="Courier New"/>
              </a:rPr>
              <a:t>All three can combine on one column</a:t>
            </a:r>
            <a:r>
              <a:rPr sz="1300" b="0" i="0">
                <a:solidFill>
                  <a:srgbClr val="4A4640"/>
                </a:solidFill>
                <a:latin typeface="Arial"/>
              </a:rPr>
              <a:t> — e.g. email VARCHAR(100) UNIQUE NOT NULL.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3150108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1501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SELF-GENERATING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2C2926"/>
                </a:solidFill>
                <a:latin typeface="Arial"/>
              </a:rPr>
              <a:t>AUTO_INCREMENT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Every new student should automatically receive the next 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5852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2071116"/>
            <a:ext cx="100584" cy="100584"/>
          </a:xfrm>
          <a:prstGeom prst="ellipse">
            <a:avLst/>
          </a:prstGeom>
          <a:solidFill>
            <a:srgbClr val="E86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071116"/>
            <a:ext cx="100584" cy="100584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2071116"/>
            <a:ext cx="100584" cy="100584"/>
          </a:xfrm>
          <a:prstGeom prst="ellipse">
            <a:avLst/>
          </a:prstGeom>
          <a:solidFill>
            <a:srgbClr val="61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MySQL Workbench — college_db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student_id INT </a:t>
            </a:r>
            <a:r>
              <a:rPr sz="1300" b="1" i="0">
                <a:solidFill>
                  <a:srgbClr val="1D5FAE"/>
                </a:solidFill>
                <a:latin typeface="Courier New"/>
              </a:rPr>
              <a:t>AUTO_INCREMENT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 </a:t>
            </a:r>
            <a:r>
              <a:rPr sz="1300" b="1" i="0">
                <a:solidFill>
                  <a:srgbClr val="1D5FAE"/>
                </a:solidFill>
                <a:latin typeface="Courier New"/>
              </a:rPr>
              <a:t>PRIMARY KEY</a:t>
            </a:r>
            <a:r>
              <a:rPr sz="1300" b="0" i="0">
                <a:solidFill>
                  <a:srgbClr val="3A362F"/>
                </a:solidFill>
                <a:latin typeface="Courier New"/>
              </a:rPr>
              <a:t>,</a:t>
            </a:r>
          </a:p>
          <a:p>
            <a:pPr algn="l"/>
            <a:r>
              <a:rPr sz="1300" b="0" i="0">
                <a:solidFill>
                  <a:srgbClr val="3A362F"/>
                </a:solidFill>
                <a:latin typeface="Courier New"/>
              </a:rPr>
              <a:t>name VARCHAR(50)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2011680"/>
            <a:ext cx="246888" cy="246888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01168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1984248"/>
            <a:ext cx="3794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4A4640"/>
                </a:solidFill>
                <a:latin typeface="Arial"/>
              </a:rPr>
              <a:t>Before INSERT — no ID exists yet for the new row.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2788920"/>
            <a:ext cx="246888" cy="246888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78892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761488"/>
            <a:ext cx="3794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4A4640"/>
                </a:solidFill>
                <a:latin typeface="Arial"/>
              </a:rPr>
              <a:t>You run INSERT and supply every column except student_id.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3566160"/>
            <a:ext cx="246888" cy="246888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56616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3538728"/>
            <a:ext cx="3794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4A4640"/>
                </a:solidFill>
                <a:latin typeface="Arial"/>
              </a:rPr>
              <a:t>After INSERT — MySQL generates the next ID automatically.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4343400"/>
            <a:ext cx="246888" cy="246888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34340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4315968"/>
            <a:ext cx="3794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4A4640"/>
                </a:solidFill>
                <a:latin typeface="Arial"/>
              </a:rPr>
              <a:t>The next new row picks up right where the last one left 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5852160" cy="1691640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794760"/>
            <a:ext cx="5449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BUSINESS 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041648"/>
            <a:ext cx="54498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A362F"/>
                </a:solidFill>
                <a:latin typeface="Courier New"/>
              </a:rPr>
              <a:t>AUTO_INCREMENT </a:t>
            </a:r>
            <a:r>
              <a:rPr sz="1250" b="0" i="0">
                <a:solidFill>
                  <a:srgbClr val="4A4640"/>
                </a:solidFill>
                <a:latin typeface="Arial"/>
              </a:rPr>
              <a:t>removes the need to manually track the next available student ID.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617720"/>
            <a:ext cx="54498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4A4640"/>
                </a:solidFill>
                <a:latin typeface="Arial"/>
              </a:rPr>
              <a:t>Insert two students without student_id — MySQL assigns 101, then 102, on its own.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2724912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7249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WHEN RULES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C2926"/>
                </a:solidFill>
                <a:latin typeface="Arial"/>
              </a:rPr>
              <a:t>Constraint 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MySQL rejects the row the instant a constraint is broken.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5001768" cy="1691640"/>
          </a:xfrm>
          <a:prstGeom prst="rect">
            <a:avLst/>
          </a:prstGeom>
          <a:solidFill>
            <a:srgbClr val="FBEAE8"/>
          </a:solidFill>
          <a:ln w="12700">
            <a:solidFill>
              <a:srgbClr val="EFC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49424"/>
            <a:ext cx="4608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DUPLICATE PRIMARY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603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62F"/>
                </a:solidFill>
                <a:latin typeface="Courier New"/>
              </a:rPr>
              <a:t>INSERT INTO students</a:t>
            </a:r>
          </a:p>
          <a:p>
            <a:pPr algn="l"/>
            <a:r>
              <a:rPr sz="1200" b="0" i="0">
                <a:solidFill>
                  <a:srgbClr val="3A362F"/>
                </a:solidFill>
                <a:latin typeface="Courier New"/>
              </a:rPr>
              <a:t>VALUES (101,'Aman');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735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Arial"/>
              </a:rPr>
              <a:t>❌  Duplicate 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3872" y="2103120"/>
            <a:ext cx="5001768" cy="1691640"/>
          </a:xfrm>
          <a:prstGeom prst="rect">
            <a:avLst/>
          </a:prstGeom>
          <a:solidFill>
            <a:srgbClr val="FBEAE8"/>
          </a:solidFill>
          <a:ln w="12700">
            <a:solidFill>
              <a:srgbClr val="EFC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249424"/>
            <a:ext cx="4608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NULL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5603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62F"/>
                </a:solidFill>
                <a:latin typeface="Courier New"/>
              </a:rPr>
              <a:t>INSERT INTO students(name)</a:t>
            </a:r>
          </a:p>
          <a:p>
            <a:pPr algn="l"/>
            <a:r>
              <a:rPr sz="1200" b="0" i="0">
                <a:solidFill>
                  <a:srgbClr val="3A362F"/>
                </a:solidFill>
                <a:latin typeface="Courier New"/>
              </a:rPr>
              <a:t>VALUES(NULL);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2735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Arial"/>
              </a:rPr>
              <a:t>❌  NOT NULL failed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023360"/>
            <a:ext cx="10241280" cy="896112"/>
          </a:xfrm>
          <a:prstGeom prst="rect">
            <a:avLst/>
          </a:prstGeom>
          <a:solidFill>
            <a:srgbClr val="E9F3F3"/>
          </a:solidFill>
          <a:ln w="12700">
            <a:solidFill>
              <a:srgbClr val="BEE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114800"/>
            <a:ext cx="9838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27A76"/>
                </a:solidFill>
                <a:latin typeface="Arial"/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334256"/>
            <a:ext cx="98389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A4640"/>
                </a:solidFill>
                <a:latin typeface="Arial"/>
              </a:rPr>
              <a:t>SQL checks every constraint before a row is written</a:t>
            </a:r>
            <a:r>
              <a:rPr sz="1250" b="0" i="0">
                <a:solidFill>
                  <a:srgbClr val="4A4640"/>
                </a:solidFill>
                <a:latin typeface="Arial"/>
              </a:rPr>
              <a:t> — a violation is rejected immediately, so bad data never reaches the 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REAL-WORLD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C2926"/>
                </a:solidFill>
                <a:latin typeface="Arial"/>
              </a:rPr>
              <a:t>Business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Five real requests from campus &amp; industry — name the constraint that solves each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2212848"/>
            <a:ext cx="402336" cy="40233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1284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93268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C2926"/>
                </a:solidFill>
                <a:latin typeface="Arial"/>
              </a:rPr>
              <a:t>New students registering — how do we guarantee no two IDs collide?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34640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2944368"/>
            <a:ext cx="402336" cy="40233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443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93268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C2926"/>
                </a:solidFill>
                <a:latin typeface="Arial"/>
              </a:rPr>
              <a:t>Every employee in the company needs one unmistakable 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66160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3675887"/>
            <a:ext cx="402336" cy="40233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75887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93268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C2926"/>
                </a:solidFill>
                <a:latin typeface="Arial"/>
              </a:rPr>
              <a:t>Each e-commerce order must trace back to exactly one real customer.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297680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" y="4407408"/>
            <a:ext cx="402336" cy="40233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40740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3268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C2926"/>
                </a:solidFill>
                <a:latin typeface="Arial"/>
              </a:rPr>
              <a:t>Every banking customer ID must be unique, permanent, and never blank.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029200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5138928"/>
            <a:ext cx="402336" cy="402336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1389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29200"/>
            <a:ext cx="93268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C2926"/>
                </a:solidFill>
                <a:latin typeface="Arial"/>
              </a:rPr>
              <a:t>A placement record should never point to a student who doesn't exist.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591056" cy="320040"/>
          </a:xfrm>
          <a:prstGeom prst="rect">
            <a:avLst/>
          </a:prstGeom>
          <a:solidFill>
            <a:srgbClr val="F8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2926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 i="0">
                <a:solidFill>
                  <a:srgbClr val="2C2926"/>
                </a:solidFill>
                <a:latin typeface="Arial"/>
              </a:rPr>
              <a:t>Mini Interview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75E"/>
                </a:solidFill>
                <a:latin typeface="Arial"/>
              </a:rPr>
              <a:t>Five questions using everything from today — no answers here!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2039112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9326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Difference between Primary &amp; Foreign Key.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51176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2624328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6243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51176"/>
            <a:ext cx="9326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Why UNIQUE instead of Primary Key?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36392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3209544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2095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36392"/>
            <a:ext cx="9326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Can a Foreign Key contain NULL?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21608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" y="3794760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794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21608"/>
            <a:ext cx="9326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Why AUTO_INCREMENT is useful?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306824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4379976"/>
            <a:ext cx="329184" cy="329184"/>
          </a:xfrm>
          <a:prstGeom prst="ellipse">
            <a:avLst/>
          </a:prstGeom>
          <a:solidFill>
            <a:srgbClr val="DFA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3799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06824"/>
            <a:ext cx="9326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926"/>
                </a:solidFill>
                <a:latin typeface="Arial"/>
              </a:rPr>
              <a:t>Which constraints ensure data integrity?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1091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2926"/>
                </a:solidFill>
                <a:latin typeface="Courier New"/>
              </a:rPr>
              <a:t>PRIMARY KEY</a:t>
            </a:r>
            <a:r>
              <a:rPr sz="120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200" b="1" i="0">
                <a:solidFill>
                  <a:srgbClr val="2C2926"/>
                </a:solidFill>
                <a:latin typeface="Courier New"/>
              </a:rPr>
              <a:t>FOREIGN KEY</a:t>
            </a:r>
            <a:r>
              <a:rPr sz="120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200" b="1" i="0">
                <a:solidFill>
                  <a:srgbClr val="2C2926"/>
                </a:solidFill>
                <a:latin typeface="Arial"/>
              </a:rPr>
              <a:t>Relationships</a:t>
            </a:r>
            <a:r>
              <a:rPr sz="1200" b="1" i="0">
                <a:solidFill>
                  <a:srgbClr val="3A93CD"/>
                </a:solidFill>
                <a:latin typeface="Arial"/>
              </a:rPr>
              <a:t>   →   </a:t>
            </a:r>
            <a:r>
              <a:rPr sz="1200" b="1" i="0">
                <a:solidFill>
                  <a:srgbClr val="127A76"/>
                </a:solidFill>
                <a:latin typeface="Arial"/>
              </a:rPr>
              <a:t>ER Diagram (Next Module)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58383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675E"/>
                </a:solidFill>
                <a:latin typeface="Arial"/>
              </a:rPr>
              <a:t>Today you learned how tables are protected. Next, you'll learn how they are connected.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D6D6D5"/>
                </a:solidFill>
                <a:latin typeface="Arial"/>
              </a:rPr>
              <a:t>Shalinee Priya</a:t>
            </a:r>
          </a:p>
          <a:p>
            <a:pPr algn="r"/>
            <a:r>
              <a:rPr sz="900" b="0" i="0">
                <a:solidFill>
                  <a:srgbClr val="D6D6D5"/>
                </a:solidFill>
                <a:latin typeface="Arial"/>
              </a:rPr>
              <a:t>Data Analyst | SQL Trainer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75E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