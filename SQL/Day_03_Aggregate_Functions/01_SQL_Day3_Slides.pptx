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1430000" cy="6858000"/>
  <p:notesSz cx="68580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88536" cy="6858000"/>
          </a:xfrm>
          <a:prstGeom prst="rect">
            <a:avLst/>
          </a:prstGeom>
          <a:solidFill>
            <a:srgbClr val="1F416C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40080"/>
            <a:ext cx="2377440" cy="2377440"/>
          </a:xfrm>
          <a:prstGeom prst="ellipse">
            <a:avLst/>
          </a:prstGeom>
          <a:ln w="15875">
            <a:solidFill>
              <a:srgbClr val="3A93CD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3063240"/>
            <a:ext cx="1554480" cy="1554480"/>
          </a:xfrm>
          <a:prstGeom prst="ellipse">
            <a:avLst/>
          </a:prstGeom>
          <a:ln w="15875">
            <a:solidFill>
              <a:srgbClr val="3A93CD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4160520"/>
            <a:ext cx="1920240" cy="1920240"/>
          </a:xfrm>
          <a:prstGeom prst="ellipse">
            <a:avLst/>
          </a:prstGeom>
          <a:ln w="15875">
            <a:solidFill>
              <a:srgbClr val="3A93CD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82296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310896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274320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539496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621792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585216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457200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051560"/>
            <a:ext cx="1005840" cy="2103120"/>
          </a:xfrm>
          <a:prstGeom prst="line">
            <a:avLst/>
          </a:prstGeom>
          <a:noFill/>
          <a:ln w="12700">
            <a:solidFill>
              <a:srgbClr val="3A93CD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828800" y="2788920"/>
            <a:ext cx="1783080" cy="365760"/>
          </a:xfrm>
          <a:prstGeom prst="line">
            <a:avLst/>
          </a:prstGeom>
          <a:noFill/>
          <a:ln w="12700">
            <a:solidFill>
              <a:srgbClr val="3A93CD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5897880"/>
            <a:ext cx="1280160" cy="365760"/>
          </a:xfrm>
          <a:prstGeom prst="line">
            <a:avLst/>
          </a:prstGeom>
          <a:noFill/>
          <a:ln w="12700">
            <a:solidFill>
              <a:srgbClr val="3A93CD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868680"/>
            <a:ext cx="274320" cy="1920240"/>
          </a:xfrm>
          <a:prstGeom prst="line">
            <a:avLst/>
          </a:prstGeom>
          <a:noFill/>
          <a:ln w="12700">
            <a:solidFill>
              <a:srgbClr val="3A93CD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3063240"/>
            <a:ext cx="4288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5852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Day 3: Aggregate Functions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892040" y="4069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Query Language · B.Tech SQL Training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2441448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Today</a:t>
            </a:r>
            <a:endParaRPr lang="en-US" sz="3400" dirty="0"/>
          </a:p>
        </p:txBody>
      </p:sp>
      <p:sp>
        <p:nvSpPr>
          <p:cNvPr id="5" name="AgendaNum 5"/>
          <p:cNvSpPr/>
          <p:nvPr/>
        </p:nvSpPr>
        <p:spPr>
          <a:xfrm>
            <a:off x="594360" y="2148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AgendaBar 6"/>
          <p:cNvSpPr/>
          <p:nvPr/>
        </p:nvSpPr>
        <p:spPr>
          <a:xfrm>
            <a:off x="594360" y="2460384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7" name="AgendaTitle 7"/>
          <p:cNvSpPr/>
          <p:nvPr/>
        </p:nvSpPr>
        <p:spPr>
          <a:xfrm>
            <a:off x="594360" y="25705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Aggregate Functions?</a:t>
            </a:r>
            <a:endParaRPr lang="en-US" sz="1700" dirty="0"/>
          </a:p>
        </p:txBody>
      </p:sp>
      <p:sp>
        <p:nvSpPr>
          <p:cNvPr id="8" name="AgendaNum 8"/>
          <p:cNvSpPr/>
          <p:nvPr/>
        </p:nvSpPr>
        <p:spPr>
          <a:xfrm>
            <a:off x="4160520" y="2148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AgendaBar 9"/>
          <p:cNvSpPr/>
          <p:nvPr/>
        </p:nvSpPr>
        <p:spPr>
          <a:xfrm>
            <a:off x="4160520" y="2460384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10" name="AgendaTitle 10"/>
          <p:cNvSpPr/>
          <p:nvPr/>
        </p:nvSpPr>
        <p:spPr>
          <a:xfrm>
            <a:off x="4160520" y="25705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COUNT()</a:t>
            </a:r>
            <a:endParaRPr lang="en-US" sz="1700" dirty="0"/>
          </a:p>
        </p:txBody>
      </p:sp>
      <p:sp>
        <p:nvSpPr>
          <p:cNvPr id="11" name="AgendaNum 11"/>
          <p:cNvSpPr/>
          <p:nvPr/>
        </p:nvSpPr>
        <p:spPr>
          <a:xfrm>
            <a:off x="7726680" y="2148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AgendaBar 12"/>
          <p:cNvSpPr/>
          <p:nvPr/>
        </p:nvSpPr>
        <p:spPr>
          <a:xfrm>
            <a:off x="7726680" y="2460384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13" name="AgendaTitle 13"/>
          <p:cNvSpPr/>
          <p:nvPr/>
        </p:nvSpPr>
        <p:spPr>
          <a:xfrm>
            <a:off x="7726680" y="25705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SUM()</a:t>
            </a:r>
            <a:endParaRPr lang="en-US" sz="1700" dirty="0"/>
          </a:p>
        </p:txBody>
      </p:sp>
      <p:sp>
        <p:nvSpPr>
          <p:cNvPr id="14" name="AgendaNum 14"/>
          <p:cNvSpPr/>
          <p:nvPr/>
        </p:nvSpPr>
        <p:spPr>
          <a:xfrm>
            <a:off x="59436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AgendaBar 15"/>
          <p:cNvSpPr/>
          <p:nvPr/>
        </p:nvSpPr>
        <p:spPr>
          <a:xfrm>
            <a:off x="594360" y="3603384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16" name="AgendaTitle 16"/>
          <p:cNvSpPr/>
          <p:nvPr/>
        </p:nvSpPr>
        <p:spPr>
          <a:xfrm>
            <a:off x="594360" y="37135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AVG()</a:t>
            </a:r>
            <a:endParaRPr lang="en-US" sz="1700" dirty="0"/>
          </a:p>
        </p:txBody>
      </p:sp>
      <p:sp>
        <p:nvSpPr>
          <p:cNvPr id="17" name="AgendaNum 17"/>
          <p:cNvSpPr/>
          <p:nvPr/>
        </p:nvSpPr>
        <p:spPr>
          <a:xfrm>
            <a:off x="416052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AgendaBar 18"/>
          <p:cNvSpPr/>
          <p:nvPr/>
        </p:nvSpPr>
        <p:spPr>
          <a:xfrm>
            <a:off x="4160520" y="3603384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19" name="AgendaTitle 19"/>
          <p:cNvSpPr/>
          <p:nvPr/>
        </p:nvSpPr>
        <p:spPr>
          <a:xfrm>
            <a:off x="4160520" y="37135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MIN()</a:t>
            </a:r>
            <a:endParaRPr lang="en-US" sz="1700" dirty="0"/>
          </a:p>
        </p:txBody>
      </p:sp>
      <p:sp>
        <p:nvSpPr>
          <p:cNvPr id="20" name="AgendaNum 20"/>
          <p:cNvSpPr/>
          <p:nvPr/>
        </p:nvSpPr>
        <p:spPr>
          <a:xfrm>
            <a:off x="772668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AgendaBar 21"/>
          <p:cNvSpPr/>
          <p:nvPr/>
        </p:nvSpPr>
        <p:spPr>
          <a:xfrm>
            <a:off x="7726680" y="3603384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22" name="AgendaTitle 22"/>
          <p:cNvSpPr/>
          <p:nvPr/>
        </p:nvSpPr>
        <p:spPr>
          <a:xfrm>
            <a:off x="7726680" y="37135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MAX()</a:t>
            </a:r>
            <a:endParaRPr lang="en-US" sz="1700" dirty="0"/>
          </a:p>
        </p:txBody>
      </p:sp>
      <p:sp>
        <p:nvSpPr>
          <p:cNvPr id="23" name="AgendaNum 23"/>
          <p:cNvSpPr/>
          <p:nvPr/>
        </p:nvSpPr>
        <p:spPr>
          <a:xfrm>
            <a:off x="594360" y="4434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AgendaBar 24"/>
          <p:cNvSpPr/>
          <p:nvPr/>
        </p:nvSpPr>
        <p:spPr>
          <a:xfrm>
            <a:off x="594360" y="4746384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25" name="AgendaTitle 25"/>
          <p:cNvSpPr/>
          <p:nvPr/>
        </p:nvSpPr>
        <p:spPr>
          <a:xfrm>
            <a:off x="594360" y="48565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COUNT(*) vs COUNT(column)</a:t>
            </a:r>
            <a:endParaRPr lang="en-US" sz="1700" dirty="0"/>
          </a:p>
        </p:txBody>
      </p:sp>
      <p:sp>
        <p:nvSpPr>
          <p:cNvPr id="26" name="AgendaNum 26"/>
          <p:cNvSpPr/>
          <p:nvPr/>
        </p:nvSpPr>
        <p:spPr>
          <a:xfrm>
            <a:off x="4160520" y="4434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AgendaBar 27"/>
          <p:cNvSpPr/>
          <p:nvPr/>
        </p:nvSpPr>
        <p:spPr>
          <a:xfrm>
            <a:off x="4160520" y="4746384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28" name="AgendaTitle 28"/>
          <p:cNvSpPr/>
          <p:nvPr/>
        </p:nvSpPr>
        <p:spPr>
          <a:xfrm>
            <a:off x="4160520" y="48565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Studies</a:t>
            </a:r>
            <a:endParaRPr lang="en-US" sz="1700" dirty="0"/>
          </a:p>
        </p:txBody>
      </p:sp>
      <p:sp>
        <p:nvSpPr>
          <p:cNvPr id="29" name="AgendaNum 29"/>
          <p:cNvSpPr/>
          <p:nvPr/>
        </p:nvSpPr>
        <p:spPr>
          <a:xfrm>
            <a:off x="7726680" y="4434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30" name="AgendaBar 30"/>
          <p:cNvSpPr/>
          <p:nvPr/>
        </p:nvSpPr>
        <p:spPr>
          <a:xfrm>
            <a:off x="7726680" y="4746384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31" name="AgendaTitle 31"/>
          <p:cNvSpPr/>
          <p:nvPr/>
        </p:nvSpPr>
        <p:spPr>
          <a:xfrm>
            <a:off x="7726680" y="48565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Challenge</a:t>
            </a:r>
            <a:endParaRPr lang="en-US" sz="1700" dirty="0"/>
          </a:p>
        </p:txBody>
      </p:sp>
      <p:sp>
        <p:nvSpPr>
          <p:cNvPr id="32" name="Watermark 32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33" name="PageNum 33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2583180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25831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Aggregate Functions?</a:t>
            </a:r>
            <a:endParaRPr lang="en-US" sz="30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rarely want thousands of rows back — they want one summarized number.</a:t>
            </a:r>
            <a:endParaRPr lang="en-US" sz="1300" dirty="0"/>
          </a:p>
        </p:txBody>
      </p:sp>
      <p:sp>
        <p:nvSpPr>
          <p:cNvPr id="6" name="RecapLabel 6"/>
          <p:cNvSpPr/>
          <p:nvPr/>
        </p:nvSpPr>
        <p:spPr>
          <a:xfrm>
            <a:off x="594360" y="1940000"/>
            <a:ext cx="27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TODAY, WE COULD</a:t>
            </a:r>
            <a:endParaRPr lang="en-US" sz="1000" dirty="0"/>
          </a:p>
        </p:txBody>
      </p:sp>
      <p:sp>
        <p:nvSpPr>
          <p:cNvPr id="7" name="Chip 7"/>
          <p:cNvSpPr/>
          <p:nvPr/>
        </p:nvSpPr>
        <p:spPr>
          <a:xfrm>
            <a:off x="3394360" y="1940000"/>
            <a:ext cx="870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8" name="ChipText 8"/>
          <p:cNvSpPr/>
          <p:nvPr/>
        </p:nvSpPr>
        <p:spPr>
          <a:xfrm>
            <a:off x="3394360" y="1940000"/>
            <a:ext cx="87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9" name="Chip 9"/>
          <p:cNvSpPr/>
          <p:nvPr/>
        </p:nvSpPr>
        <p:spPr>
          <a:xfrm>
            <a:off x="4383232" y="1940000"/>
            <a:ext cx="775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10" name="ChipText 10"/>
          <p:cNvSpPr/>
          <p:nvPr/>
        </p:nvSpPr>
        <p:spPr>
          <a:xfrm>
            <a:off x="4383232" y="1940000"/>
            <a:ext cx="77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100" dirty="0"/>
          </a:p>
        </p:txBody>
      </p:sp>
      <p:sp>
        <p:nvSpPr>
          <p:cNvPr id="11" name="Chip 11"/>
          <p:cNvSpPr/>
          <p:nvPr/>
        </p:nvSpPr>
        <p:spPr>
          <a:xfrm>
            <a:off x="5277104" y="1940000"/>
            <a:ext cx="1060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12" name="ChipText 12"/>
          <p:cNvSpPr/>
          <p:nvPr/>
        </p:nvSpPr>
        <p:spPr>
          <a:xfrm>
            <a:off x="5277104" y="1940000"/>
            <a:ext cx="106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100" dirty="0"/>
          </a:p>
        </p:txBody>
      </p:sp>
      <p:sp>
        <p:nvSpPr>
          <p:cNvPr id="13" name="Chip 13"/>
          <p:cNvSpPr/>
          <p:nvPr/>
        </p:nvSpPr>
        <p:spPr>
          <a:xfrm>
            <a:off x="6455976" y="1940000"/>
            <a:ext cx="775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14" name="ChipText 14"/>
          <p:cNvSpPr/>
          <p:nvPr/>
        </p:nvSpPr>
        <p:spPr>
          <a:xfrm>
            <a:off x="6455976" y="1940000"/>
            <a:ext cx="77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endParaRPr lang="en-US" sz="1100" dirty="0"/>
          </a:p>
        </p:txBody>
      </p:sp>
      <p:sp>
        <p:nvSpPr>
          <p:cNvPr id="15" name="RecapSentence 15"/>
          <p:cNvSpPr/>
          <p:nvPr/>
        </p:nvSpPr>
        <p:spPr>
          <a:xfrm>
            <a:off x="594360" y="2397200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we'll summarize rows using Aggregate Functions.</a:t>
            </a:r>
            <a:endParaRPr lang="en-US" sz="1200" dirty="0"/>
          </a:p>
        </p:txBody>
      </p:sp>
      <p:sp>
        <p:nvSpPr>
          <p:cNvPr id="16" name="DefCard 16"/>
          <p:cNvSpPr/>
          <p:nvPr/>
        </p:nvSpPr>
        <p:spPr>
          <a:xfrm>
            <a:off x="594360" y="2848952"/>
            <a:ext cx="5074920" cy="3186088"/>
          </a:xfrm>
          <a:prstGeom prst="roundRect">
            <a:avLst>
              <a:gd name="adj" fmla="val 1350"/>
            </a:avLst>
          </a:prstGeom>
          <a:solidFill>
            <a:srgbClr val="E9F3F3"/>
          </a:solidFill>
          <a:ln w="12700">
            <a:solidFill>
              <a:srgbClr val="BEE0DD"/>
            </a:solidFill>
            <a:prstDash val="solid"/>
          </a:ln>
        </p:spPr>
      </p:sp>
      <p:sp>
        <p:nvSpPr>
          <p:cNvPr id="17" name="DefLabel 17"/>
          <p:cNvSpPr/>
          <p:nvPr/>
        </p:nvSpPr>
        <p:spPr>
          <a:xfrm>
            <a:off x="960120" y="313534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18" name="DefText 18"/>
          <p:cNvSpPr/>
          <p:nvPr/>
        </p:nvSpPr>
        <p:spPr>
          <a:xfrm>
            <a:off x="960120" y="3421732"/>
            <a:ext cx="4343400" cy="136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Functions perform calculations on multiple rows and return a single value.</a:t>
            </a:r>
            <a:endParaRPr lang="en-US" sz="1800" dirty="0"/>
          </a:p>
        </p:txBody>
      </p:sp>
      <p:sp>
        <p:nvSpPr>
          <p:cNvPr id="19" name="DefCaption 19"/>
          <p:cNvSpPr/>
          <p:nvPr/>
        </p:nvSpPr>
        <p:spPr>
          <a:xfrm>
            <a:off x="960120" y="5140071"/>
            <a:ext cx="434340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i="1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 in, one number out — that single value is what a manager actually asks for.</a:t>
            </a:r>
            <a:endParaRPr lang="en-US" sz="1150" dirty="0"/>
          </a:p>
        </p:txBody>
      </p:sp>
      <p:sp>
        <p:nvSpPr>
          <p:cNvPr id="20" name="ExamplesLabel 20"/>
          <p:cNvSpPr/>
          <p:nvPr/>
        </p:nvSpPr>
        <p:spPr>
          <a:xfrm>
            <a:off x="6720840" y="2848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EXAMPLES</a:t>
            </a:r>
            <a:endParaRPr lang="en-US" sz="1050" dirty="0"/>
          </a:p>
        </p:txBody>
      </p:sp>
      <p:sp>
        <p:nvSpPr>
          <p:cNvPr id="21" name="DotBullet 21"/>
          <p:cNvSpPr/>
          <p:nvPr/>
        </p:nvSpPr>
        <p:spPr>
          <a:xfrm>
            <a:off x="6720840" y="3213952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2" name="DotListText 22"/>
          <p:cNvSpPr/>
          <p:nvPr/>
        </p:nvSpPr>
        <p:spPr>
          <a:xfrm>
            <a:off x="6940296" y="3148952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—  </a:t>
            </a:r>
            <a:r>
              <a:rPr lang="en-US" sz="13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wants one number for company earnings.</a:t>
            </a:r>
            <a:endParaRPr lang="en-US" sz="1350" dirty="0"/>
          </a:p>
        </p:txBody>
      </p:sp>
      <p:sp>
        <p:nvSpPr>
          <p:cNvPr id="23" name="DotBullet 23"/>
          <p:cNvSpPr/>
          <p:nvPr/>
        </p:nvSpPr>
        <p:spPr>
          <a:xfrm>
            <a:off x="6720840" y="3693952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4" name="DotListText 24"/>
          <p:cNvSpPr/>
          <p:nvPr/>
        </p:nvSpPr>
        <p:spPr>
          <a:xfrm>
            <a:off x="6940296" y="3628952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Salary —  </a:t>
            </a:r>
            <a:r>
              <a:rPr lang="en-US" sz="13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summarizes pay across every employee.</a:t>
            </a:r>
            <a:endParaRPr lang="en-US" sz="1350" dirty="0"/>
          </a:p>
        </p:txBody>
      </p:sp>
      <p:sp>
        <p:nvSpPr>
          <p:cNvPr id="25" name="DotBullet 25"/>
          <p:cNvSpPr/>
          <p:nvPr/>
        </p:nvSpPr>
        <p:spPr>
          <a:xfrm>
            <a:off x="6720840" y="4173952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6" name="DotListText 26"/>
          <p:cNvSpPr/>
          <p:nvPr/>
        </p:nvSpPr>
        <p:spPr>
          <a:xfrm>
            <a:off x="6940296" y="4108952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CGPA —  </a:t>
            </a:r>
            <a:r>
              <a:rPr lang="en-US" sz="13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Academics highlights the top-performing student.</a:t>
            </a:r>
            <a:endParaRPr lang="en-US" sz="1350" dirty="0"/>
          </a:p>
        </p:txBody>
      </p:sp>
      <p:sp>
        <p:nvSpPr>
          <p:cNvPr id="27" name="DotBullet 27"/>
          <p:cNvSpPr/>
          <p:nvPr/>
        </p:nvSpPr>
        <p:spPr>
          <a:xfrm>
            <a:off x="6720840" y="4653952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8" name="DotListText 28"/>
          <p:cNvSpPr/>
          <p:nvPr/>
        </p:nvSpPr>
        <p:spPr>
          <a:xfrm>
            <a:off x="6940296" y="4588952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Attendance —  </a:t>
            </a:r>
            <a:r>
              <a:rPr lang="en-US" sz="13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flags the student most at risk.</a:t>
            </a:r>
            <a:endParaRPr lang="en-US" sz="1350" dirty="0"/>
          </a:p>
        </p:txBody>
      </p:sp>
      <p:sp>
        <p:nvSpPr>
          <p:cNvPr id="29" name="DotBullet 29"/>
          <p:cNvSpPr/>
          <p:nvPr/>
        </p:nvSpPr>
        <p:spPr>
          <a:xfrm>
            <a:off x="6720840" y="5133952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30" name="DotListText 30"/>
          <p:cNvSpPr/>
          <p:nvPr/>
        </p:nvSpPr>
        <p:spPr>
          <a:xfrm>
            <a:off x="6940296" y="5068952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Students —  </a:t>
            </a:r>
            <a:r>
              <a:rPr lang="en-US" sz="13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office counts eligible candidates.</a:t>
            </a:r>
            <a:endParaRPr lang="en-US" sz="1350" dirty="0"/>
          </a:p>
        </p:txBody>
      </p:sp>
      <p:sp>
        <p:nvSpPr>
          <p:cNvPr id="31" name="Watermark 31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32" name="PageNum 32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2299716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229971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ROWS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COUNT()</a:t>
            </a:r>
            <a:endParaRPr lang="en-US" sz="34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students belong to CSE?</a:t>
            </a:r>
            <a:endParaRPr lang="en-US" sz="1300" dirty="0"/>
          </a:p>
        </p:txBody>
      </p:sp>
      <p:sp>
        <p:nvSpPr>
          <p:cNvPr id="6" name="CodeCard 6"/>
          <p:cNvSpPr/>
          <p:nvPr/>
        </p:nvSpPr>
        <p:spPr>
          <a:xfrm>
            <a:off x="594360" y="1965960"/>
            <a:ext cx="5852160" cy="4069080"/>
          </a:xfrm>
          <a:prstGeom prst="roundRect">
            <a:avLst>
              <a:gd name="adj" fmla="val 449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HeaderTop 7"/>
          <p:cNvSpPr/>
          <p:nvPr/>
        </p:nvSpPr>
        <p:spPr>
          <a:xfrm>
            <a:off x="594360" y="1965960"/>
            <a:ext cx="5852160" cy="310896"/>
          </a:xfrm>
          <a:prstGeom prst="roundRect">
            <a:avLst>
              <a:gd name="adj" fmla="val 13235"/>
            </a:avLst>
          </a:prstGeom>
          <a:solidFill>
            <a:srgbClr val="E7E7E7"/>
          </a:solidFill>
          <a:ln/>
        </p:spPr>
      </p:sp>
      <p:sp>
        <p:nvSpPr>
          <p:cNvPr id="8" name="HeaderSquare 8"/>
          <p:cNvSpPr/>
          <p:nvPr/>
        </p:nvSpPr>
        <p:spPr>
          <a:xfrm>
            <a:off x="594360" y="2121408"/>
            <a:ext cx="5852160" cy="155448"/>
          </a:xfrm>
          <a:prstGeom prst="rect">
            <a:avLst/>
          </a:prstGeom>
          <a:solidFill>
            <a:srgbClr val="E7E7E7"/>
          </a:solidFill>
          <a:ln/>
        </p:spPr>
      </p:sp>
      <p:sp>
        <p:nvSpPr>
          <p:cNvPr id="9" name="Dot 9"/>
          <p:cNvSpPr/>
          <p:nvPr/>
        </p:nvSpPr>
        <p:spPr>
          <a:xfrm>
            <a:off x="740664" y="2071416"/>
            <a:ext cx="100584" cy="100584"/>
          </a:xfrm>
          <a:prstGeom prst="ellipse">
            <a:avLst/>
          </a:prstGeom>
          <a:solidFill>
            <a:srgbClr val="E8695B"/>
          </a:solidFill>
          <a:ln/>
        </p:spPr>
      </p:sp>
      <p:sp>
        <p:nvSpPr>
          <p:cNvPr id="10" name="Dot 10"/>
          <p:cNvSpPr/>
          <p:nvPr/>
        </p:nvSpPr>
        <p:spPr>
          <a:xfrm>
            <a:off x="941832" y="207141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1" name="Dot 11"/>
          <p:cNvSpPr/>
          <p:nvPr/>
        </p:nvSpPr>
        <p:spPr>
          <a:xfrm>
            <a:off x="1143000" y="207141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2" name="HeaderLabel 12"/>
          <p:cNvSpPr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Workbench — college_db</a:t>
            </a:r>
            <a:endParaRPr lang="en-US" sz="1050" dirty="0"/>
          </a:p>
        </p:txBody>
      </p:sp>
      <p:sp>
        <p:nvSpPr>
          <p:cNvPr id="13" name="CodeBody 13"/>
          <p:cNvSpPr/>
          <p:nvPr/>
        </p:nvSpPr>
        <p:spPr>
          <a:xfrm>
            <a:off x="868680" y="2423160"/>
            <a:ext cx="5303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Count all rows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COUNT(*) </a:t>
            </a: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students;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Count non-null values only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COUNT(email) </a:t>
            </a: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students;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Count with a condition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COUNT(*) </a:t>
            </a: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 = 'CSE';</a:t>
            </a:r>
            <a:endParaRPr lang="en-US" sz="1300" dirty="0"/>
          </a:p>
        </p:txBody>
      </p:sp>
      <p:sp>
        <p:nvSpPr>
          <p:cNvPr id="14" name="ConceptCard 14"/>
          <p:cNvSpPr/>
          <p:nvPr/>
        </p:nvSpPr>
        <p:spPr>
          <a:xfrm>
            <a:off x="6720840" y="196596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ConceptTitle 15"/>
          <p:cNvSpPr/>
          <p:nvPr/>
        </p:nvSpPr>
        <p:spPr>
          <a:xfrm>
            <a:off x="6949440" y="2093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COUNT(*)</a:t>
            </a:r>
            <a:endParaRPr lang="en-US" sz="1500" dirty="0"/>
          </a:p>
        </p:txBody>
      </p:sp>
      <p:sp>
        <p:nvSpPr>
          <p:cNvPr id="16" name="ConceptDesc 16"/>
          <p:cNvSpPr/>
          <p:nvPr/>
        </p:nvSpPr>
        <p:spPr>
          <a:xfrm>
            <a:off x="6949440" y="23865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every row in the result — NULLs included.</a:t>
            </a:r>
            <a:endParaRPr lang="en-US" sz="1150" dirty="0"/>
          </a:p>
        </p:txBody>
      </p:sp>
      <p:sp>
        <p:nvSpPr>
          <p:cNvPr id="17" name="ConceptCard 17"/>
          <p:cNvSpPr/>
          <p:nvPr/>
        </p:nvSpPr>
        <p:spPr>
          <a:xfrm>
            <a:off x="6720840" y="32004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ConceptTitle 18"/>
          <p:cNvSpPr/>
          <p:nvPr/>
        </p:nvSpPr>
        <p:spPr>
          <a:xfrm>
            <a:off x="694944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COUNT(column)</a:t>
            </a:r>
            <a:endParaRPr lang="en-US" sz="1500" dirty="0"/>
          </a:p>
        </p:txBody>
      </p:sp>
      <p:sp>
        <p:nvSpPr>
          <p:cNvPr id="19" name="ConceptDesc 19"/>
          <p:cNvSpPr/>
          <p:nvPr/>
        </p:nvSpPr>
        <p:spPr>
          <a:xfrm>
            <a:off x="6949440" y="36210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only the rows where that column is not NULL.</a:t>
            </a:r>
            <a:endParaRPr lang="en-US" sz="1150" dirty="0"/>
          </a:p>
        </p:txBody>
      </p:sp>
      <p:sp>
        <p:nvSpPr>
          <p:cNvPr id="20" name="ConceptCard 20"/>
          <p:cNvSpPr/>
          <p:nvPr/>
        </p:nvSpPr>
        <p:spPr>
          <a:xfrm>
            <a:off x="6720840" y="443484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ConceptTitle 21"/>
          <p:cNvSpPr/>
          <p:nvPr/>
        </p:nvSpPr>
        <p:spPr>
          <a:xfrm>
            <a:off x="6949440" y="45628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with WHERE</a:t>
            </a:r>
            <a:endParaRPr lang="en-US" sz="1500" dirty="0"/>
          </a:p>
        </p:txBody>
      </p:sp>
      <p:sp>
        <p:nvSpPr>
          <p:cNvPr id="22" name="ConceptDesc 22"/>
          <p:cNvSpPr/>
          <p:nvPr/>
        </p:nvSpPr>
        <p:spPr>
          <a:xfrm>
            <a:off x="6949440" y="48554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condition to count just the rows that match.</a:t>
            </a:r>
            <a:endParaRPr lang="en-US" sz="1150" dirty="0"/>
          </a:p>
        </p:txBody>
      </p:sp>
      <p:sp>
        <p:nvSpPr>
          <p:cNvPr id="23" name="Watermark 23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4" name="PageNum 24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2583180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25831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TOTALING VALUES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SUM()</a:t>
            </a:r>
            <a:endParaRPr lang="en-US" sz="34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department wants total fees collected.</a:t>
            </a:r>
            <a:endParaRPr lang="en-US" sz="1300" dirty="0"/>
          </a:p>
        </p:txBody>
      </p:sp>
      <p:sp>
        <p:nvSpPr>
          <p:cNvPr id="6" name="CodeCard 6"/>
          <p:cNvSpPr/>
          <p:nvPr/>
        </p:nvSpPr>
        <p:spPr>
          <a:xfrm>
            <a:off x="594360" y="1965960"/>
            <a:ext cx="5852160" cy="2710592"/>
          </a:xfrm>
          <a:prstGeom prst="roundRect">
            <a:avLst>
              <a:gd name="adj" fmla="val 674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HeaderTop 7"/>
          <p:cNvSpPr/>
          <p:nvPr/>
        </p:nvSpPr>
        <p:spPr>
          <a:xfrm>
            <a:off x="594360" y="1965960"/>
            <a:ext cx="5852160" cy="310896"/>
          </a:xfrm>
          <a:prstGeom prst="roundRect">
            <a:avLst>
              <a:gd name="adj" fmla="val 13235"/>
            </a:avLst>
          </a:prstGeom>
          <a:solidFill>
            <a:srgbClr val="E7E7E7"/>
          </a:solidFill>
          <a:ln/>
        </p:spPr>
      </p:sp>
      <p:sp>
        <p:nvSpPr>
          <p:cNvPr id="8" name="HeaderSquare 8"/>
          <p:cNvSpPr/>
          <p:nvPr/>
        </p:nvSpPr>
        <p:spPr>
          <a:xfrm>
            <a:off x="594360" y="2121408"/>
            <a:ext cx="5852160" cy="155448"/>
          </a:xfrm>
          <a:prstGeom prst="rect">
            <a:avLst/>
          </a:prstGeom>
          <a:solidFill>
            <a:srgbClr val="E7E7E7"/>
          </a:solidFill>
          <a:ln/>
        </p:spPr>
      </p:sp>
      <p:sp>
        <p:nvSpPr>
          <p:cNvPr id="9" name="Dot 9"/>
          <p:cNvSpPr/>
          <p:nvPr/>
        </p:nvSpPr>
        <p:spPr>
          <a:xfrm>
            <a:off x="740664" y="2071416"/>
            <a:ext cx="100584" cy="100584"/>
          </a:xfrm>
          <a:prstGeom prst="ellipse">
            <a:avLst/>
          </a:prstGeom>
          <a:solidFill>
            <a:srgbClr val="E8695B"/>
          </a:solidFill>
          <a:ln/>
        </p:spPr>
      </p:sp>
      <p:sp>
        <p:nvSpPr>
          <p:cNvPr id="10" name="Dot 10"/>
          <p:cNvSpPr/>
          <p:nvPr/>
        </p:nvSpPr>
        <p:spPr>
          <a:xfrm>
            <a:off x="941832" y="207141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1" name="Dot 11"/>
          <p:cNvSpPr/>
          <p:nvPr/>
        </p:nvSpPr>
        <p:spPr>
          <a:xfrm>
            <a:off x="1143000" y="207141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2" name="HeaderLabel 12"/>
          <p:cNvSpPr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Workbench — college_db</a:t>
            </a:r>
            <a:endParaRPr lang="en-US" sz="1050" dirty="0"/>
          </a:p>
        </p:txBody>
      </p:sp>
      <p:sp>
        <p:nvSpPr>
          <p:cNvPr id="13" name="CodeBody 13"/>
          <p:cNvSpPr/>
          <p:nvPr/>
        </p:nvSpPr>
        <p:spPr>
          <a:xfrm>
            <a:off x="868680" y="2423160"/>
            <a:ext cx="5303520" cy="207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Total fees collected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SUM(fees) </a:t>
            </a: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students;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Total fees for one branch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SUM(fees) </a:t>
            </a: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 = 'CSE';</a:t>
            </a:r>
            <a:endParaRPr lang="en-US" sz="1350" dirty="0"/>
          </a:p>
        </p:txBody>
      </p:sp>
      <p:sp>
        <p:nvSpPr>
          <p:cNvPr id="14" name="ConceptCard 14"/>
          <p:cNvSpPr/>
          <p:nvPr/>
        </p:nvSpPr>
        <p:spPr>
          <a:xfrm>
            <a:off x="6720840" y="196596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ConceptTitle 15"/>
          <p:cNvSpPr/>
          <p:nvPr/>
        </p:nvSpPr>
        <p:spPr>
          <a:xfrm>
            <a:off x="6949440" y="2093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SUM(fees)</a:t>
            </a:r>
            <a:endParaRPr lang="en-US" sz="1500" dirty="0"/>
          </a:p>
        </p:txBody>
      </p:sp>
      <p:sp>
        <p:nvSpPr>
          <p:cNvPr id="16" name="ConceptDesc 16"/>
          <p:cNvSpPr/>
          <p:nvPr/>
        </p:nvSpPr>
        <p:spPr>
          <a:xfrm>
            <a:off x="6949440" y="23865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up every value in the fees column across matching rows.</a:t>
            </a:r>
            <a:endParaRPr lang="en-US" sz="1150" dirty="0"/>
          </a:p>
        </p:txBody>
      </p:sp>
      <p:sp>
        <p:nvSpPr>
          <p:cNvPr id="17" name="TipCard 17"/>
          <p:cNvSpPr/>
          <p:nvPr/>
        </p:nvSpPr>
        <p:spPr>
          <a:xfrm>
            <a:off x="6720840" y="3200400"/>
            <a:ext cx="4114800" cy="960120"/>
          </a:xfrm>
          <a:prstGeom prst="roundRect">
            <a:avLst>
              <a:gd name="adj" fmla="val 5715"/>
            </a:avLst>
          </a:prstGeom>
          <a:solidFill>
            <a:srgbClr val="E9F3F3"/>
          </a:solidFill>
          <a:ln w="12700">
            <a:solidFill>
              <a:srgbClr val="BEE0DD"/>
            </a:solidFill>
            <a:prstDash val="solid"/>
          </a:ln>
        </p:spPr>
      </p:sp>
      <p:sp>
        <p:nvSpPr>
          <p:cNvPr id="18" name="TipLabel 18"/>
          <p:cNvSpPr/>
          <p:nvPr/>
        </p:nvSpPr>
        <p:spPr>
          <a:xfrm>
            <a:off x="6922008" y="329184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COLUMNS ONLY</a:t>
            </a:r>
            <a:endParaRPr lang="en-US" sz="1000" dirty="0"/>
          </a:p>
        </p:txBody>
      </p:sp>
      <p:sp>
        <p:nvSpPr>
          <p:cNvPr id="19" name="TipBody 19"/>
          <p:cNvSpPr/>
          <p:nvPr/>
        </p:nvSpPr>
        <p:spPr>
          <a:xfrm>
            <a:off x="6922008" y="3511296"/>
            <a:ext cx="37124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works on numeric columns — using it on text raises an error.</a:t>
            </a:r>
            <a:endParaRPr lang="en-US" sz="1050" dirty="0"/>
          </a:p>
        </p:txBody>
      </p:sp>
      <p:sp>
        <p:nvSpPr>
          <p:cNvPr id="20" name="TipCard 20"/>
          <p:cNvSpPr/>
          <p:nvPr/>
        </p:nvSpPr>
        <p:spPr>
          <a:xfrm>
            <a:off x="594360" y="4826552"/>
            <a:ext cx="10241280" cy="760000"/>
          </a:xfrm>
          <a:prstGeom prst="roundRect">
            <a:avLst>
              <a:gd name="adj" fmla="val 7219"/>
            </a:avLst>
          </a:prstGeom>
          <a:solidFill>
            <a:srgbClr val="E9F3F3"/>
          </a:solidFill>
          <a:ln w="12700">
            <a:solidFill>
              <a:srgbClr val="BEE0DD"/>
            </a:solidFill>
            <a:prstDash val="solid"/>
          </a:ln>
        </p:spPr>
      </p:sp>
      <p:sp>
        <p:nvSpPr>
          <p:cNvPr id="21" name="TipLabel 21"/>
          <p:cNvSpPr/>
          <p:nvPr/>
        </p:nvSpPr>
        <p:spPr>
          <a:xfrm>
            <a:off x="795528" y="4917992"/>
            <a:ext cx="9838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22" name="TipBody 22"/>
          <p:cNvSpPr/>
          <p:nvPr/>
        </p:nvSpPr>
        <p:spPr>
          <a:xfrm>
            <a:off x="795528" y="5137448"/>
            <a:ext cx="9838944" cy="35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 + WHERE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total of a filtered group. For example, </a:t>
            </a: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SUM(fees) WHERE branch = 'CSE'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returns the total fees collected from CSE students only.</a:t>
            </a:r>
            <a:endParaRPr lang="en-US" sz="1050" dirty="0"/>
          </a:p>
        </p:txBody>
      </p:sp>
      <p:sp>
        <p:nvSpPr>
          <p:cNvPr id="23" name="Watermark 23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4" name="PageNum 24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2724912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272491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VALUES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AVG()</a:t>
            </a:r>
            <a:endParaRPr lang="en-US" sz="34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average CGPA of IT students.</a:t>
            </a:r>
            <a:endParaRPr lang="en-US" sz="1300" dirty="0"/>
          </a:p>
        </p:txBody>
      </p:sp>
      <p:sp>
        <p:nvSpPr>
          <p:cNvPr id="6" name="CodeCard 6"/>
          <p:cNvSpPr/>
          <p:nvPr/>
        </p:nvSpPr>
        <p:spPr>
          <a:xfrm>
            <a:off x="594360" y="1965960"/>
            <a:ext cx="5852160" cy="2710592"/>
          </a:xfrm>
          <a:prstGeom prst="roundRect">
            <a:avLst>
              <a:gd name="adj" fmla="val 674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HeaderTop 7"/>
          <p:cNvSpPr/>
          <p:nvPr/>
        </p:nvSpPr>
        <p:spPr>
          <a:xfrm>
            <a:off x="594360" y="1965960"/>
            <a:ext cx="5852160" cy="310896"/>
          </a:xfrm>
          <a:prstGeom prst="roundRect">
            <a:avLst>
              <a:gd name="adj" fmla="val 13235"/>
            </a:avLst>
          </a:prstGeom>
          <a:solidFill>
            <a:srgbClr val="E7E7E7"/>
          </a:solidFill>
          <a:ln/>
        </p:spPr>
      </p:sp>
      <p:sp>
        <p:nvSpPr>
          <p:cNvPr id="8" name="HeaderSquare 8"/>
          <p:cNvSpPr/>
          <p:nvPr/>
        </p:nvSpPr>
        <p:spPr>
          <a:xfrm>
            <a:off x="594360" y="2121408"/>
            <a:ext cx="5852160" cy="155448"/>
          </a:xfrm>
          <a:prstGeom prst="rect">
            <a:avLst/>
          </a:prstGeom>
          <a:solidFill>
            <a:srgbClr val="E7E7E7"/>
          </a:solidFill>
          <a:ln/>
        </p:spPr>
      </p:sp>
      <p:sp>
        <p:nvSpPr>
          <p:cNvPr id="9" name="Dot 9"/>
          <p:cNvSpPr/>
          <p:nvPr/>
        </p:nvSpPr>
        <p:spPr>
          <a:xfrm>
            <a:off x="740664" y="2071416"/>
            <a:ext cx="100584" cy="100584"/>
          </a:xfrm>
          <a:prstGeom prst="ellipse">
            <a:avLst/>
          </a:prstGeom>
          <a:solidFill>
            <a:srgbClr val="E8695B"/>
          </a:solidFill>
          <a:ln/>
        </p:spPr>
      </p:sp>
      <p:sp>
        <p:nvSpPr>
          <p:cNvPr id="10" name="Dot 10"/>
          <p:cNvSpPr/>
          <p:nvPr/>
        </p:nvSpPr>
        <p:spPr>
          <a:xfrm>
            <a:off x="941832" y="207141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1" name="Dot 11"/>
          <p:cNvSpPr/>
          <p:nvPr/>
        </p:nvSpPr>
        <p:spPr>
          <a:xfrm>
            <a:off x="1143000" y="207141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2" name="HeaderLabel 12"/>
          <p:cNvSpPr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Workbench — college_db</a:t>
            </a:r>
            <a:endParaRPr lang="en-US" sz="1050" dirty="0"/>
          </a:p>
        </p:txBody>
      </p:sp>
      <p:sp>
        <p:nvSpPr>
          <p:cNvPr id="13" name="CodeBody 13"/>
          <p:cNvSpPr/>
          <p:nvPr/>
        </p:nvSpPr>
        <p:spPr>
          <a:xfrm>
            <a:off x="868680" y="2423160"/>
            <a:ext cx="5303520" cy="207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Average CGPA of IT students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AVG(cgpa) </a:t>
            </a: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 = 'IT';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Average fees across all students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AVG(fees) </a:t>
            </a: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students;</a:t>
            </a:r>
            <a:endParaRPr lang="en-US" sz="1350" dirty="0"/>
          </a:p>
        </p:txBody>
      </p:sp>
      <p:sp>
        <p:nvSpPr>
          <p:cNvPr id="14" name="ConceptCard 14"/>
          <p:cNvSpPr/>
          <p:nvPr/>
        </p:nvSpPr>
        <p:spPr>
          <a:xfrm>
            <a:off x="6720840" y="196596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ConceptTitle 15"/>
          <p:cNvSpPr/>
          <p:nvPr/>
        </p:nvSpPr>
        <p:spPr>
          <a:xfrm>
            <a:off x="6949440" y="2093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AVG()</a:t>
            </a:r>
            <a:endParaRPr lang="en-US" sz="1500" dirty="0"/>
          </a:p>
        </p:txBody>
      </p:sp>
      <p:sp>
        <p:nvSpPr>
          <p:cNvPr id="16" name="ConceptDesc 16"/>
          <p:cNvSpPr/>
          <p:nvPr/>
        </p:nvSpPr>
        <p:spPr>
          <a:xfrm>
            <a:off x="6949440" y="23865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mean value of a numeric column.</a:t>
            </a:r>
            <a:endParaRPr lang="en-US" sz="1150" dirty="0"/>
          </a:p>
        </p:txBody>
      </p:sp>
      <p:sp>
        <p:nvSpPr>
          <p:cNvPr id="17" name="ConceptCard 17"/>
          <p:cNvSpPr/>
          <p:nvPr/>
        </p:nvSpPr>
        <p:spPr>
          <a:xfrm>
            <a:off x="6720840" y="32004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ConceptTitle 18"/>
          <p:cNvSpPr/>
          <p:nvPr/>
        </p:nvSpPr>
        <p:spPr>
          <a:xfrm>
            <a:off x="694944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well with WHERE</a:t>
            </a:r>
            <a:endParaRPr lang="en-US" sz="1500" dirty="0"/>
          </a:p>
        </p:txBody>
      </p:sp>
      <p:sp>
        <p:nvSpPr>
          <p:cNvPr id="19" name="ConceptDesc 19"/>
          <p:cNvSpPr/>
          <p:nvPr/>
        </p:nvSpPr>
        <p:spPr>
          <a:xfrm>
            <a:off x="6949440" y="36210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with WHERE to average just one group, like a single branch.</a:t>
            </a:r>
            <a:endParaRPr lang="en-US" sz="1150" dirty="0"/>
          </a:p>
        </p:txBody>
      </p:sp>
      <p:sp>
        <p:nvSpPr>
          <p:cNvPr id="20" name="Watermark 20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1" name="PageNum 21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2724912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272491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EXTREMES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MIN() &amp; MAX()</a:t>
            </a:r>
            <a:endParaRPr lang="en-US" sz="34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smallest and largest values — even in text columns.</a:t>
            </a:r>
            <a:endParaRPr lang="en-US" sz="1300" dirty="0"/>
          </a:p>
        </p:txBody>
      </p:sp>
      <p:sp>
        <p:nvSpPr>
          <p:cNvPr id="6" name="CodeCard 6"/>
          <p:cNvSpPr/>
          <p:nvPr/>
        </p:nvSpPr>
        <p:spPr>
          <a:xfrm>
            <a:off x="594360" y="1965960"/>
            <a:ext cx="5852160" cy="2710592"/>
          </a:xfrm>
          <a:prstGeom prst="roundRect">
            <a:avLst>
              <a:gd name="adj" fmla="val 674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HeaderTop 7"/>
          <p:cNvSpPr/>
          <p:nvPr/>
        </p:nvSpPr>
        <p:spPr>
          <a:xfrm>
            <a:off x="594360" y="1965960"/>
            <a:ext cx="5852160" cy="310896"/>
          </a:xfrm>
          <a:prstGeom prst="roundRect">
            <a:avLst>
              <a:gd name="adj" fmla="val 13235"/>
            </a:avLst>
          </a:prstGeom>
          <a:solidFill>
            <a:srgbClr val="E7E7E7"/>
          </a:solidFill>
          <a:ln/>
        </p:spPr>
      </p:sp>
      <p:sp>
        <p:nvSpPr>
          <p:cNvPr id="8" name="HeaderSquare 8"/>
          <p:cNvSpPr/>
          <p:nvPr/>
        </p:nvSpPr>
        <p:spPr>
          <a:xfrm>
            <a:off x="594360" y="2121408"/>
            <a:ext cx="5852160" cy="155448"/>
          </a:xfrm>
          <a:prstGeom prst="rect">
            <a:avLst/>
          </a:prstGeom>
          <a:solidFill>
            <a:srgbClr val="E7E7E7"/>
          </a:solidFill>
          <a:ln/>
        </p:spPr>
      </p:sp>
      <p:sp>
        <p:nvSpPr>
          <p:cNvPr id="9" name="Dot 9"/>
          <p:cNvSpPr/>
          <p:nvPr/>
        </p:nvSpPr>
        <p:spPr>
          <a:xfrm>
            <a:off x="740664" y="2071416"/>
            <a:ext cx="100584" cy="100584"/>
          </a:xfrm>
          <a:prstGeom prst="ellipse">
            <a:avLst/>
          </a:prstGeom>
          <a:solidFill>
            <a:srgbClr val="E8695B"/>
          </a:solidFill>
          <a:ln/>
        </p:spPr>
      </p:sp>
      <p:sp>
        <p:nvSpPr>
          <p:cNvPr id="10" name="Dot 10"/>
          <p:cNvSpPr/>
          <p:nvPr/>
        </p:nvSpPr>
        <p:spPr>
          <a:xfrm>
            <a:off x="941832" y="207141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1" name="Dot 11"/>
          <p:cNvSpPr/>
          <p:nvPr/>
        </p:nvSpPr>
        <p:spPr>
          <a:xfrm>
            <a:off x="1143000" y="207141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2" name="HeaderLabel 12"/>
          <p:cNvSpPr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Workbench — college_db</a:t>
            </a:r>
            <a:endParaRPr lang="en-US" sz="1050" dirty="0"/>
          </a:p>
        </p:txBody>
      </p:sp>
      <p:sp>
        <p:nvSpPr>
          <p:cNvPr id="13" name="CodeBody 13"/>
          <p:cNvSpPr/>
          <p:nvPr/>
        </p:nvSpPr>
        <p:spPr>
          <a:xfrm>
            <a:off x="868680" y="2423160"/>
            <a:ext cx="5303520" cy="207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Smallest and largest CGPA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MIN(cgpa), MAX(cgpa)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students;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Alphabetically first name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MIN(name) </a:t>
            </a: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students;</a:t>
            </a:r>
            <a:endParaRPr lang="en-US" sz="1350" dirty="0"/>
          </a:p>
        </p:txBody>
      </p:sp>
      <p:sp>
        <p:nvSpPr>
          <p:cNvPr id="14" name="ConceptCard 14"/>
          <p:cNvSpPr/>
          <p:nvPr/>
        </p:nvSpPr>
        <p:spPr>
          <a:xfrm>
            <a:off x="6720840" y="196596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ConceptTitle 15"/>
          <p:cNvSpPr/>
          <p:nvPr/>
        </p:nvSpPr>
        <p:spPr>
          <a:xfrm>
            <a:off x="6949440" y="2093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Columns</a:t>
            </a:r>
            <a:endParaRPr lang="en-US" sz="1500" dirty="0"/>
          </a:p>
        </p:txBody>
      </p:sp>
      <p:sp>
        <p:nvSpPr>
          <p:cNvPr id="16" name="ConceptDesc 16"/>
          <p:cNvSpPr/>
          <p:nvPr/>
        </p:nvSpPr>
        <p:spPr>
          <a:xfrm>
            <a:off x="6949440" y="23865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MIN()/MAX() return the smallest and largest numbers — e.g. lowest and highest CGPA.</a:t>
            </a:r>
            <a:endParaRPr lang="en-US" sz="1150" dirty="0"/>
          </a:p>
        </p:txBody>
      </p:sp>
      <p:sp>
        <p:nvSpPr>
          <p:cNvPr id="17" name="ConceptCard 17"/>
          <p:cNvSpPr/>
          <p:nvPr/>
        </p:nvSpPr>
        <p:spPr>
          <a:xfrm>
            <a:off x="6720840" y="32004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ConceptTitle 18"/>
          <p:cNvSpPr/>
          <p:nvPr/>
        </p:nvSpPr>
        <p:spPr>
          <a:xfrm>
            <a:off x="694944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Columns</a:t>
            </a:r>
            <a:endParaRPr lang="en-US" sz="1500" dirty="0"/>
          </a:p>
        </p:txBody>
      </p:sp>
      <p:sp>
        <p:nvSpPr>
          <p:cNvPr id="19" name="ConceptDesc 19"/>
          <p:cNvSpPr/>
          <p:nvPr/>
        </p:nvSpPr>
        <p:spPr>
          <a:xfrm>
            <a:off x="6949440" y="36210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compares text alphabetically — MIN(name) returns the name earliest in the alphabet.</a:t>
            </a:r>
            <a:endParaRPr lang="en-US" sz="1150" dirty="0"/>
          </a:p>
        </p:txBody>
      </p:sp>
      <p:sp>
        <p:nvSpPr>
          <p:cNvPr id="20" name="TipCard 20"/>
          <p:cNvSpPr/>
          <p:nvPr/>
        </p:nvSpPr>
        <p:spPr>
          <a:xfrm>
            <a:off x="594360" y="4826552"/>
            <a:ext cx="10241280" cy="760000"/>
          </a:xfrm>
          <a:prstGeom prst="roundRect">
            <a:avLst>
              <a:gd name="adj" fmla="val 7219"/>
            </a:avLst>
          </a:prstGeom>
          <a:solidFill>
            <a:srgbClr val="E9F3F3"/>
          </a:solidFill>
          <a:ln w="12700">
            <a:solidFill>
              <a:srgbClr val="BEE0DD"/>
            </a:solidFill>
            <a:prstDash val="solid"/>
          </a:ln>
        </p:spPr>
      </p:sp>
      <p:sp>
        <p:nvSpPr>
          <p:cNvPr id="21" name="TipLabel 21"/>
          <p:cNvSpPr/>
          <p:nvPr/>
        </p:nvSpPr>
        <p:spPr>
          <a:xfrm>
            <a:off x="795528" y="4917992"/>
            <a:ext cx="9838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INSIGHT</a:t>
            </a:r>
            <a:endParaRPr lang="en-US" sz="1000" dirty="0"/>
          </a:p>
        </p:txBody>
      </p:sp>
      <p:sp>
        <p:nvSpPr>
          <p:cNvPr id="22" name="TipBody 22"/>
          <p:cNvSpPr/>
          <p:nvPr/>
        </p:nvSpPr>
        <p:spPr>
          <a:xfrm>
            <a:off x="795528" y="5137448"/>
            <a:ext cx="9838944" cy="35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MIN(name)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Alphabetically first name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MAX(name)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Alphabetically last name</a:t>
            </a:r>
            <a:endParaRPr lang="en-US" sz="1050" dirty="0"/>
          </a:p>
        </p:txBody>
      </p:sp>
      <p:sp>
        <p:nvSpPr>
          <p:cNvPr id="23" name="Watermark 23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4" name="PageNum 24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2441448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COUNT(*) vs COUNT(column)</a:t>
            </a:r>
            <a:endParaRPr lang="en-US" sz="28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Same-looking functions — very different results when NULLs are involved.</a:t>
            </a:r>
            <a:endParaRPr lang="en-US" sz="1300" dirty="0"/>
          </a:p>
        </p:txBody>
      </p:sp>
      <p:sp>
        <p:nvSpPr>
          <p:cNvPr id="6" name="TableCard 6"/>
          <p:cNvSpPr/>
          <p:nvPr/>
        </p:nvSpPr>
        <p:spPr>
          <a:xfrm>
            <a:off x="594360" y="1965960"/>
            <a:ext cx="10241280" cy="1864792"/>
          </a:xfrm>
          <a:prstGeom prst="roundRect">
            <a:avLst>
              <a:gd name="adj" fmla="val 63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ableHeaderTop 7"/>
          <p:cNvSpPr/>
          <p:nvPr/>
        </p:nvSpPr>
        <p:spPr>
          <a:xfrm>
            <a:off x="594360" y="1965960"/>
            <a:ext cx="10241280" cy="484048"/>
          </a:xfrm>
          <a:prstGeom prst="roundRect">
            <a:avLst>
              <a:gd name="adj" fmla="val 6300"/>
            </a:avLst>
          </a:prstGeom>
          <a:solidFill>
            <a:srgbClr val="F4F5F6"/>
          </a:solidFill>
          <a:ln/>
        </p:spPr>
      </p:sp>
      <p:sp>
        <p:nvSpPr>
          <p:cNvPr id="8" name="TableHeaderSquare 8"/>
          <p:cNvSpPr/>
          <p:nvPr/>
        </p:nvSpPr>
        <p:spPr>
          <a:xfrm>
            <a:off x="594360" y="2207984"/>
            <a:ext cx="10241280" cy="242024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9" name="ColHead1 9"/>
          <p:cNvSpPr/>
          <p:nvPr/>
        </p:nvSpPr>
        <p:spPr>
          <a:xfrm>
            <a:off x="1051560" y="1965960"/>
            <a:ext cx="4663440" cy="4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</a:t>
            </a:r>
            <a:endParaRPr lang="en-US" sz="1500" dirty="0"/>
          </a:p>
        </p:txBody>
      </p:sp>
      <p:sp>
        <p:nvSpPr>
          <p:cNvPr id="10" name="ColHead2 10"/>
          <p:cNvSpPr/>
          <p:nvPr/>
        </p:nvSpPr>
        <p:spPr>
          <a:xfrm>
            <a:off x="5943600" y="1965960"/>
            <a:ext cx="4663440" cy="4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COUNT(email)</a:t>
            </a:r>
            <a:endParaRPr lang="en-US" sz="1500" dirty="0"/>
          </a:p>
        </p:txBody>
      </p:sp>
      <p:sp>
        <p:nvSpPr>
          <p:cNvPr id="11" name="TableRow 11"/>
          <p:cNvSpPr/>
          <p:nvPr/>
        </p:nvSpPr>
        <p:spPr>
          <a:xfrm>
            <a:off x="594360" y="2450008"/>
            <a:ext cx="10241280" cy="460248"/>
          </a:xfrm>
          <a:prstGeom prst="rect">
            <a:avLst/>
          </a:prstGeom>
          <a:solidFill>
            <a:srgbClr val="FBFAF8"/>
          </a:solidFill>
          <a:ln/>
        </p:spPr>
      </p:sp>
      <p:sp>
        <p:nvSpPr>
          <p:cNvPr id="12" name="Cell1 12"/>
          <p:cNvSpPr/>
          <p:nvPr/>
        </p:nvSpPr>
        <p:spPr>
          <a:xfrm>
            <a:off x="1051560" y="2450008"/>
            <a:ext cx="4663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every row in the table</a:t>
            </a:r>
            <a:endParaRPr lang="en-US" sz="1200" dirty="0"/>
          </a:p>
        </p:txBody>
      </p:sp>
      <p:sp>
        <p:nvSpPr>
          <p:cNvPr id="13" name="Cell2 13"/>
          <p:cNvSpPr/>
          <p:nvPr/>
        </p:nvSpPr>
        <p:spPr>
          <a:xfrm>
            <a:off x="5943600" y="2450008"/>
            <a:ext cx="4663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only rows where email is NOT NULL</a:t>
            </a:r>
            <a:endParaRPr lang="en-US" sz="1200" dirty="0"/>
          </a:p>
        </p:txBody>
      </p:sp>
      <p:sp>
        <p:nvSpPr>
          <p:cNvPr id="14" name="TableRow 14"/>
          <p:cNvSpPr/>
          <p:nvPr/>
        </p:nvSpPr>
        <p:spPr>
          <a:xfrm>
            <a:off x="594360" y="2910256"/>
            <a:ext cx="10241280" cy="460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Cell1 15"/>
          <p:cNvSpPr/>
          <p:nvPr/>
        </p:nvSpPr>
        <p:spPr>
          <a:xfrm>
            <a:off x="1051560" y="2910256"/>
            <a:ext cx="4663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rows with missing data</a:t>
            </a:r>
            <a:endParaRPr lang="en-US" sz="1200" dirty="0"/>
          </a:p>
        </p:txBody>
      </p:sp>
      <p:sp>
        <p:nvSpPr>
          <p:cNvPr id="16" name="Cell2 16"/>
          <p:cNvSpPr/>
          <p:nvPr/>
        </p:nvSpPr>
        <p:spPr>
          <a:xfrm>
            <a:off x="5943600" y="2910256"/>
            <a:ext cx="4663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Ignores NULL values entirely</a:t>
            </a:r>
            <a:endParaRPr lang="en-US" sz="1200" dirty="0"/>
          </a:p>
        </p:txBody>
      </p:sp>
      <p:sp>
        <p:nvSpPr>
          <p:cNvPr id="17" name="TableRow 17"/>
          <p:cNvSpPr/>
          <p:nvPr/>
        </p:nvSpPr>
        <p:spPr>
          <a:xfrm>
            <a:off x="594360" y="3370504"/>
            <a:ext cx="10241280" cy="460248"/>
          </a:xfrm>
          <a:prstGeom prst="rect">
            <a:avLst/>
          </a:prstGeom>
          <a:solidFill>
            <a:srgbClr val="FBFAF8"/>
          </a:solidFill>
          <a:ln/>
        </p:spPr>
      </p:sp>
      <p:sp>
        <p:nvSpPr>
          <p:cNvPr id="18" name="Cell1 18"/>
          <p:cNvSpPr/>
          <p:nvPr/>
        </p:nvSpPr>
        <p:spPr>
          <a:xfrm>
            <a:off x="1051560" y="3370504"/>
            <a:ext cx="4663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“how many records exist”</a:t>
            </a:r>
            <a:endParaRPr lang="en-US" sz="1200" dirty="0"/>
          </a:p>
        </p:txBody>
      </p:sp>
      <p:sp>
        <p:nvSpPr>
          <p:cNvPr id="19" name="Cell2 19"/>
          <p:cNvSpPr/>
          <p:nvPr/>
        </p:nvSpPr>
        <p:spPr>
          <a:xfrm>
            <a:off x="5943600" y="3370504"/>
            <a:ext cx="4663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“how many have this field filled in”</a:t>
            </a:r>
            <a:endParaRPr lang="en-US" sz="1200" dirty="0"/>
          </a:p>
        </p:txBody>
      </p:sp>
      <p:sp>
        <p:nvSpPr>
          <p:cNvPr id="20" name="ColDivider 20"/>
          <p:cNvSpPr/>
          <p:nvPr/>
        </p:nvSpPr>
        <p:spPr>
          <a:xfrm>
            <a:off x="5715000" y="1965960"/>
            <a:ext cx="9525" cy="1864792"/>
          </a:xfrm>
          <a:prstGeom prst="rect">
            <a:avLst/>
          </a:prstGeom>
          <a:solidFill>
            <a:srgbClr val="E3DFD6"/>
          </a:solidFill>
          <a:ln/>
        </p:spPr>
      </p:sp>
      <p:sp>
        <p:nvSpPr>
          <p:cNvPr id="21" name="TipCard 21"/>
          <p:cNvSpPr/>
          <p:nvPr/>
        </p:nvSpPr>
        <p:spPr>
          <a:xfrm>
            <a:off x="594360" y="3980752"/>
            <a:ext cx="10241280" cy="750000"/>
          </a:xfrm>
          <a:prstGeom prst="roundRect">
            <a:avLst>
              <a:gd name="adj" fmla="val 7316"/>
            </a:avLst>
          </a:prstGeom>
          <a:solidFill>
            <a:srgbClr val="E9F3F3"/>
          </a:solidFill>
          <a:ln w="12700">
            <a:solidFill>
              <a:srgbClr val="BEE0DD"/>
            </a:solidFill>
            <a:prstDash val="solid"/>
          </a:ln>
        </p:spPr>
      </p:sp>
      <p:sp>
        <p:nvSpPr>
          <p:cNvPr id="22" name="TipLabel 22"/>
          <p:cNvSpPr/>
          <p:nvPr/>
        </p:nvSpPr>
        <p:spPr>
          <a:xfrm>
            <a:off x="795528" y="4072192"/>
            <a:ext cx="9838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QUESTION</a:t>
            </a:r>
            <a:endParaRPr lang="en-US" sz="1000" dirty="0"/>
          </a:p>
        </p:txBody>
      </p:sp>
      <p:sp>
        <p:nvSpPr>
          <p:cNvPr id="23" name="TipBody 23"/>
          <p:cNvSpPr/>
          <p:nvPr/>
        </p:nvSpPr>
        <p:spPr>
          <a:xfrm>
            <a:off x="795528" y="4291648"/>
            <a:ext cx="9838944" cy="34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table has 100 rows and the </a:t>
            </a: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 has 5 NULLs. What do </a:t>
            </a: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COUNT(email)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return?</a:t>
            </a:r>
            <a:endParaRPr lang="en-US" sz="1050" dirty="0"/>
          </a:p>
        </p:txBody>
      </p:sp>
      <p:sp>
        <p:nvSpPr>
          <p:cNvPr id="24" name="PredictCard 24"/>
          <p:cNvSpPr/>
          <p:nvPr/>
        </p:nvSpPr>
        <p:spPr>
          <a:xfrm>
            <a:off x="594360" y="4880752"/>
            <a:ext cx="10241280" cy="700000"/>
          </a:xfrm>
          <a:prstGeom prst="roundRect">
            <a:avLst>
              <a:gd name="adj" fmla="val 7838"/>
            </a:avLst>
          </a:prstGeom>
          <a:solidFill>
            <a:srgbClr val="E9F3F3"/>
          </a:solidFill>
          <a:ln w="12700">
            <a:solidFill>
              <a:srgbClr val="BEE0DD"/>
            </a:solidFill>
            <a:prstDash val="solid"/>
          </a:ln>
        </p:spPr>
      </p:sp>
      <p:sp>
        <p:nvSpPr>
          <p:cNvPr id="25" name="PredictLabel 25"/>
          <p:cNvSpPr/>
          <p:nvPr/>
        </p:nvSpPr>
        <p:spPr>
          <a:xfrm>
            <a:off x="795528" y="4940752"/>
            <a:ext cx="24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THE OUTPUT</a:t>
            </a:r>
            <a:endParaRPr lang="en-US" sz="1000" dirty="0"/>
          </a:p>
        </p:txBody>
      </p:sp>
      <p:sp>
        <p:nvSpPr>
          <p:cNvPr id="26" name="MiniDot 26"/>
          <p:cNvSpPr/>
          <p:nvPr/>
        </p:nvSpPr>
        <p:spPr>
          <a:xfrm>
            <a:off x="3395528" y="4940752"/>
            <a:ext cx="280000" cy="280000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7" name="MiniDotText 27"/>
          <p:cNvSpPr/>
          <p:nvPr/>
        </p:nvSpPr>
        <p:spPr>
          <a:xfrm>
            <a:off x="3395528" y="4940752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MiniDot 28"/>
          <p:cNvSpPr/>
          <p:nvPr/>
        </p:nvSpPr>
        <p:spPr>
          <a:xfrm>
            <a:off x="3755528" y="4940752"/>
            <a:ext cx="280000" cy="280000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9" name="MiniDotText 29"/>
          <p:cNvSpPr/>
          <p:nvPr/>
        </p:nvSpPr>
        <p:spPr>
          <a:xfrm>
            <a:off x="3755528" y="4940752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MiniDot 30"/>
          <p:cNvSpPr/>
          <p:nvPr/>
        </p:nvSpPr>
        <p:spPr>
          <a:xfrm>
            <a:off x="4115528" y="4940752"/>
            <a:ext cx="280000" cy="280000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31" name="MiniDotText 31"/>
          <p:cNvSpPr/>
          <p:nvPr/>
        </p:nvSpPr>
        <p:spPr>
          <a:xfrm>
            <a:off x="4115528" y="4940752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MiniDot 32"/>
          <p:cNvSpPr/>
          <p:nvPr/>
        </p:nvSpPr>
        <p:spPr>
          <a:xfrm>
            <a:off x="4475528" y="4940752"/>
            <a:ext cx="280000" cy="2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675E"/>
            </a:solidFill>
            <a:prstDash val="solid"/>
          </a:ln>
        </p:spPr>
      </p:sp>
      <p:sp>
        <p:nvSpPr>
          <p:cNvPr id="33" name="MiniDotText 33"/>
          <p:cNvSpPr/>
          <p:nvPr/>
        </p:nvSpPr>
        <p:spPr>
          <a:xfrm>
            <a:off x="4475528" y="4940752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MiniDot 34"/>
          <p:cNvSpPr/>
          <p:nvPr/>
        </p:nvSpPr>
        <p:spPr>
          <a:xfrm>
            <a:off x="4835528" y="4940752"/>
            <a:ext cx="280000" cy="280000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35" name="MiniDotText 35"/>
          <p:cNvSpPr/>
          <p:nvPr/>
        </p:nvSpPr>
        <p:spPr>
          <a:xfrm>
            <a:off x="4835528" y="4940752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MiniDot 36"/>
          <p:cNvSpPr/>
          <p:nvPr/>
        </p:nvSpPr>
        <p:spPr>
          <a:xfrm>
            <a:off x="5195528" y="4940752"/>
            <a:ext cx="280000" cy="280000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37" name="MiniDotText 37"/>
          <p:cNvSpPr/>
          <p:nvPr/>
        </p:nvSpPr>
        <p:spPr>
          <a:xfrm>
            <a:off x="5195528" y="4940752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MiniDot 38"/>
          <p:cNvSpPr/>
          <p:nvPr/>
        </p:nvSpPr>
        <p:spPr>
          <a:xfrm>
            <a:off x="5555528" y="4940752"/>
            <a:ext cx="280000" cy="280000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39" name="MiniDotText 39"/>
          <p:cNvSpPr/>
          <p:nvPr/>
        </p:nvSpPr>
        <p:spPr>
          <a:xfrm>
            <a:off x="5555528" y="4940752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MiniDot 40"/>
          <p:cNvSpPr/>
          <p:nvPr/>
        </p:nvSpPr>
        <p:spPr>
          <a:xfrm>
            <a:off x="5915528" y="4940752"/>
            <a:ext cx="280000" cy="2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675E"/>
            </a:solidFill>
            <a:prstDash val="solid"/>
          </a:ln>
        </p:spPr>
      </p:sp>
      <p:sp>
        <p:nvSpPr>
          <p:cNvPr id="41" name="MiniDotText 41"/>
          <p:cNvSpPr/>
          <p:nvPr/>
        </p:nvSpPr>
        <p:spPr>
          <a:xfrm>
            <a:off x="5915528" y="4940752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2" name="MiniDot 42"/>
          <p:cNvSpPr/>
          <p:nvPr/>
        </p:nvSpPr>
        <p:spPr>
          <a:xfrm>
            <a:off x="6275528" y="4940752"/>
            <a:ext cx="280000" cy="280000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43" name="MiniDotText 43"/>
          <p:cNvSpPr/>
          <p:nvPr/>
        </p:nvSpPr>
        <p:spPr>
          <a:xfrm>
            <a:off x="6275528" y="4940752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4" name="MiniDot 44"/>
          <p:cNvSpPr/>
          <p:nvPr/>
        </p:nvSpPr>
        <p:spPr>
          <a:xfrm>
            <a:off x="6635528" y="4940752"/>
            <a:ext cx="280000" cy="280000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45" name="MiniDotText 45"/>
          <p:cNvSpPr/>
          <p:nvPr/>
        </p:nvSpPr>
        <p:spPr>
          <a:xfrm>
            <a:off x="6635528" y="4940752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6" name="PredictSentence 46"/>
          <p:cNvSpPr/>
          <p:nvPr/>
        </p:nvSpPr>
        <p:spPr>
          <a:xfrm>
            <a:off x="795528" y="5260752"/>
            <a:ext cx="9838944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rows total — the 2 hollow rows have a NULL email. Predict what COUNT(*) and COUNT(email) will each return.</a:t>
            </a:r>
            <a:endParaRPr lang="en-US" sz="1100" dirty="0"/>
          </a:p>
        </p:txBody>
      </p:sp>
      <p:sp>
        <p:nvSpPr>
          <p:cNvPr id="47" name="Watermark 47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48" name="PageNum 48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2441448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SQL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Studies</a:t>
            </a:r>
            <a:endParaRPr lang="en-US" sz="30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real requests from around campus — match each to an aggregate function.</a:t>
            </a:r>
            <a:endParaRPr lang="en-US" sz="1300" dirty="0"/>
          </a:p>
        </p:txBody>
      </p:sp>
      <p:sp>
        <p:nvSpPr>
          <p:cNvPr id="6" name="RowCard 6"/>
          <p:cNvSpPr/>
          <p:nvPr/>
        </p:nvSpPr>
        <p:spPr>
          <a:xfrm>
            <a:off x="594360" y="210312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RowNum 7"/>
          <p:cNvSpPr/>
          <p:nvPr/>
        </p:nvSpPr>
        <p:spPr>
          <a:xfrm>
            <a:off x="795528" y="221284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8" name="RowNumText 8"/>
          <p:cNvSpPr/>
          <p:nvPr/>
        </p:nvSpPr>
        <p:spPr>
          <a:xfrm>
            <a:off x="795528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RowText 9"/>
          <p:cNvSpPr/>
          <p:nvPr/>
        </p:nvSpPr>
        <p:spPr>
          <a:xfrm>
            <a:off x="1371600" y="210312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students from Delhi.</a:t>
            </a:r>
            <a:endParaRPr lang="en-US" sz="1400" dirty="0"/>
          </a:p>
        </p:txBody>
      </p:sp>
      <p:sp>
        <p:nvSpPr>
          <p:cNvPr id="10" name="RowCard 10"/>
          <p:cNvSpPr/>
          <p:nvPr/>
        </p:nvSpPr>
        <p:spPr>
          <a:xfrm>
            <a:off x="594360" y="283464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RowNum 11"/>
          <p:cNvSpPr/>
          <p:nvPr/>
        </p:nvSpPr>
        <p:spPr>
          <a:xfrm>
            <a:off x="795528" y="294436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2" name="RowNumText 12"/>
          <p:cNvSpPr/>
          <p:nvPr/>
        </p:nvSpPr>
        <p:spPr>
          <a:xfrm>
            <a:off x="79552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RowText 13"/>
          <p:cNvSpPr/>
          <p:nvPr/>
        </p:nvSpPr>
        <p:spPr>
          <a:xfrm>
            <a:off x="1371600" y="283464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highest fees paid by any student.</a:t>
            </a:r>
            <a:endParaRPr lang="en-US" sz="1400" dirty="0"/>
          </a:p>
        </p:txBody>
      </p:sp>
      <p:sp>
        <p:nvSpPr>
          <p:cNvPr id="14" name="RowCard 14"/>
          <p:cNvSpPr/>
          <p:nvPr/>
        </p:nvSpPr>
        <p:spPr>
          <a:xfrm>
            <a:off x="594360" y="356616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RowNum 15"/>
          <p:cNvSpPr/>
          <p:nvPr/>
        </p:nvSpPr>
        <p:spPr>
          <a:xfrm>
            <a:off x="795528" y="367588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6" name="RowNumText 16"/>
          <p:cNvSpPr/>
          <p:nvPr/>
        </p:nvSpPr>
        <p:spPr>
          <a:xfrm>
            <a:off x="795528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RowText 17"/>
          <p:cNvSpPr/>
          <p:nvPr/>
        </p:nvSpPr>
        <p:spPr>
          <a:xfrm>
            <a:off x="1371600" y="356616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the average attendance percentage.</a:t>
            </a:r>
            <a:endParaRPr lang="en-US" sz="1400" dirty="0"/>
          </a:p>
        </p:txBody>
      </p:sp>
      <p:sp>
        <p:nvSpPr>
          <p:cNvPr id="18" name="RowCard 18"/>
          <p:cNvSpPr/>
          <p:nvPr/>
        </p:nvSpPr>
        <p:spPr>
          <a:xfrm>
            <a:off x="594360" y="429768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RowNum 19"/>
          <p:cNvSpPr/>
          <p:nvPr/>
        </p:nvSpPr>
        <p:spPr>
          <a:xfrm>
            <a:off x="795528" y="440740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0" name="RowNumText 20"/>
          <p:cNvSpPr/>
          <p:nvPr/>
        </p:nvSpPr>
        <p:spPr>
          <a:xfrm>
            <a:off x="795528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RowText 21"/>
          <p:cNvSpPr/>
          <p:nvPr/>
        </p:nvSpPr>
        <p:spPr>
          <a:xfrm>
            <a:off x="1371600" y="429768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lowest CGPA in the college.</a:t>
            </a:r>
            <a:endParaRPr lang="en-US" sz="1400" dirty="0"/>
          </a:p>
        </p:txBody>
      </p:sp>
      <p:sp>
        <p:nvSpPr>
          <p:cNvPr id="22" name="RowCard 22"/>
          <p:cNvSpPr/>
          <p:nvPr/>
        </p:nvSpPr>
        <p:spPr>
          <a:xfrm>
            <a:off x="594360" y="502920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RowNum 23"/>
          <p:cNvSpPr/>
          <p:nvPr/>
        </p:nvSpPr>
        <p:spPr>
          <a:xfrm>
            <a:off x="795528" y="513892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4" name="RowNumText 24"/>
          <p:cNvSpPr/>
          <p:nvPr/>
        </p:nvSpPr>
        <p:spPr>
          <a:xfrm>
            <a:off x="795528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RowText 25"/>
          <p:cNvSpPr/>
          <p:nvPr/>
        </p:nvSpPr>
        <p:spPr>
          <a:xfrm>
            <a:off x="1371600" y="502920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fees collected from CSE students.</a:t>
            </a:r>
            <a:endParaRPr lang="en-US" sz="1400" dirty="0"/>
          </a:p>
        </p:txBody>
      </p:sp>
      <p:sp>
        <p:nvSpPr>
          <p:cNvPr id="26" name="Watermark 26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7" name="PageNum 27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1591056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159105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Challenge</a:t>
            </a:r>
            <a:endParaRPr lang="en-US" sz="34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questions using everything from today — no answers here!</a:t>
            </a:r>
            <a:endParaRPr lang="en-US" sz="1300" dirty="0"/>
          </a:p>
        </p:txBody>
      </p:sp>
      <p:sp>
        <p:nvSpPr>
          <p:cNvPr id="6" name="RowCard 6"/>
          <p:cNvSpPr/>
          <p:nvPr/>
        </p:nvSpPr>
        <p:spPr>
          <a:xfrm>
            <a:off x="594360" y="210312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RowNum 7"/>
          <p:cNvSpPr/>
          <p:nvPr/>
        </p:nvSpPr>
        <p:spPr>
          <a:xfrm>
            <a:off x="795528" y="221284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8" name="RowNumText 8"/>
          <p:cNvSpPr/>
          <p:nvPr/>
        </p:nvSpPr>
        <p:spPr>
          <a:xfrm>
            <a:off x="795528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RowText 9"/>
          <p:cNvSpPr/>
          <p:nvPr/>
        </p:nvSpPr>
        <p:spPr>
          <a:xfrm>
            <a:off x="1371600" y="210312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total number of students in the college.</a:t>
            </a:r>
            <a:endParaRPr lang="en-US" sz="1400" dirty="0"/>
          </a:p>
        </p:txBody>
      </p:sp>
      <p:sp>
        <p:nvSpPr>
          <p:cNvPr id="10" name="RowCard 10"/>
          <p:cNvSpPr/>
          <p:nvPr/>
        </p:nvSpPr>
        <p:spPr>
          <a:xfrm>
            <a:off x="594360" y="283464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RowNum 11"/>
          <p:cNvSpPr/>
          <p:nvPr/>
        </p:nvSpPr>
        <p:spPr>
          <a:xfrm>
            <a:off x="795528" y="294436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2" name="RowNumText 12"/>
          <p:cNvSpPr/>
          <p:nvPr/>
        </p:nvSpPr>
        <p:spPr>
          <a:xfrm>
            <a:off x="79552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RowText 13"/>
          <p:cNvSpPr/>
          <p:nvPr/>
        </p:nvSpPr>
        <p:spPr>
          <a:xfrm>
            <a:off x="1371600" y="283464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the average attendance percentage of all students.</a:t>
            </a:r>
            <a:endParaRPr lang="en-US" sz="1400" dirty="0"/>
          </a:p>
        </p:txBody>
      </p:sp>
      <p:sp>
        <p:nvSpPr>
          <p:cNvPr id="14" name="RowCard 14"/>
          <p:cNvSpPr/>
          <p:nvPr/>
        </p:nvSpPr>
        <p:spPr>
          <a:xfrm>
            <a:off x="594360" y="356616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RowNum 15"/>
          <p:cNvSpPr/>
          <p:nvPr/>
        </p:nvSpPr>
        <p:spPr>
          <a:xfrm>
            <a:off x="795528" y="367588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6" name="RowNumText 16"/>
          <p:cNvSpPr/>
          <p:nvPr/>
        </p:nvSpPr>
        <p:spPr>
          <a:xfrm>
            <a:off x="795528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RowText 17"/>
          <p:cNvSpPr/>
          <p:nvPr/>
        </p:nvSpPr>
        <p:spPr>
          <a:xfrm>
            <a:off x="1371600" y="356616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highest and lowest CGPA in the IT branch.</a:t>
            </a:r>
            <a:endParaRPr lang="en-US" sz="1400" dirty="0"/>
          </a:p>
        </p:txBody>
      </p:sp>
      <p:sp>
        <p:nvSpPr>
          <p:cNvPr id="18" name="RowCard 18"/>
          <p:cNvSpPr/>
          <p:nvPr/>
        </p:nvSpPr>
        <p:spPr>
          <a:xfrm>
            <a:off x="594360" y="429768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RowNum 19"/>
          <p:cNvSpPr/>
          <p:nvPr/>
        </p:nvSpPr>
        <p:spPr>
          <a:xfrm>
            <a:off x="795528" y="440740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0" name="RowNumText 20"/>
          <p:cNvSpPr/>
          <p:nvPr/>
        </p:nvSpPr>
        <p:spPr>
          <a:xfrm>
            <a:off x="795528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RowText 21"/>
          <p:cNvSpPr/>
          <p:nvPr/>
        </p:nvSpPr>
        <p:spPr>
          <a:xfrm>
            <a:off x="1371600" y="429768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the total fees collected from CSE students only.</a:t>
            </a:r>
            <a:endParaRPr lang="en-US" sz="1400" dirty="0"/>
          </a:p>
        </p:txBody>
      </p:sp>
      <p:sp>
        <p:nvSpPr>
          <p:cNvPr id="22" name="RowCard 22"/>
          <p:cNvSpPr/>
          <p:nvPr/>
        </p:nvSpPr>
        <p:spPr>
          <a:xfrm>
            <a:off x="594360" y="502920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RowNum 23"/>
          <p:cNvSpPr/>
          <p:nvPr/>
        </p:nvSpPr>
        <p:spPr>
          <a:xfrm>
            <a:off x="795528" y="513892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4" name="RowNumText 24"/>
          <p:cNvSpPr/>
          <p:nvPr/>
        </p:nvSpPr>
        <p:spPr>
          <a:xfrm>
            <a:off x="795528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RowText 25"/>
          <p:cNvSpPr/>
          <p:nvPr/>
        </p:nvSpPr>
        <p:spPr>
          <a:xfrm>
            <a:off x="1371600" y="502920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how many students have a valid (non-NULL) email address.</a:t>
            </a:r>
            <a:endParaRPr lang="en-US" sz="1400" dirty="0"/>
          </a:p>
        </p:txBody>
      </p:sp>
      <p:sp>
        <p:nvSpPr>
          <p:cNvPr id="26" name="Watermark 26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7" name="PageNum 27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1: Title</vt:lpstr>
      <vt:lpstr>Slide 2: Today's Agenda</vt:lpstr>
      <vt:lpstr>Slide 3: Why Aggregate Functions?</vt:lpstr>
      <vt:lpstr>Slide 4: COUNT()</vt:lpstr>
      <vt:lpstr>Slide 5: SUM()</vt:lpstr>
      <vt:lpstr>Slide 6: AVG()</vt:lpstr>
      <vt:lpstr>Slide 7: MIN() &amp; MAX()</vt:lpstr>
      <vt:lpstr>Slide 8: COUNT(*) vs COUNT(column)</vt:lpstr>
      <vt:lpstr>Slide 9: Business Case Studies</vt:lpstr>
      <vt:lpstr>Slide 10: Mini Challenge</vt:lpstr>
    </vt:vector>
  </TitlesOfParts>
  <Company>Shalinee Priya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Day 3: Aggregate Functions</dc:title>
  <dc:subject>PptxGenJS Presentation</dc:subject>
  <dc:creator>Shalinee Priya</dc:creator>
  <cp:lastModifiedBy>Shalinee Priya</cp:lastModifiedBy>
  <cp:revision>1</cp:revision>
  <dcterms:created xsi:type="dcterms:W3CDTF">2026-08-18T18:54:30Z</dcterms:created>
  <dcterms:modified xsi:type="dcterms:W3CDTF">2026-08-18T18:54:30Z</dcterms:modified>
</cp:coreProperties>
</file>