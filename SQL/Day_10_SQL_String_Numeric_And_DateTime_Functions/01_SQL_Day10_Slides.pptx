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slideMasters/slideMaster17.xml" ContentType="application/vnd.openxmlformats-officedocument.presentationml.slideMaster+xml"/>
  <Override PartName="/ppt/slides/slide17.xml" ContentType="application/vnd.openxmlformats-officedocument.presentationml.slide+xml"/>
  <Override PartName="/ppt/slideMasters/slideMaster18.xml" ContentType="application/vnd.openxmlformats-officedocument.presentationml.slideMaster+xml"/>
  <Override PartName="/ppt/slides/slide18.xml" ContentType="application/vnd.openxmlformats-officedocument.presentationml.slide+xml"/>
  <Override PartName="/ppt/slideMasters/slideMaster19.xml" ContentType="application/vnd.openxmlformats-officedocument.presentationml.slideMaster+xml"/>
  <Override PartName="/ppt/slides/slide19.xml" ContentType="application/vnd.openxmlformats-officedocument.presentationml.slide+xml"/>
  <Override PartName="/ppt/slideMasters/slideMaster20.xml" ContentType="application/vnd.openxmlformats-officedocument.presentationml.slideMaster+xml"/>
  <Override PartName="/ppt/slides/slide20.xml" ContentType="application/vnd.openxmlformats-officedocument.presentationml.slide+xml"/>
  <Override PartName="/ppt/slideMasters/slideMaster21.xml" ContentType="application/vnd.openxmlformats-officedocument.presentationml.slideMaster+xml"/>
  <Override PartName="/ppt/slides/slide21.xml" ContentType="application/vnd.openxmlformats-officedocument.presentationml.slide+xml"/>
  <Override PartName="/ppt/slideMasters/slideMaster22.xml" ContentType="application/vnd.openxmlformats-officedocument.presentationml.slideMaster+xml"/>
  <Override PartName="/ppt/slides/slide22.xml" ContentType="application/vnd.openxmlformats-officedocument.presentationml.slide+xml"/>
  <Override PartName="/ppt/slideMasters/slideMaster23.xml" ContentType="application/vnd.openxmlformats-officedocument.presentationml.slideMaster+xml"/>
  <Override PartName="/ppt/slides/slide23.xml" ContentType="application/vnd.openxmlformats-officedocument.presentationml.slide+xml"/>
  <Override PartName="/ppt/slideMasters/slideMaster24.xml" ContentType="application/vnd.openxmlformats-officedocument.presentationml.slideMaster+xml"/>
  <Override PartName="/ppt/slides/slide24.xml" ContentType="application/vnd.openxmlformats-officedocument.presentationml.slide+xml"/>
  <Override PartName="/ppt/slideMasters/slideMaster25.xml" ContentType="application/vnd.openxmlformats-officedocument.presentationml.slideMaster+xml"/>
  <Override PartName="/ppt/slides/slide25.xml" ContentType="application/vnd.openxmlformats-officedocument.presentationml.slide+xml"/>
  <Override PartName="/ppt/slideMasters/slideMaster26.xml" ContentType="application/vnd.openxmlformats-officedocument.presentationml.slideMaster+xml"/>
  <Override PartName="/ppt/slides/slide26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  <p:sldId id="277" r:id="rId23"/>
    <p:sldId id="278" r:id="rId24"/>
    <p:sldId id="279" r:id="rId25"/>
    <p:sldId id="280" r:id="rId26"/>
    <p:sldId id="281" r:id="rId27"/>
  </p:sldIdLst>
  <p:notesMasterIdLst>
    <p:notesMasterId r:id="rId28"/>
  </p:notesMasterIdLst>
  <p:sldSz cx="12191695" cy="6858000"/>
  <p:notesSz cx="6858000" cy="12191695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slide" Target="slides/slide18.xml"/><Relationship Id="rId20" Type="http://schemas.openxmlformats.org/officeDocument/2006/relationships/slide" Target="slides/slide19.xml"/><Relationship Id="rId21" Type="http://schemas.openxmlformats.org/officeDocument/2006/relationships/slide" Target="slides/slide20.xml"/><Relationship Id="rId22" Type="http://schemas.openxmlformats.org/officeDocument/2006/relationships/slide" Target="slides/slide21.xml"/><Relationship Id="rId23" Type="http://schemas.openxmlformats.org/officeDocument/2006/relationships/slide" Target="slides/slide22.xml"/><Relationship Id="rId24" Type="http://schemas.openxmlformats.org/officeDocument/2006/relationships/slide" Target="slides/slide23.xml"/><Relationship Id="rId25" Type="http://schemas.openxmlformats.org/officeDocument/2006/relationships/slide" Target="slides/slide24.xml"/><Relationship Id="rId26" Type="http://schemas.openxmlformats.org/officeDocument/2006/relationships/slide" Target="slides/slide25.xml"/><Relationship Id="rId27" Type="http://schemas.openxmlformats.org/officeDocument/2006/relationships/slide" Target="slides/slide26.xml"/><Relationship Id="rId28" Type="http://schemas.openxmlformats.org/officeDocument/2006/relationships/notesMaster" Target="notesMasters/notesMaster1.xml"/><Relationship Id="rId29" Type="http://schemas.openxmlformats.org/officeDocument/2006/relationships/presProps" Target="presProps.xml"/><Relationship Id="rId30" Type="http://schemas.openxmlformats.org/officeDocument/2006/relationships/viewProps" Target="viewProps.xml"/><Relationship Id="rId31" Type="http://schemas.openxmlformats.org/officeDocument/2006/relationships/theme" Target="theme/theme1.xml"/><Relationship Id="rId32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_rels/notesSlide1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7.xml"/>
		</Relationships>
</file>

<file path=ppt/notesSlides/_rels/notesSlide1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8.xml"/>
		</Relationships>
</file>

<file path=ppt/notesSlides/_rels/notesSlide1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9.xml"/>
		</Relationships>
</file>

<file path=ppt/notesSlides/_rels/notesSlide2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0.xml"/>
		</Relationships>
</file>

<file path=ppt/notesSlides/_rels/notesSlide2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1.xml"/>
		</Relationships>
</file>

<file path=ppt/notesSlides/_rels/notesSlide2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2.xml"/>
		</Relationships>
</file>

<file path=ppt/notesSlides/_rels/notesSlide2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3.xml"/>
		</Relationships>
</file>

<file path=ppt/notesSlides/_rels/notesSlide2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4.xml"/>
		</Relationships>
</file>

<file path=ppt/notesSlides/_rels/notesSlide2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5.xml"/>
		</Relationships>
</file>

<file path=ppt/notesSlides/_rels/notesSlide2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6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6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7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8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9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0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1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2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3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4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5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6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B254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-914400" y="-1097280"/>
            <a:ext cx="2926080" cy="2926080"/>
          </a:xfrm>
          <a:prstGeom prst="ellipse">
            <a:avLst/>
          </a:prstGeom>
          <a:solidFill>
            <a:srgbClr val="14B8A6">
              <a:alpha val="18000"/>
            </a:srgbClr>
          </a:solidFill>
          <a:ln w="19050">
            <a:solidFill>
              <a:srgbClr val="14B8A6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320040" y="-914400"/>
            <a:ext cx="2926080" cy="2926080"/>
          </a:xfrm>
          <a:prstGeom prst="ellipse">
            <a:avLst/>
          </a:prstGeom>
          <a:solidFill>
            <a:srgbClr val="1B3F73">
              <a:alpha val="60000"/>
            </a:srgbClr>
          </a:solidFill>
          <a:ln w="19050">
            <a:solidFill>
              <a:srgbClr val="1B3F73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8778240" y="4160520"/>
            <a:ext cx="2926080" cy="2926080"/>
          </a:xfrm>
          <a:prstGeom prst="ellipse">
            <a:avLst/>
          </a:prstGeom>
          <a:solidFill>
            <a:srgbClr val="14B8A6">
              <a:alpha val="45000"/>
            </a:srgbClr>
          </a:solidFill>
          <a:ln w="19050">
            <a:solidFill>
              <a:srgbClr val="14B8A6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10424160" y="3977640"/>
            <a:ext cx="2926080" cy="2926080"/>
          </a:xfrm>
          <a:prstGeom prst="ellipse">
            <a:avLst/>
          </a:prstGeom>
          <a:solidFill>
            <a:srgbClr val="1B3F73">
              <a:alpha val="70000"/>
            </a:srgbClr>
          </a:solidFill>
          <a:ln w="19050">
            <a:solidFill>
              <a:srgbClr val="1B3F73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731520" y="1874520"/>
            <a:ext cx="91440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spc="200" kern="0" dirty="0">
                <a:solidFill>
                  <a:srgbClr val="14B8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STRUCTURED QUERY LANGUAGE   ·   B.TECH SQL TRAINING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731520" y="2286000"/>
            <a:ext cx="73152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dirty="0">
                <a:solidFill>
                  <a:srgbClr val="AEB9C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SQL Day 10</a:t>
            </a:r>
            <a:endParaRPr lang="en-US" sz="2400" dirty="0"/>
          </a:p>
        </p:txBody>
      </p:sp>
      <p:sp>
        <p:nvSpPr>
          <p:cNvPr id="8" name="Text 6"/>
          <p:cNvSpPr/>
          <p:nvPr/>
        </p:nvSpPr>
        <p:spPr>
          <a:xfrm>
            <a:off x="731520" y="2788920"/>
            <a:ext cx="91440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4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STRING, NUMERIC &amp;</a:t>
            </a:r>
            <a:endParaRPr lang="en-US" sz="4000" dirty="0"/>
          </a:p>
        </p:txBody>
      </p:sp>
      <p:sp>
        <p:nvSpPr>
          <p:cNvPr id="9" name="Text 7"/>
          <p:cNvSpPr/>
          <p:nvPr/>
        </p:nvSpPr>
        <p:spPr>
          <a:xfrm>
            <a:off x="731520" y="3337560"/>
            <a:ext cx="96012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4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DATE/TIME FUNCTIONS</a:t>
            </a:r>
            <a:endParaRPr lang="en-US" sz="4000" dirty="0"/>
          </a:p>
        </p:txBody>
      </p:sp>
      <p:sp>
        <p:nvSpPr>
          <p:cNvPr id="10" name="Text 8"/>
          <p:cNvSpPr/>
          <p:nvPr/>
        </p:nvSpPr>
        <p:spPr>
          <a:xfrm>
            <a:off x="731520" y="402336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i="1" dirty="0">
                <a:solidFill>
                  <a:srgbClr val="C7D0D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 Transform · Clean · Format · Calculate · Analyze )</a:t>
            </a:r>
            <a:endParaRPr lang="en-US" sz="1500" dirty="0"/>
          </a:p>
        </p:txBody>
      </p:sp>
      <p:sp>
        <p:nvSpPr>
          <p:cNvPr id="11" name="Shape 9"/>
          <p:cNvSpPr/>
          <p:nvPr/>
        </p:nvSpPr>
        <p:spPr>
          <a:xfrm>
            <a:off x="731520" y="4526280"/>
            <a:ext cx="1463040" cy="0"/>
          </a:xfrm>
          <a:prstGeom prst="line">
            <a:avLst/>
          </a:prstGeom>
          <a:noFill/>
          <a:ln w="31750">
            <a:solidFill>
              <a:srgbClr val="14B8A6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731520" y="4663440"/>
            <a:ext cx="7315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AEB9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Continuing directly from Day 9 : SQL Subqueries</a:t>
            </a:r>
            <a:endParaRPr lang="en-US" sz="1300" dirty="0"/>
          </a:p>
        </p:txBody>
      </p:sp>
      <p:sp>
        <p:nvSpPr>
          <p:cNvPr id="13" name="Text 11"/>
          <p:cNvSpPr/>
          <p:nvPr/>
        </p:nvSpPr>
        <p:spPr>
          <a:xfrm>
            <a:off x="731520" y="6355080"/>
            <a:ext cx="6400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8A97A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Shalinee Priya   |   Data Analyst  ·  SQL Trainer</a:t>
            </a:r>
            <a:endParaRPr lang="en-US" sz="1100" dirty="0"/>
          </a:p>
        </p:txBody>
      </p:sp>
      <p:sp>
        <p:nvSpPr>
          <p:cNvPr id="14" name="Shape 12"/>
          <p:cNvSpPr/>
          <p:nvPr/>
        </p:nvSpPr>
        <p:spPr>
          <a:xfrm>
            <a:off x="11109960" y="6309360"/>
            <a:ext cx="713232" cy="292608"/>
          </a:xfrm>
          <a:prstGeom prst="roundRect">
            <a:avLst>
              <a:gd name="adj" fmla="val 18750"/>
            </a:avLst>
          </a:prstGeom>
          <a:solidFill>
            <a:srgbClr val="14B8A6"/>
          </a:solidFill>
          <a:ln/>
        </p:spPr>
      </p:sp>
      <p:sp>
        <p:nvSpPr>
          <p:cNvPr id="15" name="Text 13"/>
          <p:cNvSpPr/>
          <p:nvPr/>
        </p:nvSpPr>
        <p:spPr>
          <a:xfrm>
            <a:off x="11109960" y="6309360"/>
            <a:ext cx="713232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0B25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1/26</a:t>
            </a:r>
            <a:endParaRPr lang="en-US" sz="11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320040"/>
            <a:ext cx="9144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0C7C7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CURRICULUM MAP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02920" y="566928"/>
            <a:ext cx="1078992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0B2545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Day 10's Position in the SQL Journey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502920" y="1078992"/>
            <a:ext cx="111556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6272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Days 1–9 taught you to COMBINE and FILTER rows. Day 10 teaches you to TRANSFORM the values inside them.</a:t>
            </a:r>
            <a:endParaRPr lang="en-US" sz="1300" dirty="0"/>
          </a:p>
        </p:txBody>
      </p:sp>
      <p:sp>
        <p:nvSpPr>
          <p:cNvPr id="5" name="Shape 3"/>
          <p:cNvSpPr/>
          <p:nvPr/>
        </p:nvSpPr>
        <p:spPr>
          <a:xfrm>
            <a:off x="502920" y="1828800"/>
            <a:ext cx="955548" cy="1234440"/>
          </a:xfrm>
          <a:prstGeom prst="roundRect">
            <a:avLst>
              <a:gd name="adj" fmla="val 6699"/>
            </a:avLst>
          </a:prstGeom>
          <a:solidFill>
            <a:srgbClr val="F3F6F9"/>
          </a:solidFill>
          <a:ln w="12700">
            <a:solidFill>
              <a:srgbClr val="DCE3EC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502920" y="1956816"/>
            <a:ext cx="955548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6272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Day 1</a:t>
            </a:r>
            <a:endParaRPr lang="en-US" sz="1050" dirty="0"/>
          </a:p>
        </p:txBody>
      </p:sp>
      <p:sp>
        <p:nvSpPr>
          <p:cNvPr id="7" name="Text 5"/>
          <p:cNvSpPr/>
          <p:nvPr/>
        </p:nvSpPr>
        <p:spPr>
          <a:xfrm>
            <a:off x="530352" y="2286000"/>
            <a:ext cx="900684" cy="6858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950" dirty="0">
                <a:solidFill>
                  <a:srgbClr val="1120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Introduction</a:t>
            </a:r>
            <a:endParaRPr lang="en-US" sz="950" dirty="0"/>
          </a:p>
        </p:txBody>
      </p:sp>
      <p:sp>
        <p:nvSpPr>
          <p:cNvPr id="8" name="Shape 6"/>
          <p:cNvSpPr/>
          <p:nvPr/>
        </p:nvSpPr>
        <p:spPr>
          <a:xfrm>
            <a:off x="1522476" y="1828800"/>
            <a:ext cx="955548" cy="1234440"/>
          </a:xfrm>
          <a:prstGeom prst="roundRect">
            <a:avLst>
              <a:gd name="adj" fmla="val 6699"/>
            </a:avLst>
          </a:prstGeom>
          <a:solidFill>
            <a:srgbClr val="F3F6F9"/>
          </a:solidFill>
          <a:ln w="12700">
            <a:solidFill>
              <a:srgbClr val="DCE3EC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1522476" y="1956816"/>
            <a:ext cx="955548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6272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Day 2</a:t>
            </a:r>
            <a:endParaRPr lang="en-US" sz="1050" dirty="0"/>
          </a:p>
        </p:txBody>
      </p:sp>
      <p:sp>
        <p:nvSpPr>
          <p:cNvPr id="10" name="Text 8"/>
          <p:cNvSpPr/>
          <p:nvPr/>
        </p:nvSpPr>
        <p:spPr>
          <a:xfrm>
            <a:off x="1549908" y="2286000"/>
            <a:ext cx="900684" cy="6858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950" dirty="0">
                <a:solidFill>
                  <a:srgbClr val="1120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Filtering</a:t>
            </a:r>
            <a:endParaRPr lang="en-US" sz="950" dirty="0"/>
          </a:p>
        </p:txBody>
      </p:sp>
      <p:sp>
        <p:nvSpPr>
          <p:cNvPr id="11" name="Shape 9"/>
          <p:cNvSpPr/>
          <p:nvPr/>
        </p:nvSpPr>
        <p:spPr>
          <a:xfrm>
            <a:off x="2542032" y="1828800"/>
            <a:ext cx="955548" cy="1234440"/>
          </a:xfrm>
          <a:prstGeom prst="roundRect">
            <a:avLst>
              <a:gd name="adj" fmla="val 6699"/>
            </a:avLst>
          </a:prstGeom>
          <a:solidFill>
            <a:srgbClr val="F3F6F9"/>
          </a:solidFill>
          <a:ln w="12700">
            <a:solidFill>
              <a:srgbClr val="DCE3EC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2542032" y="1956816"/>
            <a:ext cx="955548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6272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Day 3</a:t>
            </a:r>
            <a:endParaRPr lang="en-US" sz="1050" dirty="0"/>
          </a:p>
        </p:txBody>
      </p:sp>
      <p:sp>
        <p:nvSpPr>
          <p:cNvPr id="13" name="Text 11"/>
          <p:cNvSpPr/>
          <p:nvPr/>
        </p:nvSpPr>
        <p:spPr>
          <a:xfrm>
            <a:off x="2569464" y="2286000"/>
            <a:ext cx="900684" cy="6858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950" dirty="0">
                <a:solidFill>
                  <a:srgbClr val="1120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Aggregates</a:t>
            </a:r>
            <a:endParaRPr lang="en-US" sz="950" dirty="0"/>
          </a:p>
        </p:txBody>
      </p:sp>
      <p:sp>
        <p:nvSpPr>
          <p:cNvPr id="14" name="Shape 12"/>
          <p:cNvSpPr/>
          <p:nvPr/>
        </p:nvSpPr>
        <p:spPr>
          <a:xfrm>
            <a:off x="3561588" y="1828800"/>
            <a:ext cx="955548" cy="1234440"/>
          </a:xfrm>
          <a:prstGeom prst="roundRect">
            <a:avLst>
              <a:gd name="adj" fmla="val 6699"/>
            </a:avLst>
          </a:prstGeom>
          <a:solidFill>
            <a:srgbClr val="F3F6F9"/>
          </a:solidFill>
          <a:ln w="12700">
            <a:solidFill>
              <a:srgbClr val="DCE3EC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3561588" y="1956816"/>
            <a:ext cx="955548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6272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Day 4</a:t>
            </a:r>
            <a:endParaRPr lang="en-US" sz="1050" dirty="0"/>
          </a:p>
        </p:txBody>
      </p:sp>
      <p:sp>
        <p:nvSpPr>
          <p:cNvPr id="16" name="Text 14"/>
          <p:cNvSpPr/>
          <p:nvPr/>
        </p:nvSpPr>
        <p:spPr>
          <a:xfrm>
            <a:off x="3589020" y="2286000"/>
            <a:ext cx="900684" cy="6858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950" dirty="0">
                <a:solidFill>
                  <a:srgbClr val="1120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GROUP BY</a:t>
            </a:r>
            <a:endParaRPr lang="en-US" sz="950" dirty="0"/>
          </a:p>
        </p:txBody>
      </p:sp>
      <p:sp>
        <p:nvSpPr>
          <p:cNvPr id="17" name="Shape 15"/>
          <p:cNvSpPr/>
          <p:nvPr/>
        </p:nvSpPr>
        <p:spPr>
          <a:xfrm>
            <a:off x="4581144" y="1828800"/>
            <a:ext cx="955548" cy="1234440"/>
          </a:xfrm>
          <a:prstGeom prst="roundRect">
            <a:avLst>
              <a:gd name="adj" fmla="val 6699"/>
            </a:avLst>
          </a:prstGeom>
          <a:solidFill>
            <a:srgbClr val="F3F6F9"/>
          </a:solidFill>
          <a:ln w="12700">
            <a:solidFill>
              <a:srgbClr val="DCE3EC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4581144" y="1956816"/>
            <a:ext cx="955548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6272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Day 5</a:t>
            </a:r>
            <a:endParaRPr lang="en-US" sz="1050" dirty="0"/>
          </a:p>
        </p:txBody>
      </p:sp>
      <p:sp>
        <p:nvSpPr>
          <p:cNvPr id="19" name="Text 17"/>
          <p:cNvSpPr/>
          <p:nvPr/>
        </p:nvSpPr>
        <p:spPr>
          <a:xfrm>
            <a:off x="4608576" y="2286000"/>
            <a:ext cx="900684" cy="6858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950" dirty="0">
                <a:solidFill>
                  <a:srgbClr val="1120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Keys</a:t>
            </a:r>
            <a:endParaRPr lang="en-US" sz="950" dirty="0"/>
          </a:p>
        </p:txBody>
      </p:sp>
      <p:sp>
        <p:nvSpPr>
          <p:cNvPr id="20" name="Shape 18"/>
          <p:cNvSpPr/>
          <p:nvPr/>
        </p:nvSpPr>
        <p:spPr>
          <a:xfrm>
            <a:off x="5600700" y="1828800"/>
            <a:ext cx="955548" cy="1234440"/>
          </a:xfrm>
          <a:prstGeom prst="roundRect">
            <a:avLst>
              <a:gd name="adj" fmla="val 6699"/>
            </a:avLst>
          </a:prstGeom>
          <a:solidFill>
            <a:srgbClr val="F3F6F9"/>
          </a:solidFill>
          <a:ln w="12700">
            <a:solidFill>
              <a:srgbClr val="DCE3EC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5600700" y="1956816"/>
            <a:ext cx="955548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6272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Day 6</a:t>
            </a:r>
            <a:endParaRPr lang="en-US" sz="1050" dirty="0"/>
          </a:p>
        </p:txBody>
      </p:sp>
      <p:sp>
        <p:nvSpPr>
          <p:cNvPr id="22" name="Text 20"/>
          <p:cNvSpPr/>
          <p:nvPr/>
        </p:nvSpPr>
        <p:spPr>
          <a:xfrm>
            <a:off x="5628132" y="2286000"/>
            <a:ext cx="900684" cy="6858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950" dirty="0">
                <a:solidFill>
                  <a:srgbClr val="1120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ER Model</a:t>
            </a:r>
            <a:endParaRPr lang="en-US" sz="950" dirty="0"/>
          </a:p>
        </p:txBody>
      </p:sp>
      <p:sp>
        <p:nvSpPr>
          <p:cNvPr id="23" name="Shape 21"/>
          <p:cNvSpPr/>
          <p:nvPr/>
        </p:nvSpPr>
        <p:spPr>
          <a:xfrm>
            <a:off x="6620256" y="1828800"/>
            <a:ext cx="955548" cy="1234440"/>
          </a:xfrm>
          <a:prstGeom prst="roundRect">
            <a:avLst>
              <a:gd name="adj" fmla="val 6699"/>
            </a:avLst>
          </a:prstGeom>
          <a:solidFill>
            <a:srgbClr val="F3F6F9"/>
          </a:solidFill>
          <a:ln w="12700">
            <a:solidFill>
              <a:srgbClr val="DCE3EC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6620256" y="1956816"/>
            <a:ext cx="955548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6272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Day 7</a:t>
            </a:r>
            <a:endParaRPr lang="en-US" sz="1050" dirty="0"/>
          </a:p>
        </p:txBody>
      </p:sp>
      <p:sp>
        <p:nvSpPr>
          <p:cNvPr id="25" name="Text 23"/>
          <p:cNvSpPr/>
          <p:nvPr/>
        </p:nvSpPr>
        <p:spPr>
          <a:xfrm>
            <a:off x="6647688" y="2286000"/>
            <a:ext cx="900684" cy="6858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950" dirty="0">
                <a:solidFill>
                  <a:srgbClr val="1120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Normalization</a:t>
            </a:r>
            <a:endParaRPr lang="en-US" sz="950" dirty="0"/>
          </a:p>
        </p:txBody>
      </p:sp>
      <p:sp>
        <p:nvSpPr>
          <p:cNvPr id="26" name="Shape 24"/>
          <p:cNvSpPr/>
          <p:nvPr/>
        </p:nvSpPr>
        <p:spPr>
          <a:xfrm>
            <a:off x="7639812" y="1828800"/>
            <a:ext cx="955548" cy="1234440"/>
          </a:xfrm>
          <a:prstGeom prst="roundRect">
            <a:avLst>
              <a:gd name="adj" fmla="val 6699"/>
            </a:avLst>
          </a:prstGeom>
          <a:solidFill>
            <a:srgbClr val="F3F6F9"/>
          </a:solidFill>
          <a:ln w="12700">
            <a:solidFill>
              <a:srgbClr val="DCE3EC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7639812" y="1956816"/>
            <a:ext cx="955548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6272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Day 8</a:t>
            </a:r>
            <a:endParaRPr lang="en-US" sz="1050" dirty="0"/>
          </a:p>
        </p:txBody>
      </p:sp>
      <p:sp>
        <p:nvSpPr>
          <p:cNvPr id="28" name="Text 26"/>
          <p:cNvSpPr/>
          <p:nvPr/>
        </p:nvSpPr>
        <p:spPr>
          <a:xfrm>
            <a:off x="7667244" y="2286000"/>
            <a:ext cx="900684" cy="6858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950" dirty="0">
                <a:solidFill>
                  <a:srgbClr val="1120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JOINs</a:t>
            </a:r>
            <a:endParaRPr lang="en-US" sz="950" dirty="0"/>
          </a:p>
        </p:txBody>
      </p:sp>
      <p:sp>
        <p:nvSpPr>
          <p:cNvPr id="29" name="Shape 27"/>
          <p:cNvSpPr/>
          <p:nvPr/>
        </p:nvSpPr>
        <p:spPr>
          <a:xfrm>
            <a:off x="8659368" y="1828800"/>
            <a:ext cx="955548" cy="1234440"/>
          </a:xfrm>
          <a:prstGeom prst="roundRect">
            <a:avLst>
              <a:gd name="adj" fmla="val 6699"/>
            </a:avLst>
          </a:prstGeom>
          <a:solidFill>
            <a:srgbClr val="F3F6F9"/>
          </a:solidFill>
          <a:ln w="12700">
            <a:solidFill>
              <a:srgbClr val="DCE3EC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8659368" y="1956816"/>
            <a:ext cx="955548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6272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Day 9</a:t>
            </a:r>
            <a:endParaRPr lang="en-US" sz="1050" dirty="0"/>
          </a:p>
        </p:txBody>
      </p:sp>
      <p:sp>
        <p:nvSpPr>
          <p:cNvPr id="31" name="Text 29"/>
          <p:cNvSpPr/>
          <p:nvPr/>
        </p:nvSpPr>
        <p:spPr>
          <a:xfrm>
            <a:off x="8686800" y="2286000"/>
            <a:ext cx="900684" cy="6858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950" dirty="0">
                <a:solidFill>
                  <a:srgbClr val="1120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Subqueries</a:t>
            </a:r>
            <a:endParaRPr lang="en-US" sz="950" dirty="0"/>
          </a:p>
        </p:txBody>
      </p:sp>
      <p:sp>
        <p:nvSpPr>
          <p:cNvPr id="32" name="Shape 30"/>
          <p:cNvSpPr/>
          <p:nvPr/>
        </p:nvSpPr>
        <p:spPr>
          <a:xfrm>
            <a:off x="9678924" y="1828800"/>
            <a:ext cx="955548" cy="1234440"/>
          </a:xfrm>
          <a:prstGeom prst="roundRect">
            <a:avLst>
              <a:gd name="adj" fmla="val 6699"/>
            </a:avLst>
          </a:prstGeom>
          <a:solidFill>
            <a:srgbClr val="0B2545"/>
          </a:solidFill>
          <a:ln/>
        </p:spPr>
      </p:sp>
      <p:sp>
        <p:nvSpPr>
          <p:cNvPr id="33" name="Text 31"/>
          <p:cNvSpPr/>
          <p:nvPr/>
        </p:nvSpPr>
        <p:spPr>
          <a:xfrm>
            <a:off x="9678924" y="1956816"/>
            <a:ext cx="955548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14B8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Day 10</a:t>
            </a:r>
            <a:endParaRPr lang="en-US" sz="1050" dirty="0"/>
          </a:p>
        </p:txBody>
      </p:sp>
      <p:sp>
        <p:nvSpPr>
          <p:cNvPr id="34" name="Text 32"/>
          <p:cNvSpPr/>
          <p:nvPr/>
        </p:nvSpPr>
        <p:spPr>
          <a:xfrm>
            <a:off x="9706356" y="2286000"/>
            <a:ext cx="900684" cy="6858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Functions</a:t>
            </a:r>
            <a:endParaRPr lang="en-US" sz="950" dirty="0"/>
          </a:p>
        </p:txBody>
      </p:sp>
      <p:sp>
        <p:nvSpPr>
          <p:cNvPr id="35" name="Text 33"/>
          <p:cNvSpPr/>
          <p:nvPr/>
        </p:nvSpPr>
        <p:spPr>
          <a:xfrm>
            <a:off x="9470898" y="1536192"/>
            <a:ext cx="137160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spc="100" kern="0" dirty="0">
                <a:solidFill>
                  <a:srgbClr val="0C7C7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YOU ARE HERE</a:t>
            </a:r>
            <a:endParaRPr lang="en-US" sz="900" dirty="0"/>
          </a:p>
        </p:txBody>
      </p:sp>
      <p:sp>
        <p:nvSpPr>
          <p:cNvPr id="36" name="Shape 34"/>
          <p:cNvSpPr/>
          <p:nvPr/>
        </p:nvSpPr>
        <p:spPr>
          <a:xfrm>
            <a:off x="10698480" y="1828800"/>
            <a:ext cx="955548" cy="1234440"/>
          </a:xfrm>
          <a:prstGeom prst="roundRect">
            <a:avLst>
              <a:gd name="adj" fmla="val 6699"/>
            </a:avLst>
          </a:prstGeom>
          <a:solidFill>
            <a:srgbClr val="E9F8F5"/>
          </a:solidFill>
          <a:ln w="12700">
            <a:solidFill>
              <a:srgbClr val="DCE3EC"/>
            </a:solidFill>
            <a:prstDash val="solid"/>
          </a:ln>
        </p:spPr>
      </p:sp>
      <p:sp>
        <p:nvSpPr>
          <p:cNvPr id="37" name="Text 35"/>
          <p:cNvSpPr/>
          <p:nvPr/>
        </p:nvSpPr>
        <p:spPr>
          <a:xfrm>
            <a:off x="10698480" y="1956816"/>
            <a:ext cx="955548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0C7C7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Day 11</a:t>
            </a:r>
            <a:endParaRPr lang="en-US" sz="1050" dirty="0"/>
          </a:p>
        </p:txBody>
      </p:sp>
      <p:sp>
        <p:nvSpPr>
          <p:cNvPr id="38" name="Text 36"/>
          <p:cNvSpPr/>
          <p:nvPr/>
        </p:nvSpPr>
        <p:spPr>
          <a:xfrm>
            <a:off x="10725912" y="2286000"/>
            <a:ext cx="900684" cy="6858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950" dirty="0">
                <a:solidFill>
                  <a:srgbClr val="1120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Views</a:t>
            </a:r>
            <a:endParaRPr lang="en-US" sz="950" dirty="0"/>
          </a:p>
        </p:txBody>
      </p:sp>
      <p:sp>
        <p:nvSpPr>
          <p:cNvPr id="39" name="Shape 37"/>
          <p:cNvSpPr/>
          <p:nvPr/>
        </p:nvSpPr>
        <p:spPr>
          <a:xfrm>
            <a:off x="502920" y="3429000"/>
            <a:ext cx="11155680" cy="2423160"/>
          </a:xfrm>
          <a:prstGeom prst="roundRect">
            <a:avLst>
              <a:gd name="adj" fmla="val 2642"/>
            </a:avLst>
          </a:prstGeom>
          <a:solidFill>
            <a:srgbClr val="0B2545"/>
          </a:solidFill>
          <a:ln/>
        </p:spPr>
      </p:sp>
      <p:sp>
        <p:nvSpPr>
          <p:cNvPr id="40" name="Text 38"/>
          <p:cNvSpPr/>
          <p:nvPr/>
        </p:nvSpPr>
        <p:spPr>
          <a:xfrm>
            <a:off x="731520" y="3547872"/>
            <a:ext cx="1069848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spc="150" kern="0" dirty="0">
                <a:solidFill>
                  <a:srgbClr val="14B8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DAY 10 ACTUALLY TEACHES</a:t>
            </a:r>
            <a:endParaRPr lang="en-US" sz="1100" dirty="0"/>
          </a:p>
        </p:txBody>
      </p:sp>
      <p:sp>
        <p:nvSpPr>
          <p:cNvPr id="41" name="Text 39"/>
          <p:cNvSpPr/>
          <p:nvPr/>
        </p:nvSpPr>
        <p:spPr>
          <a:xfrm>
            <a:off x="731520" y="3813048"/>
            <a:ext cx="10698480" cy="19202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12000"/>
              </a:lnSpc>
              <a:buNone/>
            </a:pPr>
            <a:r>
              <a:rPr lang="en-US" sz="12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 earlier module combined and filtered whole ROWS across tables: JOIN reconnected them, Subquery filtered using another query's result. Day 10 works INSIDE a single row — taking one messy stored value (a name with stray spaces, a raw decimal salary, a stored DATE) and TRANSFORMING it into something clean, formatted, calculated, and business-ready. String functions clean and reshape text. Numeric functions calculate and round numbers. Date/Time functions extract, calculate and format dates. Day 11 (Views) will then let you save queries like these — including everything learned today — under a reusable name.</a:t>
            </a:r>
            <a:endParaRPr lang="en-US" sz="1250" dirty="0"/>
          </a:p>
        </p:txBody>
      </p:sp>
      <p:sp>
        <p:nvSpPr>
          <p:cNvPr id="42" name="Text 40"/>
          <p:cNvSpPr/>
          <p:nvPr/>
        </p:nvSpPr>
        <p:spPr>
          <a:xfrm>
            <a:off x="365760" y="6519672"/>
            <a:ext cx="6400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000" i="1" dirty="0">
                <a:solidFill>
                  <a:srgbClr val="6272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Shalinee Priya   |   Data Analyst  ·  SQL Trainer</a:t>
            </a:r>
            <a:endParaRPr lang="en-US" sz="1000" dirty="0"/>
          </a:p>
        </p:txBody>
      </p:sp>
      <p:sp>
        <p:nvSpPr>
          <p:cNvPr id="43" name="Shape 41"/>
          <p:cNvSpPr/>
          <p:nvPr/>
        </p:nvSpPr>
        <p:spPr>
          <a:xfrm>
            <a:off x="11109960" y="6473952"/>
            <a:ext cx="713232" cy="292608"/>
          </a:xfrm>
          <a:prstGeom prst="roundRect">
            <a:avLst>
              <a:gd name="adj" fmla="val 18750"/>
            </a:avLst>
          </a:prstGeom>
          <a:solidFill>
            <a:srgbClr val="0B2545"/>
          </a:solidFill>
          <a:ln/>
        </p:spPr>
      </p:sp>
      <p:sp>
        <p:nvSpPr>
          <p:cNvPr id="44" name="Text 42"/>
          <p:cNvSpPr/>
          <p:nvPr/>
        </p:nvSpPr>
        <p:spPr>
          <a:xfrm>
            <a:off x="11109960" y="6473952"/>
            <a:ext cx="713232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2/26</a:t>
            </a:r>
            <a:endParaRPr lang="en-US" sz="11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320040"/>
            <a:ext cx="9144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0C7C7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SESSION ROADMAP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02920" y="566928"/>
            <a:ext cx="1078992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0B2545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Learning Objectives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502920" y="1783080"/>
            <a:ext cx="11155680" cy="4160520"/>
          </a:xfrm>
          <a:prstGeom prst="roundRect">
            <a:avLst>
              <a:gd name="adj" fmla="val 1538"/>
            </a:avLst>
          </a:prstGeom>
          <a:solidFill>
            <a:srgbClr val="F3F6F9"/>
          </a:solidFill>
          <a:ln w="12700">
            <a:solidFill>
              <a:srgbClr val="DCE3EC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868680" y="2011680"/>
            <a:ext cx="10424160" cy="37490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228600" indent="-228600">
              <a:lnSpc>
                <a:spcPct val="120000"/>
              </a:lnSpc>
              <a:buSzPct val="100000"/>
              <a:buChar char="•"/>
            </a:pPr>
            <a:r>
              <a:rPr lang="en-US" sz="1500" dirty="0">
                <a:solidFill>
                  <a:srgbClr val="1120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Explain what a SQL function is, and the difference between Scalar and Aggregate functions.</a:t>
            </a:r>
            <a:endParaRPr lang="en-US" sz="1500" dirty="0"/>
          </a:p>
          <a:p>
            <a:pPr marL="228600" indent="-228600">
              <a:lnSpc>
                <a:spcPct val="120000"/>
              </a:lnSpc>
              <a:buSzPct val="100000"/>
              <a:buChar char="•"/>
            </a:pPr>
            <a:r>
              <a:rPr lang="en-US" sz="1500" dirty="0">
                <a:solidFill>
                  <a:srgbClr val="1120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Clean, transform and extract text using MySQL's core String Functions.</a:t>
            </a:r>
            <a:endParaRPr lang="en-US" sz="1500" dirty="0"/>
          </a:p>
          <a:p>
            <a:pPr marL="228600" indent="-228600">
              <a:lnSpc>
                <a:spcPct val="120000"/>
              </a:lnSpc>
              <a:buSzPct val="100000"/>
              <a:buChar char="•"/>
            </a:pPr>
            <a:r>
              <a:rPr lang="en-US" sz="1500" dirty="0">
                <a:solidFill>
                  <a:srgbClr val="1120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Calculate and format numbers correctly using MySQL's core Numeric Functions — including the ROUND vs TRUNCATE distinction.</a:t>
            </a:r>
            <a:endParaRPr lang="en-US" sz="1500" dirty="0"/>
          </a:p>
          <a:p>
            <a:pPr marL="228600" indent="-228600">
              <a:lnSpc>
                <a:spcPct val="120000"/>
              </a:lnSpc>
              <a:buSzPct val="100000"/>
              <a:buChar char="•"/>
            </a:pPr>
            <a:r>
              <a:rPr lang="en-US" sz="1500" dirty="0">
                <a:solidFill>
                  <a:srgbClr val="1120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Extract, calculate, difference and format dates and times using MySQL's Date/Time Functions.</a:t>
            </a:r>
            <a:endParaRPr lang="en-US" sz="1500" dirty="0"/>
          </a:p>
          <a:p>
            <a:pPr marL="228600" indent="-228600">
              <a:lnSpc>
                <a:spcPct val="120000"/>
              </a:lnSpc>
              <a:buSzPct val="100000"/>
              <a:buChar char="•"/>
            </a:pPr>
            <a:r>
              <a:rPr lang="en-US" sz="1500" dirty="0">
                <a:solidFill>
                  <a:srgbClr val="1120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Correctly handle NULL values using IS NULL, IFNULL(), COALESCE() and NULLIF().</a:t>
            </a:r>
            <a:endParaRPr lang="en-US" sz="1500" dirty="0"/>
          </a:p>
          <a:p>
            <a:pPr marL="228600" indent="-228600">
              <a:lnSpc>
                <a:spcPct val="120000"/>
              </a:lnSpc>
              <a:buSzPct val="100000"/>
              <a:buChar char="•"/>
            </a:pPr>
            <a:r>
              <a:rPr lang="en-US" sz="1500" dirty="0">
                <a:solidFill>
                  <a:srgbClr val="1120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Combine functions with CASE, WHERE, GROUP BY, HAVING, ORDER BY, JOIN and Subquery — exactly as they appear in real interview and business SQL.</a:t>
            </a:r>
            <a:endParaRPr lang="en-US" sz="1500" dirty="0"/>
          </a:p>
          <a:p>
            <a:pPr marL="228600" indent="-228600">
              <a:lnSpc>
                <a:spcPct val="120000"/>
              </a:lnSpc>
              <a:buSzPct val="100000"/>
              <a:buChar char="•"/>
            </a:pPr>
            <a:r>
              <a:rPr lang="en-US" sz="1500" dirty="0">
                <a:solidFill>
                  <a:srgbClr val="1120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Recognize and avoid the most common function-related mistakes MySQL beginners make.</a:t>
            </a:r>
            <a:endParaRPr lang="en-US" sz="1500" dirty="0"/>
          </a:p>
        </p:txBody>
      </p:sp>
      <p:sp>
        <p:nvSpPr>
          <p:cNvPr id="6" name="Text 4"/>
          <p:cNvSpPr/>
          <p:nvPr/>
        </p:nvSpPr>
        <p:spPr>
          <a:xfrm>
            <a:off x="365760" y="6519672"/>
            <a:ext cx="6400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000" i="1" dirty="0">
                <a:solidFill>
                  <a:srgbClr val="6272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Shalinee Priya   |   Data Analyst  ·  SQL Trainer</a:t>
            </a:r>
            <a:endParaRPr lang="en-US" sz="1000" dirty="0"/>
          </a:p>
        </p:txBody>
      </p:sp>
      <p:sp>
        <p:nvSpPr>
          <p:cNvPr id="7" name="Shape 5"/>
          <p:cNvSpPr/>
          <p:nvPr/>
        </p:nvSpPr>
        <p:spPr>
          <a:xfrm>
            <a:off x="11109960" y="6473952"/>
            <a:ext cx="713232" cy="292608"/>
          </a:xfrm>
          <a:prstGeom prst="roundRect">
            <a:avLst>
              <a:gd name="adj" fmla="val 18750"/>
            </a:avLst>
          </a:prstGeom>
          <a:solidFill>
            <a:srgbClr val="0B2545"/>
          </a:solidFill>
          <a:ln/>
        </p:spPr>
      </p:sp>
      <p:sp>
        <p:nvSpPr>
          <p:cNvPr id="8" name="Text 6"/>
          <p:cNvSpPr/>
          <p:nvPr/>
        </p:nvSpPr>
        <p:spPr>
          <a:xfrm>
            <a:off x="11109960" y="6473952"/>
            <a:ext cx="713232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3/26</a:t>
            </a:r>
            <a:endParaRPr lang="en-US" sz="11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320040"/>
            <a:ext cx="9144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0C7C7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CORE CONCEPT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02920" y="566928"/>
            <a:ext cx="1078992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0B2545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What Are SQL Functions?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502920" y="1783080"/>
            <a:ext cx="6492240" cy="4160520"/>
          </a:xfrm>
          <a:prstGeom prst="roundRect">
            <a:avLst>
              <a:gd name="adj" fmla="val 1538"/>
            </a:avLst>
          </a:prstGeom>
          <a:solidFill>
            <a:srgbClr val="F3F6F9"/>
          </a:solidFill>
          <a:ln w="12700">
            <a:solidFill>
              <a:srgbClr val="DCE3EC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777240" y="1965960"/>
            <a:ext cx="548640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b="1" spc="150" kern="0" dirty="0">
                <a:solidFill>
                  <a:srgbClr val="0C7C7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DEFINITION</a:t>
            </a:r>
            <a:endParaRPr lang="en-US" sz="1050" dirty="0"/>
          </a:p>
        </p:txBody>
      </p:sp>
      <p:sp>
        <p:nvSpPr>
          <p:cNvPr id="6" name="Text 4"/>
          <p:cNvSpPr/>
          <p:nvPr/>
        </p:nvSpPr>
        <p:spPr>
          <a:xfrm>
            <a:off x="777240" y="2267712"/>
            <a:ext cx="59436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350" dirty="0">
                <a:solidFill>
                  <a:srgbClr val="1120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SQL function is a built-in operation the database performs on data, returning a computed result. You already met one family in Day 3.</a:t>
            </a:r>
            <a:endParaRPr lang="en-US" sz="1350" dirty="0"/>
          </a:p>
        </p:txBody>
      </p:sp>
      <p:sp>
        <p:nvSpPr>
          <p:cNvPr id="7" name="Text 5"/>
          <p:cNvSpPr/>
          <p:nvPr/>
        </p:nvSpPr>
        <p:spPr>
          <a:xfrm>
            <a:off x="777240" y="3200400"/>
            <a:ext cx="548640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b="1" spc="150" kern="0" dirty="0">
                <a:solidFill>
                  <a:srgbClr val="0C7C7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FOUR BUILT-IN CATEGORIES</a:t>
            </a:r>
            <a:endParaRPr lang="en-US" sz="1050" dirty="0"/>
          </a:p>
        </p:txBody>
      </p:sp>
      <p:sp>
        <p:nvSpPr>
          <p:cNvPr id="8" name="Text 6"/>
          <p:cNvSpPr/>
          <p:nvPr/>
        </p:nvSpPr>
        <p:spPr>
          <a:xfrm>
            <a:off x="777240" y="3474720"/>
            <a:ext cx="5943600" cy="22860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228600" indent="-228600">
              <a:lnSpc>
                <a:spcPct val="120000"/>
              </a:lnSpc>
              <a:buSzPct val="100000"/>
              <a:buChar char="•"/>
            </a:pPr>
            <a:r>
              <a:rPr lang="en-US" sz="1350" dirty="0">
                <a:solidFill>
                  <a:srgbClr val="1120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String Functions — operate on text</a:t>
            </a:r>
            <a:endParaRPr lang="en-US" sz="1350" dirty="0"/>
          </a:p>
          <a:p>
            <a:pPr marL="228600" indent="-228600">
              <a:lnSpc>
                <a:spcPct val="120000"/>
              </a:lnSpc>
              <a:buSzPct val="100000"/>
              <a:buChar char="•"/>
            </a:pPr>
            <a:r>
              <a:rPr lang="en-US" sz="1350" dirty="0">
                <a:solidFill>
                  <a:srgbClr val="1120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Numeric Functions — operate on numbers</a:t>
            </a:r>
            <a:endParaRPr lang="en-US" sz="1350" dirty="0"/>
          </a:p>
          <a:p>
            <a:pPr marL="228600" indent="-228600">
              <a:lnSpc>
                <a:spcPct val="120000"/>
              </a:lnSpc>
              <a:buSzPct val="100000"/>
              <a:buChar char="•"/>
            </a:pPr>
            <a:r>
              <a:rPr lang="en-US" sz="1350" dirty="0">
                <a:solidFill>
                  <a:srgbClr val="1120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Date &amp; Time Functions — operate on DATE/DATETIME/TIME</a:t>
            </a:r>
            <a:endParaRPr lang="en-US" sz="1350" dirty="0"/>
          </a:p>
          <a:p>
            <a:pPr marL="228600" indent="-228600">
              <a:lnSpc>
                <a:spcPct val="120000"/>
              </a:lnSpc>
              <a:buSzPct val="100000"/>
              <a:buChar char="•"/>
            </a:pPr>
            <a:r>
              <a:rPr lang="en-US" sz="1350" dirty="0">
                <a:solidFill>
                  <a:srgbClr val="1120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Aggregate Functions — already covered in Day 3</a:t>
            </a:r>
            <a:endParaRPr lang="en-US" sz="1350" dirty="0"/>
          </a:p>
        </p:txBody>
      </p:sp>
      <p:sp>
        <p:nvSpPr>
          <p:cNvPr id="9" name="Shape 7"/>
          <p:cNvSpPr/>
          <p:nvPr/>
        </p:nvSpPr>
        <p:spPr>
          <a:xfrm>
            <a:off x="7178040" y="1783080"/>
            <a:ext cx="4480560" cy="4160520"/>
          </a:xfrm>
          <a:prstGeom prst="roundRect">
            <a:avLst>
              <a:gd name="adj" fmla="val 1538"/>
            </a:avLst>
          </a:prstGeom>
          <a:solidFill>
            <a:srgbClr val="0B2545"/>
          </a:solidFill>
          <a:ln w="12700">
            <a:solidFill>
              <a:srgbClr val="DCE3EC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7452360" y="1965960"/>
            <a:ext cx="393192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b="1" spc="150" kern="0" dirty="0">
                <a:solidFill>
                  <a:srgbClr val="14B8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WHY FUNCTIONS MATTER</a:t>
            </a:r>
            <a:endParaRPr lang="en-US" sz="1050" dirty="0"/>
          </a:p>
        </p:txBody>
      </p:sp>
      <p:sp>
        <p:nvSpPr>
          <p:cNvPr id="11" name="Text 9"/>
          <p:cNvSpPr/>
          <p:nvPr/>
        </p:nvSpPr>
        <p:spPr>
          <a:xfrm>
            <a:off x="7452360" y="2286000"/>
            <a:ext cx="39319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C7D0D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Raw stored data is rarely report-ready:</a:t>
            </a:r>
            <a:endParaRPr lang="en-US" sz="1250" dirty="0"/>
          </a:p>
        </p:txBody>
      </p:sp>
      <p:sp>
        <p:nvSpPr>
          <p:cNvPr id="12" name="Text 10"/>
          <p:cNvSpPr/>
          <p:nvPr/>
        </p:nvSpPr>
        <p:spPr>
          <a:xfrm>
            <a:off x="7452360" y="2651760"/>
            <a:ext cx="3931920" cy="31089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228600" indent="-228600">
              <a:lnSpc>
                <a:spcPct val="120000"/>
              </a:lnSpc>
              <a:buSzPct val="100000"/>
              <a:buChar char="•"/>
            </a:pPr>
            <a:r>
              <a:rPr lang="en-US" sz="12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name may carry stray leading/trailing spaces</a:t>
            </a:r>
            <a:endParaRPr lang="en-US" sz="1250" dirty="0"/>
          </a:p>
          <a:p>
            <a:pPr marL="228600" indent="-228600">
              <a:lnSpc>
                <a:spcPct val="120000"/>
              </a:lnSpc>
              <a:buSzPct val="100000"/>
              <a:buChar char="•"/>
            </a:pPr>
            <a:r>
              <a:rPr lang="en-US" sz="12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salary may need rounding for finance</a:t>
            </a:r>
            <a:endParaRPr lang="en-US" sz="1250" dirty="0"/>
          </a:p>
          <a:p>
            <a:pPr marL="228600" indent="-228600">
              <a:lnSpc>
                <a:spcPct val="120000"/>
              </a:lnSpc>
              <a:buSzPct val="100000"/>
              <a:buChar char="•"/>
            </a:pPr>
            <a:r>
              <a:rPr lang="en-US" sz="12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raw DATE may need to become “15 March 2019” for a dashboard</a:t>
            </a:r>
            <a:endParaRPr lang="en-US" sz="1250" dirty="0"/>
          </a:p>
        </p:txBody>
      </p:sp>
      <p:sp>
        <p:nvSpPr>
          <p:cNvPr id="13" name="Text 11"/>
          <p:cNvSpPr/>
          <p:nvPr/>
        </p:nvSpPr>
        <p:spPr>
          <a:xfrm>
            <a:off x="7452360" y="4114800"/>
            <a:ext cx="3931920" cy="16916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20000"/>
              </a:lnSpc>
              <a:buNone/>
            </a:pPr>
            <a:r>
              <a:rPr lang="en-US" sz="1250" i="1" dirty="0">
                <a:solidFill>
                  <a:srgbClr val="14B8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Functions transform data INSIDE the query — the destination always receives clean, ready-to-use values.</a:t>
            </a:r>
            <a:endParaRPr lang="en-US" sz="1250" dirty="0"/>
          </a:p>
        </p:txBody>
      </p:sp>
      <p:sp>
        <p:nvSpPr>
          <p:cNvPr id="14" name="Text 12"/>
          <p:cNvSpPr/>
          <p:nvPr/>
        </p:nvSpPr>
        <p:spPr>
          <a:xfrm>
            <a:off x="365760" y="6519672"/>
            <a:ext cx="6400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000" i="1" dirty="0">
                <a:solidFill>
                  <a:srgbClr val="6272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Shalinee Priya   |   Data Analyst  ·  SQL Trainer</a:t>
            </a:r>
            <a:endParaRPr lang="en-US" sz="1000" dirty="0"/>
          </a:p>
        </p:txBody>
      </p:sp>
      <p:sp>
        <p:nvSpPr>
          <p:cNvPr id="15" name="Shape 13"/>
          <p:cNvSpPr/>
          <p:nvPr/>
        </p:nvSpPr>
        <p:spPr>
          <a:xfrm>
            <a:off x="11109960" y="6473952"/>
            <a:ext cx="713232" cy="292608"/>
          </a:xfrm>
          <a:prstGeom prst="roundRect">
            <a:avLst>
              <a:gd name="adj" fmla="val 18750"/>
            </a:avLst>
          </a:prstGeom>
          <a:solidFill>
            <a:srgbClr val="0B2545"/>
          </a:solidFill>
          <a:ln/>
        </p:spPr>
      </p:sp>
      <p:sp>
        <p:nvSpPr>
          <p:cNvPr id="16" name="Text 14"/>
          <p:cNvSpPr/>
          <p:nvPr/>
        </p:nvSpPr>
        <p:spPr>
          <a:xfrm>
            <a:off x="11109960" y="6473952"/>
            <a:ext cx="713232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4/26</a:t>
            </a:r>
            <a:endParaRPr lang="en-US" sz="11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320040"/>
            <a:ext cx="9144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0C7C7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FOUNDATIONAL DISTINCTION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02920" y="566928"/>
            <a:ext cx="1078992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0B2545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Scalar Functions vs Aggregate Functions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4846320" y="1783080"/>
            <a:ext cx="2377440" cy="502920"/>
          </a:xfrm>
          <a:prstGeom prst="roundRect">
            <a:avLst>
              <a:gd name="adj" fmla="val 12727"/>
            </a:avLst>
          </a:prstGeom>
          <a:solidFill>
            <a:srgbClr val="0B2545"/>
          </a:solidFill>
          <a:ln w="12700">
            <a:solidFill>
              <a:srgbClr val="DCE3EC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4846320" y="1783080"/>
            <a:ext cx="23774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SQL FUNCTIONS</a:t>
            </a:r>
            <a:endParaRPr lang="en-US" sz="1500" dirty="0"/>
          </a:p>
        </p:txBody>
      </p:sp>
      <p:sp>
        <p:nvSpPr>
          <p:cNvPr id="6" name="Shape 4"/>
          <p:cNvSpPr/>
          <p:nvPr/>
        </p:nvSpPr>
        <p:spPr>
          <a:xfrm>
            <a:off x="6035040" y="2286000"/>
            <a:ext cx="0" cy="320040"/>
          </a:xfrm>
          <a:prstGeom prst="line">
            <a:avLst/>
          </a:prstGeom>
          <a:noFill/>
          <a:ln w="19050">
            <a:solidFill>
              <a:srgbClr val="62728A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3246120" y="2606040"/>
            <a:ext cx="5577840" cy="0"/>
          </a:xfrm>
          <a:prstGeom prst="line">
            <a:avLst/>
          </a:prstGeom>
          <a:noFill/>
          <a:ln w="19050">
            <a:solidFill>
              <a:srgbClr val="62728A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3246120" y="2606040"/>
            <a:ext cx="0" cy="274320"/>
          </a:xfrm>
          <a:prstGeom prst="line">
            <a:avLst/>
          </a:prstGeom>
          <a:noFill/>
          <a:ln w="19050">
            <a:solidFill>
              <a:srgbClr val="62728A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8823960" y="2606040"/>
            <a:ext cx="0" cy="274320"/>
          </a:xfrm>
          <a:prstGeom prst="line">
            <a:avLst/>
          </a:prstGeom>
          <a:noFill/>
          <a:ln w="19050">
            <a:solidFill>
              <a:srgbClr val="62728A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2148840" y="2880360"/>
            <a:ext cx="2194560" cy="502920"/>
          </a:xfrm>
          <a:prstGeom prst="roundRect">
            <a:avLst>
              <a:gd name="adj" fmla="val 12727"/>
            </a:avLst>
          </a:prstGeom>
          <a:solidFill>
            <a:srgbClr val="14B8A6"/>
          </a:solidFill>
          <a:ln w="12700">
            <a:solidFill>
              <a:srgbClr val="DCE3EC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2148840" y="2880360"/>
            <a:ext cx="219456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0B2545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SCALAR</a:t>
            </a:r>
            <a:endParaRPr lang="en-US" sz="1500" dirty="0"/>
          </a:p>
        </p:txBody>
      </p:sp>
      <p:sp>
        <p:nvSpPr>
          <p:cNvPr id="12" name="Shape 10"/>
          <p:cNvSpPr/>
          <p:nvPr/>
        </p:nvSpPr>
        <p:spPr>
          <a:xfrm>
            <a:off x="7726680" y="2880360"/>
            <a:ext cx="2194560" cy="502920"/>
          </a:xfrm>
          <a:prstGeom prst="roundRect">
            <a:avLst>
              <a:gd name="adj" fmla="val 12727"/>
            </a:avLst>
          </a:prstGeom>
          <a:solidFill>
            <a:srgbClr val="1B3F73"/>
          </a:solidFill>
          <a:ln w="12700">
            <a:solidFill>
              <a:srgbClr val="DCE3EC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7726680" y="2880360"/>
            <a:ext cx="219456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AGGREGATE</a:t>
            </a:r>
            <a:endParaRPr lang="en-US" sz="1500" dirty="0"/>
          </a:p>
        </p:txBody>
      </p:sp>
      <p:sp>
        <p:nvSpPr>
          <p:cNvPr id="14" name="Shape 12"/>
          <p:cNvSpPr/>
          <p:nvPr/>
        </p:nvSpPr>
        <p:spPr>
          <a:xfrm>
            <a:off x="1691640" y="3611880"/>
            <a:ext cx="3108960" cy="1417320"/>
          </a:xfrm>
          <a:prstGeom prst="roundRect">
            <a:avLst>
              <a:gd name="adj" fmla="val 4516"/>
            </a:avLst>
          </a:prstGeom>
          <a:solidFill>
            <a:srgbClr val="E9F8F5"/>
          </a:solidFill>
          <a:ln w="12700">
            <a:solidFill>
              <a:srgbClr val="DCE3EC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1874520" y="3749040"/>
            <a:ext cx="27432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0C7C7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One input value PER ROW</a:t>
            </a:r>
            <a:endParaRPr lang="en-US" sz="1250" dirty="0"/>
          </a:p>
          <a:p>
            <a:pPr algn="ctr" indent="0" marL="0">
              <a:buNone/>
            </a:pPr>
            <a:r>
              <a:rPr lang="en-US" sz="1250" b="1" dirty="0">
                <a:solidFill>
                  <a:srgbClr val="0C7C7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one result PER ROW</a:t>
            </a:r>
            <a:endParaRPr lang="en-US" sz="1250" dirty="0"/>
          </a:p>
        </p:txBody>
      </p:sp>
      <p:sp>
        <p:nvSpPr>
          <p:cNvPr id="16" name="Text 14"/>
          <p:cNvSpPr/>
          <p:nvPr/>
        </p:nvSpPr>
        <p:spPr>
          <a:xfrm>
            <a:off x="1874520" y="4389120"/>
            <a:ext cx="2743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50" i="1" dirty="0">
                <a:solidFill>
                  <a:srgbClr val="6272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String · Numeric · Date-Time</a:t>
            </a:r>
            <a:endParaRPr lang="en-US" sz="1150" dirty="0"/>
          </a:p>
        </p:txBody>
      </p:sp>
      <p:sp>
        <p:nvSpPr>
          <p:cNvPr id="17" name="Shape 15"/>
          <p:cNvSpPr/>
          <p:nvPr/>
        </p:nvSpPr>
        <p:spPr>
          <a:xfrm>
            <a:off x="7269480" y="3611880"/>
            <a:ext cx="3108960" cy="1417320"/>
          </a:xfrm>
          <a:prstGeom prst="roundRect">
            <a:avLst>
              <a:gd name="adj" fmla="val 4516"/>
            </a:avLst>
          </a:prstGeom>
          <a:solidFill>
            <a:srgbClr val="E7EDF6"/>
          </a:solidFill>
          <a:ln w="12700">
            <a:solidFill>
              <a:srgbClr val="DCE3EC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7452360" y="3749040"/>
            <a:ext cx="27432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0B25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MANY rows in</a:t>
            </a:r>
            <a:endParaRPr lang="en-US" sz="1250" dirty="0"/>
          </a:p>
          <a:p>
            <a:pPr algn="ctr" indent="0" marL="0">
              <a:buNone/>
            </a:pPr>
            <a:r>
              <a:rPr lang="en-US" sz="1250" b="1" dirty="0">
                <a:solidFill>
                  <a:srgbClr val="0B25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ONE result out</a:t>
            </a:r>
            <a:endParaRPr lang="en-US" sz="1250" dirty="0"/>
          </a:p>
        </p:txBody>
      </p:sp>
      <p:sp>
        <p:nvSpPr>
          <p:cNvPr id="19" name="Text 17"/>
          <p:cNvSpPr/>
          <p:nvPr/>
        </p:nvSpPr>
        <p:spPr>
          <a:xfrm>
            <a:off x="7452360" y="4389120"/>
            <a:ext cx="2743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50" i="1" dirty="0">
                <a:solidFill>
                  <a:srgbClr val="6272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SUM · AVG · COUNT · MIN · MAX</a:t>
            </a:r>
            <a:endParaRPr lang="en-US" sz="1150" dirty="0"/>
          </a:p>
        </p:txBody>
      </p:sp>
      <p:sp>
        <p:nvSpPr>
          <p:cNvPr id="20" name="Shape 18"/>
          <p:cNvSpPr/>
          <p:nvPr/>
        </p:nvSpPr>
        <p:spPr>
          <a:xfrm>
            <a:off x="502920" y="5257800"/>
            <a:ext cx="11155680" cy="1005840"/>
          </a:xfrm>
          <a:prstGeom prst="roundRect">
            <a:avLst>
              <a:gd name="adj" fmla="val 6364"/>
            </a:avLst>
          </a:prstGeom>
          <a:solidFill>
            <a:srgbClr val="0B2545"/>
          </a:solidFill>
          <a:ln/>
        </p:spPr>
      </p:sp>
      <p:sp>
        <p:nvSpPr>
          <p:cNvPr id="21" name="Text 19"/>
          <p:cNvSpPr/>
          <p:nvPr/>
        </p:nvSpPr>
        <p:spPr>
          <a:xfrm>
            <a:off x="731520" y="5376672"/>
            <a:ext cx="1069848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spc="150" kern="0" dirty="0">
                <a:solidFill>
                  <a:srgbClr val="14B8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WHY THIS MATTERS</a:t>
            </a:r>
            <a:endParaRPr lang="en-US" sz="1100" dirty="0"/>
          </a:p>
        </p:txBody>
      </p:sp>
      <p:sp>
        <p:nvSpPr>
          <p:cNvPr id="22" name="Text 20"/>
          <p:cNvSpPr/>
          <p:nvPr/>
        </p:nvSpPr>
        <p:spPr>
          <a:xfrm>
            <a:off x="731520" y="5641848"/>
            <a:ext cx="10698480" cy="5029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12000"/>
              </a:lnSpc>
              <a:buNone/>
            </a:pPr>
            <a:r>
              <a:rPr lang="en-US" sz="12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14 employees + UPPER(first_name) = 14 results (scalar). 14 employees + COUNT(*) = 1 result (aggregate). This is exactly why GROUP BY and scalar functions combine so well later in this module.</a:t>
            </a:r>
            <a:endParaRPr lang="en-US" sz="1250" dirty="0"/>
          </a:p>
        </p:txBody>
      </p:sp>
      <p:sp>
        <p:nvSpPr>
          <p:cNvPr id="23" name="Text 21"/>
          <p:cNvSpPr/>
          <p:nvPr/>
        </p:nvSpPr>
        <p:spPr>
          <a:xfrm>
            <a:off x="365760" y="6519672"/>
            <a:ext cx="6400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000" i="1" dirty="0">
                <a:solidFill>
                  <a:srgbClr val="6272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Shalinee Priya   |   Data Analyst  ·  SQL Trainer</a:t>
            </a:r>
            <a:endParaRPr lang="en-US" sz="1000" dirty="0"/>
          </a:p>
        </p:txBody>
      </p:sp>
      <p:sp>
        <p:nvSpPr>
          <p:cNvPr id="24" name="Shape 22"/>
          <p:cNvSpPr/>
          <p:nvPr/>
        </p:nvSpPr>
        <p:spPr>
          <a:xfrm>
            <a:off x="11109960" y="6473952"/>
            <a:ext cx="713232" cy="292608"/>
          </a:xfrm>
          <a:prstGeom prst="roundRect">
            <a:avLst>
              <a:gd name="adj" fmla="val 18750"/>
            </a:avLst>
          </a:prstGeom>
          <a:solidFill>
            <a:srgbClr val="0B2545"/>
          </a:solidFill>
          <a:ln/>
        </p:spPr>
      </p:sp>
      <p:sp>
        <p:nvSpPr>
          <p:cNvPr id="25" name="Text 23"/>
          <p:cNvSpPr/>
          <p:nvPr/>
        </p:nvSpPr>
        <p:spPr>
          <a:xfrm>
            <a:off x="11109960" y="6473952"/>
            <a:ext cx="713232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5/26</a:t>
            </a:r>
            <a:endParaRPr lang="en-US" sz="11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320040"/>
            <a:ext cx="9144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0C7C7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CATEGORY MAP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02920" y="566928"/>
            <a:ext cx="1078992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0B2545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String Functions — What's Ahead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502920" y="1783080"/>
            <a:ext cx="5440680" cy="777240"/>
          </a:xfrm>
          <a:prstGeom prst="roundRect">
            <a:avLst>
              <a:gd name="adj" fmla="val 8235"/>
            </a:avLst>
          </a:prstGeom>
          <a:solidFill>
            <a:srgbClr val="F3F6F9"/>
          </a:solidFill>
          <a:ln w="12700">
            <a:solidFill>
              <a:srgbClr val="DCE3EC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502920" y="1783080"/>
            <a:ext cx="82296" cy="777240"/>
          </a:xfrm>
          <a:prstGeom prst="rect">
            <a:avLst/>
          </a:prstGeom>
          <a:solidFill>
            <a:srgbClr val="14B8A6"/>
          </a:solidFill>
          <a:ln/>
        </p:spPr>
      </p:sp>
      <p:sp>
        <p:nvSpPr>
          <p:cNvPr id="6" name="Text 4"/>
          <p:cNvSpPr/>
          <p:nvPr/>
        </p:nvSpPr>
        <p:spPr>
          <a:xfrm>
            <a:off x="777240" y="1874520"/>
            <a:ext cx="498348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0B25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Case Conversion</a:t>
            </a:r>
            <a:endParaRPr lang="en-US" sz="1350" dirty="0"/>
          </a:p>
        </p:txBody>
      </p:sp>
      <p:sp>
        <p:nvSpPr>
          <p:cNvPr id="7" name="Text 5"/>
          <p:cNvSpPr/>
          <p:nvPr/>
        </p:nvSpPr>
        <p:spPr>
          <a:xfrm>
            <a:off x="777240" y="2185416"/>
            <a:ext cx="498348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0C7C7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UPPER() · LOWER()</a:t>
            </a:r>
            <a:endParaRPr lang="en-US" sz="1150" dirty="0"/>
          </a:p>
        </p:txBody>
      </p:sp>
      <p:sp>
        <p:nvSpPr>
          <p:cNvPr id="8" name="Shape 6"/>
          <p:cNvSpPr/>
          <p:nvPr/>
        </p:nvSpPr>
        <p:spPr>
          <a:xfrm>
            <a:off x="6217920" y="1783080"/>
            <a:ext cx="5440680" cy="777240"/>
          </a:xfrm>
          <a:prstGeom prst="roundRect">
            <a:avLst>
              <a:gd name="adj" fmla="val 8235"/>
            </a:avLst>
          </a:prstGeom>
          <a:solidFill>
            <a:srgbClr val="F3F6F9"/>
          </a:solidFill>
          <a:ln w="12700">
            <a:solidFill>
              <a:srgbClr val="DCE3EC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6217920" y="1783080"/>
            <a:ext cx="82296" cy="777240"/>
          </a:xfrm>
          <a:prstGeom prst="rect">
            <a:avLst/>
          </a:prstGeom>
          <a:solidFill>
            <a:srgbClr val="14B8A6"/>
          </a:solidFill>
          <a:ln/>
        </p:spPr>
      </p:sp>
      <p:sp>
        <p:nvSpPr>
          <p:cNvPr id="10" name="Text 8"/>
          <p:cNvSpPr/>
          <p:nvPr/>
        </p:nvSpPr>
        <p:spPr>
          <a:xfrm>
            <a:off x="6492240" y="1874520"/>
            <a:ext cx="498348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0B25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Concatenation</a:t>
            </a:r>
            <a:endParaRPr lang="en-US" sz="1350" dirty="0"/>
          </a:p>
        </p:txBody>
      </p:sp>
      <p:sp>
        <p:nvSpPr>
          <p:cNvPr id="11" name="Text 9"/>
          <p:cNvSpPr/>
          <p:nvPr/>
        </p:nvSpPr>
        <p:spPr>
          <a:xfrm>
            <a:off x="6492240" y="2185416"/>
            <a:ext cx="498348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0C7C7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CONCAT() · CONCAT_WS()</a:t>
            </a:r>
            <a:endParaRPr lang="en-US" sz="1150" dirty="0"/>
          </a:p>
        </p:txBody>
      </p:sp>
      <p:sp>
        <p:nvSpPr>
          <p:cNvPr id="12" name="Shape 10"/>
          <p:cNvSpPr/>
          <p:nvPr/>
        </p:nvSpPr>
        <p:spPr>
          <a:xfrm>
            <a:off x="502920" y="2724912"/>
            <a:ext cx="5440680" cy="777240"/>
          </a:xfrm>
          <a:prstGeom prst="roundRect">
            <a:avLst>
              <a:gd name="adj" fmla="val 8235"/>
            </a:avLst>
          </a:prstGeom>
          <a:solidFill>
            <a:srgbClr val="F3F6F9"/>
          </a:solidFill>
          <a:ln w="12700">
            <a:solidFill>
              <a:srgbClr val="DCE3EC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502920" y="2724912"/>
            <a:ext cx="82296" cy="777240"/>
          </a:xfrm>
          <a:prstGeom prst="rect">
            <a:avLst/>
          </a:prstGeom>
          <a:solidFill>
            <a:srgbClr val="14B8A6"/>
          </a:solidFill>
          <a:ln/>
        </p:spPr>
      </p:sp>
      <p:sp>
        <p:nvSpPr>
          <p:cNvPr id="14" name="Text 12"/>
          <p:cNvSpPr/>
          <p:nvPr/>
        </p:nvSpPr>
        <p:spPr>
          <a:xfrm>
            <a:off x="777240" y="2816352"/>
            <a:ext cx="498348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0B25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Length</a:t>
            </a:r>
            <a:endParaRPr lang="en-US" sz="1350" dirty="0"/>
          </a:p>
        </p:txBody>
      </p:sp>
      <p:sp>
        <p:nvSpPr>
          <p:cNvPr id="15" name="Text 13"/>
          <p:cNvSpPr/>
          <p:nvPr/>
        </p:nvSpPr>
        <p:spPr>
          <a:xfrm>
            <a:off x="777240" y="3127248"/>
            <a:ext cx="498348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0C7C7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LENGTH() · CHAR_LENGTH()</a:t>
            </a:r>
            <a:endParaRPr lang="en-US" sz="1150" dirty="0"/>
          </a:p>
        </p:txBody>
      </p:sp>
      <p:sp>
        <p:nvSpPr>
          <p:cNvPr id="16" name="Shape 14"/>
          <p:cNvSpPr/>
          <p:nvPr/>
        </p:nvSpPr>
        <p:spPr>
          <a:xfrm>
            <a:off x="6217920" y="2724912"/>
            <a:ext cx="5440680" cy="777240"/>
          </a:xfrm>
          <a:prstGeom prst="roundRect">
            <a:avLst>
              <a:gd name="adj" fmla="val 8235"/>
            </a:avLst>
          </a:prstGeom>
          <a:solidFill>
            <a:srgbClr val="F3F6F9"/>
          </a:solidFill>
          <a:ln w="12700">
            <a:solidFill>
              <a:srgbClr val="DCE3EC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6217920" y="2724912"/>
            <a:ext cx="82296" cy="777240"/>
          </a:xfrm>
          <a:prstGeom prst="rect">
            <a:avLst/>
          </a:prstGeom>
          <a:solidFill>
            <a:srgbClr val="14B8A6"/>
          </a:solidFill>
          <a:ln/>
        </p:spPr>
      </p:sp>
      <p:sp>
        <p:nvSpPr>
          <p:cNvPr id="18" name="Text 16"/>
          <p:cNvSpPr/>
          <p:nvPr/>
        </p:nvSpPr>
        <p:spPr>
          <a:xfrm>
            <a:off x="6492240" y="2816352"/>
            <a:ext cx="498348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0B25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Trimming</a:t>
            </a:r>
            <a:endParaRPr lang="en-US" sz="1350" dirty="0"/>
          </a:p>
        </p:txBody>
      </p:sp>
      <p:sp>
        <p:nvSpPr>
          <p:cNvPr id="19" name="Text 17"/>
          <p:cNvSpPr/>
          <p:nvPr/>
        </p:nvSpPr>
        <p:spPr>
          <a:xfrm>
            <a:off x="6492240" y="3127248"/>
            <a:ext cx="498348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0C7C7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TRIM() · LTRIM() · RTRIM()</a:t>
            </a:r>
            <a:endParaRPr lang="en-US" sz="1150" dirty="0"/>
          </a:p>
        </p:txBody>
      </p:sp>
      <p:sp>
        <p:nvSpPr>
          <p:cNvPr id="20" name="Shape 18"/>
          <p:cNvSpPr/>
          <p:nvPr/>
        </p:nvSpPr>
        <p:spPr>
          <a:xfrm>
            <a:off x="502920" y="3666744"/>
            <a:ext cx="5440680" cy="777240"/>
          </a:xfrm>
          <a:prstGeom prst="roundRect">
            <a:avLst>
              <a:gd name="adj" fmla="val 8235"/>
            </a:avLst>
          </a:prstGeom>
          <a:solidFill>
            <a:srgbClr val="F3F6F9"/>
          </a:solidFill>
          <a:ln w="12700">
            <a:solidFill>
              <a:srgbClr val="DCE3EC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502920" y="3666744"/>
            <a:ext cx="82296" cy="777240"/>
          </a:xfrm>
          <a:prstGeom prst="rect">
            <a:avLst/>
          </a:prstGeom>
          <a:solidFill>
            <a:srgbClr val="14B8A6"/>
          </a:solidFill>
          <a:ln/>
        </p:spPr>
      </p:sp>
      <p:sp>
        <p:nvSpPr>
          <p:cNvPr id="22" name="Text 20"/>
          <p:cNvSpPr/>
          <p:nvPr/>
        </p:nvSpPr>
        <p:spPr>
          <a:xfrm>
            <a:off x="777240" y="3758184"/>
            <a:ext cx="498348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0B25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Extraction</a:t>
            </a:r>
            <a:endParaRPr lang="en-US" sz="1350" dirty="0"/>
          </a:p>
        </p:txBody>
      </p:sp>
      <p:sp>
        <p:nvSpPr>
          <p:cNvPr id="23" name="Text 21"/>
          <p:cNvSpPr/>
          <p:nvPr/>
        </p:nvSpPr>
        <p:spPr>
          <a:xfrm>
            <a:off x="777240" y="4069080"/>
            <a:ext cx="498348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0C7C7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SUBSTRING() · LEFT() · RIGHT()</a:t>
            </a:r>
            <a:endParaRPr lang="en-US" sz="1150" dirty="0"/>
          </a:p>
        </p:txBody>
      </p:sp>
      <p:sp>
        <p:nvSpPr>
          <p:cNvPr id="24" name="Shape 22"/>
          <p:cNvSpPr/>
          <p:nvPr/>
        </p:nvSpPr>
        <p:spPr>
          <a:xfrm>
            <a:off x="6217920" y="3666744"/>
            <a:ext cx="5440680" cy="777240"/>
          </a:xfrm>
          <a:prstGeom prst="roundRect">
            <a:avLst>
              <a:gd name="adj" fmla="val 8235"/>
            </a:avLst>
          </a:prstGeom>
          <a:solidFill>
            <a:srgbClr val="F3F6F9"/>
          </a:solidFill>
          <a:ln w="12700">
            <a:solidFill>
              <a:srgbClr val="DCE3EC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6217920" y="3666744"/>
            <a:ext cx="82296" cy="777240"/>
          </a:xfrm>
          <a:prstGeom prst="rect">
            <a:avLst/>
          </a:prstGeom>
          <a:solidFill>
            <a:srgbClr val="14B8A6"/>
          </a:solidFill>
          <a:ln/>
        </p:spPr>
      </p:sp>
      <p:sp>
        <p:nvSpPr>
          <p:cNvPr id="26" name="Text 24"/>
          <p:cNvSpPr/>
          <p:nvPr/>
        </p:nvSpPr>
        <p:spPr>
          <a:xfrm>
            <a:off x="6492240" y="3758184"/>
            <a:ext cx="498348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0B25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Searching</a:t>
            </a:r>
            <a:endParaRPr lang="en-US" sz="1350" dirty="0"/>
          </a:p>
        </p:txBody>
      </p:sp>
      <p:sp>
        <p:nvSpPr>
          <p:cNvPr id="27" name="Text 25"/>
          <p:cNvSpPr/>
          <p:nvPr/>
        </p:nvSpPr>
        <p:spPr>
          <a:xfrm>
            <a:off x="6492240" y="4069080"/>
            <a:ext cx="498348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0C7C7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LOCATE() · INSTR()</a:t>
            </a:r>
            <a:endParaRPr lang="en-US" sz="1150" dirty="0"/>
          </a:p>
        </p:txBody>
      </p:sp>
      <p:sp>
        <p:nvSpPr>
          <p:cNvPr id="28" name="Shape 26"/>
          <p:cNvSpPr/>
          <p:nvPr/>
        </p:nvSpPr>
        <p:spPr>
          <a:xfrm>
            <a:off x="502920" y="4608576"/>
            <a:ext cx="5440680" cy="777240"/>
          </a:xfrm>
          <a:prstGeom prst="roundRect">
            <a:avLst>
              <a:gd name="adj" fmla="val 8235"/>
            </a:avLst>
          </a:prstGeom>
          <a:solidFill>
            <a:srgbClr val="F3F6F9"/>
          </a:solidFill>
          <a:ln w="12700">
            <a:solidFill>
              <a:srgbClr val="DCE3EC"/>
            </a:solidFill>
            <a:prstDash val="solid"/>
          </a:ln>
        </p:spPr>
      </p:sp>
      <p:sp>
        <p:nvSpPr>
          <p:cNvPr id="29" name="Shape 27"/>
          <p:cNvSpPr/>
          <p:nvPr/>
        </p:nvSpPr>
        <p:spPr>
          <a:xfrm>
            <a:off x="502920" y="4608576"/>
            <a:ext cx="82296" cy="777240"/>
          </a:xfrm>
          <a:prstGeom prst="rect">
            <a:avLst/>
          </a:prstGeom>
          <a:solidFill>
            <a:srgbClr val="14B8A6"/>
          </a:solidFill>
          <a:ln/>
        </p:spPr>
      </p:sp>
      <p:sp>
        <p:nvSpPr>
          <p:cNvPr id="30" name="Text 28"/>
          <p:cNvSpPr/>
          <p:nvPr/>
        </p:nvSpPr>
        <p:spPr>
          <a:xfrm>
            <a:off x="777240" y="4700016"/>
            <a:ext cx="498348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0B25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Replacement</a:t>
            </a:r>
            <a:endParaRPr lang="en-US" sz="1350" dirty="0"/>
          </a:p>
        </p:txBody>
      </p:sp>
      <p:sp>
        <p:nvSpPr>
          <p:cNvPr id="31" name="Text 29"/>
          <p:cNvSpPr/>
          <p:nvPr/>
        </p:nvSpPr>
        <p:spPr>
          <a:xfrm>
            <a:off x="777240" y="5010912"/>
            <a:ext cx="498348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0C7C7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REPLACE()</a:t>
            </a:r>
            <a:endParaRPr lang="en-US" sz="1150" dirty="0"/>
          </a:p>
        </p:txBody>
      </p:sp>
      <p:sp>
        <p:nvSpPr>
          <p:cNvPr id="32" name="Shape 30"/>
          <p:cNvSpPr/>
          <p:nvPr/>
        </p:nvSpPr>
        <p:spPr>
          <a:xfrm>
            <a:off x="6217920" y="4608576"/>
            <a:ext cx="5440680" cy="777240"/>
          </a:xfrm>
          <a:prstGeom prst="roundRect">
            <a:avLst>
              <a:gd name="adj" fmla="val 8235"/>
            </a:avLst>
          </a:prstGeom>
          <a:solidFill>
            <a:srgbClr val="F3F6F9"/>
          </a:solidFill>
          <a:ln w="12700">
            <a:solidFill>
              <a:srgbClr val="DCE3EC"/>
            </a:solidFill>
            <a:prstDash val="solid"/>
          </a:ln>
        </p:spPr>
      </p:sp>
      <p:sp>
        <p:nvSpPr>
          <p:cNvPr id="33" name="Shape 31"/>
          <p:cNvSpPr/>
          <p:nvPr/>
        </p:nvSpPr>
        <p:spPr>
          <a:xfrm>
            <a:off x="6217920" y="4608576"/>
            <a:ext cx="82296" cy="777240"/>
          </a:xfrm>
          <a:prstGeom prst="rect">
            <a:avLst/>
          </a:prstGeom>
          <a:solidFill>
            <a:srgbClr val="14B8A6"/>
          </a:solidFill>
          <a:ln/>
        </p:spPr>
      </p:sp>
      <p:sp>
        <p:nvSpPr>
          <p:cNvPr id="34" name="Text 32"/>
          <p:cNvSpPr/>
          <p:nvPr/>
        </p:nvSpPr>
        <p:spPr>
          <a:xfrm>
            <a:off x="6492240" y="4700016"/>
            <a:ext cx="498348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0B25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Delimiter Split</a:t>
            </a:r>
            <a:endParaRPr lang="en-US" sz="1350" dirty="0"/>
          </a:p>
        </p:txBody>
      </p:sp>
      <p:sp>
        <p:nvSpPr>
          <p:cNvPr id="35" name="Text 33"/>
          <p:cNvSpPr/>
          <p:nvPr/>
        </p:nvSpPr>
        <p:spPr>
          <a:xfrm>
            <a:off x="6492240" y="5010912"/>
            <a:ext cx="498348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0C7C7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SUBSTRING_INDEX()</a:t>
            </a:r>
            <a:endParaRPr lang="en-US" sz="1150" dirty="0"/>
          </a:p>
        </p:txBody>
      </p:sp>
      <p:sp>
        <p:nvSpPr>
          <p:cNvPr id="36" name="Shape 34"/>
          <p:cNvSpPr/>
          <p:nvPr/>
        </p:nvSpPr>
        <p:spPr>
          <a:xfrm>
            <a:off x="502920" y="5550408"/>
            <a:ext cx="5440680" cy="777240"/>
          </a:xfrm>
          <a:prstGeom prst="roundRect">
            <a:avLst>
              <a:gd name="adj" fmla="val 8235"/>
            </a:avLst>
          </a:prstGeom>
          <a:solidFill>
            <a:srgbClr val="F3F6F9"/>
          </a:solidFill>
          <a:ln w="12700">
            <a:solidFill>
              <a:srgbClr val="DCE3EC"/>
            </a:solidFill>
            <a:prstDash val="solid"/>
          </a:ln>
        </p:spPr>
      </p:sp>
      <p:sp>
        <p:nvSpPr>
          <p:cNvPr id="37" name="Shape 35"/>
          <p:cNvSpPr/>
          <p:nvPr/>
        </p:nvSpPr>
        <p:spPr>
          <a:xfrm>
            <a:off x="502920" y="5550408"/>
            <a:ext cx="82296" cy="777240"/>
          </a:xfrm>
          <a:prstGeom prst="rect">
            <a:avLst/>
          </a:prstGeom>
          <a:solidFill>
            <a:srgbClr val="14B8A6"/>
          </a:solidFill>
          <a:ln/>
        </p:spPr>
      </p:sp>
      <p:sp>
        <p:nvSpPr>
          <p:cNvPr id="38" name="Text 36"/>
          <p:cNvSpPr/>
          <p:nvPr/>
        </p:nvSpPr>
        <p:spPr>
          <a:xfrm>
            <a:off x="777240" y="5641848"/>
            <a:ext cx="498348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0B25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Padding</a:t>
            </a:r>
            <a:endParaRPr lang="en-US" sz="1350" dirty="0"/>
          </a:p>
        </p:txBody>
      </p:sp>
      <p:sp>
        <p:nvSpPr>
          <p:cNvPr id="39" name="Text 37"/>
          <p:cNvSpPr/>
          <p:nvPr/>
        </p:nvSpPr>
        <p:spPr>
          <a:xfrm>
            <a:off x="777240" y="5952744"/>
            <a:ext cx="498348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0C7C7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LPAD() · RPAD()</a:t>
            </a:r>
            <a:endParaRPr lang="en-US" sz="1150" dirty="0"/>
          </a:p>
        </p:txBody>
      </p:sp>
      <p:sp>
        <p:nvSpPr>
          <p:cNvPr id="40" name="Shape 38"/>
          <p:cNvSpPr/>
          <p:nvPr/>
        </p:nvSpPr>
        <p:spPr>
          <a:xfrm>
            <a:off x="6217920" y="5550408"/>
            <a:ext cx="5440680" cy="777240"/>
          </a:xfrm>
          <a:prstGeom prst="roundRect">
            <a:avLst>
              <a:gd name="adj" fmla="val 8235"/>
            </a:avLst>
          </a:prstGeom>
          <a:solidFill>
            <a:srgbClr val="F3F6F9"/>
          </a:solidFill>
          <a:ln w="12700">
            <a:solidFill>
              <a:srgbClr val="DCE3EC"/>
            </a:solidFill>
            <a:prstDash val="solid"/>
          </a:ln>
        </p:spPr>
      </p:sp>
      <p:sp>
        <p:nvSpPr>
          <p:cNvPr id="41" name="Shape 39"/>
          <p:cNvSpPr/>
          <p:nvPr/>
        </p:nvSpPr>
        <p:spPr>
          <a:xfrm>
            <a:off x="6217920" y="5550408"/>
            <a:ext cx="82296" cy="777240"/>
          </a:xfrm>
          <a:prstGeom prst="rect">
            <a:avLst/>
          </a:prstGeom>
          <a:solidFill>
            <a:srgbClr val="14B8A6"/>
          </a:solidFill>
          <a:ln/>
        </p:spPr>
      </p:sp>
      <p:sp>
        <p:nvSpPr>
          <p:cNvPr id="42" name="Text 40"/>
          <p:cNvSpPr/>
          <p:nvPr/>
        </p:nvSpPr>
        <p:spPr>
          <a:xfrm>
            <a:off x="6492240" y="5641848"/>
            <a:ext cx="498348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0B25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Reversal / Awareness</a:t>
            </a:r>
            <a:endParaRPr lang="en-US" sz="1350" dirty="0"/>
          </a:p>
        </p:txBody>
      </p:sp>
      <p:sp>
        <p:nvSpPr>
          <p:cNvPr id="43" name="Text 41"/>
          <p:cNvSpPr/>
          <p:nvPr/>
        </p:nvSpPr>
        <p:spPr>
          <a:xfrm>
            <a:off x="6492240" y="5952744"/>
            <a:ext cx="498348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0C7C7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REVERSE() · REPEAT() · ASCII() · CHAR()</a:t>
            </a:r>
            <a:endParaRPr lang="en-US" sz="1150" dirty="0"/>
          </a:p>
        </p:txBody>
      </p:sp>
      <p:sp>
        <p:nvSpPr>
          <p:cNvPr id="44" name="Text 42"/>
          <p:cNvSpPr/>
          <p:nvPr/>
        </p:nvSpPr>
        <p:spPr>
          <a:xfrm>
            <a:off x="365760" y="6519672"/>
            <a:ext cx="6400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000" i="1" dirty="0">
                <a:solidFill>
                  <a:srgbClr val="6272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Shalinee Priya   |   Data Analyst  ·  SQL Trainer</a:t>
            </a:r>
            <a:endParaRPr lang="en-US" sz="1000" dirty="0"/>
          </a:p>
        </p:txBody>
      </p:sp>
      <p:sp>
        <p:nvSpPr>
          <p:cNvPr id="45" name="Shape 43"/>
          <p:cNvSpPr/>
          <p:nvPr/>
        </p:nvSpPr>
        <p:spPr>
          <a:xfrm>
            <a:off x="11109960" y="6473952"/>
            <a:ext cx="713232" cy="292608"/>
          </a:xfrm>
          <a:prstGeom prst="roundRect">
            <a:avLst>
              <a:gd name="adj" fmla="val 18750"/>
            </a:avLst>
          </a:prstGeom>
          <a:solidFill>
            <a:srgbClr val="0B2545"/>
          </a:solidFill>
          <a:ln/>
        </p:spPr>
      </p:sp>
      <p:sp>
        <p:nvSpPr>
          <p:cNvPr id="46" name="Text 44"/>
          <p:cNvSpPr/>
          <p:nvPr/>
        </p:nvSpPr>
        <p:spPr>
          <a:xfrm>
            <a:off x="11109960" y="6473952"/>
            <a:ext cx="713232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6/26</a:t>
            </a:r>
            <a:endParaRPr lang="en-US" sz="11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320040"/>
            <a:ext cx="9144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0C7C7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WORKED EXAMPLES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02920" y="566928"/>
            <a:ext cx="1078992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0B2545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String Functions — Case Conversion, Concat, Length, Trim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502920" y="1783080"/>
            <a:ext cx="548640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b="1" spc="150" kern="0" dirty="0">
                <a:solidFill>
                  <a:srgbClr val="0C7C7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CASE + CONCAT</a:t>
            </a:r>
            <a:endParaRPr lang="en-US" sz="1050" dirty="0"/>
          </a:p>
        </p:txBody>
      </p:sp>
      <p:sp>
        <p:nvSpPr>
          <p:cNvPr id="5" name="Shape 3"/>
          <p:cNvSpPr/>
          <p:nvPr/>
        </p:nvSpPr>
        <p:spPr>
          <a:xfrm>
            <a:off x="502920" y="2057400"/>
            <a:ext cx="5440680" cy="1417320"/>
          </a:xfrm>
          <a:prstGeom prst="roundRect">
            <a:avLst>
              <a:gd name="adj" fmla="val 3871"/>
            </a:avLst>
          </a:prstGeom>
          <a:solidFill>
            <a:srgbClr val="13315C"/>
          </a:solidFill>
          <a:ln w="12700">
            <a:solidFill>
              <a:srgbClr val="14B8A6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704088" y="2185416"/>
            <a:ext cx="5038344" cy="116128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18000"/>
              </a:lnSpc>
              <a:buNone/>
            </a:pPr>
            <a:r>
              <a:rPr lang="en-US" sz="12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SELECT UPPER(first_name),</a:t>
            </a:r>
            <a:endParaRPr lang="en-US" sz="1200" dirty="0"/>
          </a:p>
          <a:p>
            <a:pPr indent="0" marL="0">
              <a:lnSpc>
                <a:spcPct val="118000"/>
              </a:lnSpc>
              <a:buNone/>
            </a:pPr>
            <a:r>
              <a:rPr lang="en-US" sz="12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CONCAT_WS(' - ', first_name, department)</a:t>
            </a:r>
            <a:endParaRPr lang="en-US" sz="1200" dirty="0"/>
          </a:p>
          <a:p>
            <a:pPr indent="0" marL="0">
              <a:lnSpc>
                <a:spcPct val="118000"/>
              </a:lnSpc>
              <a:buNone/>
            </a:pPr>
            <a:r>
              <a:rPr lang="en-US" sz="12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FROM employees;</a:t>
            </a:r>
            <a:endParaRPr lang="en-US" sz="1200" dirty="0"/>
          </a:p>
          <a:p>
            <a:pPr indent="0" marL="0">
              <a:lnSpc>
                <a:spcPct val="118000"/>
              </a:lnSpc>
              <a:buNone/>
            </a:pPr>
            <a:endParaRPr lang="en-US" sz="1200" dirty="0"/>
          </a:p>
          <a:p>
            <a:pPr indent="0" marL="0">
              <a:lnSpc>
                <a:spcPct val="118000"/>
              </a:lnSpc>
              <a:buNone/>
            </a:pPr>
            <a:r>
              <a:rPr lang="en-US" sz="12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-- 'Amit', 'Amit - Sales'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6217920" y="1783080"/>
            <a:ext cx="548640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b="1" spc="150" kern="0" dirty="0">
                <a:solidFill>
                  <a:srgbClr val="0C7C7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LENGTH() VS CHAR_LENGTH()</a:t>
            </a:r>
            <a:endParaRPr lang="en-US" sz="1050" dirty="0"/>
          </a:p>
        </p:txBody>
      </p:sp>
      <p:sp>
        <p:nvSpPr>
          <p:cNvPr id="8" name="Shape 6"/>
          <p:cNvSpPr/>
          <p:nvPr/>
        </p:nvSpPr>
        <p:spPr>
          <a:xfrm>
            <a:off x="6217920" y="2057400"/>
            <a:ext cx="5440680" cy="1417320"/>
          </a:xfrm>
          <a:prstGeom prst="roundRect">
            <a:avLst>
              <a:gd name="adj" fmla="val 3871"/>
            </a:avLst>
          </a:prstGeom>
          <a:solidFill>
            <a:srgbClr val="13315C"/>
          </a:solidFill>
          <a:ln w="12700">
            <a:solidFill>
              <a:srgbClr val="14B8A6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6419088" y="2185416"/>
            <a:ext cx="5038344" cy="116128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18000"/>
              </a:lnSpc>
              <a:buNone/>
            </a:pPr>
            <a:r>
              <a:rPr lang="en-US" sz="12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SELECT LENGTH('café'), CHAR_LENGTH('café');</a:t>
            </a:r>
            <a:endParaRPr lang="en-US" sz="1200" dirty="0"/>
          </a:p>
          <a:p>
            <a:pPr indent="0" marL="0">
              <a:lnSpc>
                <a:spcPct val="118000"/>
              </a:lnSpc>
              <a:buNone/>
            </a:pPr>
            <a:r>
              <a:rPr lang="en-US" sz="12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-- length_bytes = 5, length_chars = 4</a:t>
            </a:r>
            <a:endParaRPr lang="en-US" sz="1200" dirty="0"/>
          </a:p>
          <a:p>
            <a:pPr indent="0" marL="0">
              <a:lnSpc>
                <a:spcPct val="118000"/>
              </a:lnSpc>
              <a:buNone/>
            </a:pPr>
            <a:r>
              <a:rPr lang="en-US" sz="12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-- 'é' is 1 character but 2 bytes in UTF-8</a:t>
            </a:r>
            <a:endParaRPr lang="en-US" sz="1200" dirty="0"/>
          </a:p>
        </p:txBody>
      </p:sp>
      <p:sp>
        <p:nvSpPr>
          <p:cNvPr id="10" name="Text 8"/>
          <p:cNvSpPr/>
          <p:nvPr/>
        </p:nvSpPr>
        <p:spPr>
          <a:xfrm>
            <a:off x="502920" y="3657600"/>
            <a:ext cx="548640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b="1" spc="150" kern="0" dirty="0">
                <a:solidFill>
                  <a:srgbClr val="0C7C7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TRIM() — CLEANING REAL DATA</a:t>
            </a:r>
            <a:endParaRPr lang="en-US" sz="1050" dirty="0"/>
          </a:p>
        </p:txBody>
      </p:sp>
      <p:sp>
        <p:nvSpPr>
          <p:cNvPr id="11" name="Shape 9"/>
          <p:cNvSpPr/>
          <p:nvPr/>
        </p:nvSpPr>
        <p:spPr>
          <a:xfrm>
            <a:off x="502920" y="3931920"/>
            <a:ext cx="5440680" cy="1691640"/>
          </a:xfrm>
          <a:prstGeom prst="roundRect">
            <a:avLst>
              <a:gd name="adj" fmla="val 3243"/>
            </a:avLst>
          </a:prstGeom>
          <a:solidFill>
            <a:srgbClr val="13315C"/>
          </a:solidFill>
          <a:ln w="12700">
            <a:solidFill>
              <a:srgbClr val="14B8A6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704088" y="4059936"/>
            <a:ext cx="5038344" cy="143560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18000"/>
              </a:lnSpc>
              <a:buNone/>
            </a:pPr>
            <a:r>
              <a:rPr lang="en-US" sz="115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-- emp_id 11 stored as '  Farhan  '</a:t>
            </a:r>
            <a:endParaRPr lang="en-US" sz="1150" dirty="0"/>
          </a:p>
          <a:p>
            <a:pPr indent="0" marL="0">
              <a:lnSpc>
                <a:spcPct val="118000"/>
              </a:lnSpc>
              <a:buNone/>
            </a:pPr>
            <a:r>
              <a:rPr lang="en-US" sz="115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SELECT LENGTH(first_name),</a:t>
            </a:r>
            <a:endParaRPr lang="en-US" sz="1150" dirty="0"/>
          </a:p>
          <a:p>
            <a:pPr indent="0" marL="0">
              <a:lnSpc>
                <a:spcPct val="118000"/>
              </a:lnSpc>
              <a:buNone/>
            </a:pPr>
            <a:r>
              <a:rPr lang="en-US" sz="115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TRIM(first_name),</a:t>
            </a:r>
            <a:endParaRPr lang="en-US" sz="1150" dirty="0"/>
          </a:p>
          <a:p>
            <a:pPr indent="0" marL="0">
              <a:lnSpc>
                <a:spcPct val="118000"/>
              </a:lnSpc>
              <a:buNone/>
            </a:pPr>
            <a:r>
              <a:rPr lang="en-US" sz="115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LENGTH(TRIM(first_name))</a:t>
            </a:r>
            <a:endParaRPr lang="en-US" sz="1150" dirty="0"/>
          </a:p>
          <a:p>
            <a:pPr indent="0" marL="0">
              <a:lnSpc>
                <a:spcPct val="118000"/>
              </a:lnSpc>
              <a:buNone/>
            </a:pPr>
            <a:r>
              <a:rPr lang="en-US" sz="115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FROM employees WHERE emp_id = 11;</a:t>
            </a:r>
            <a:endParaRPr lang="en-US" sz="1150" dirty="0"/>
          </a:p>
          <a:p>
            <a:pPr indent="0" marL="0">
              <a:lnSpc>
                <a:spcPct val="118000"/>
              </a:lnSpc>
              <a:buNone/>
            </a:pPr>
            <a:r>
              <a:rPr lang="en-US" sz="115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-- 10  -&gt;  'Farhan'  -&gt;  6</a:t>
            </a:r>
            <a:endParaRPr lang="en-US" sz="1150" dirty="0"/>
          </a:p>
        </p:txBody>
      </p:sp>
      <p:sp>
        <p:nvSpPr>
          <p:cNvPr id="13" name="Shape 11"/>
          <p:cNvSpPr/>
          <p:nvPr/>
        </p:nvSpPr>
        <p:spPr>
          <a:xfrm>
            <a:off x="6217920" y="3657600"/>
            <a:ext cx="5440680" cy="1691640"/>
          </a:xfrm>
          <a:prstGeom prst="roundRect">
            <a:avLst>
              <a:gd name="adj" fmla="val 3784"/>
            </a:avLst>
          </a:prstGeom>
          <a:solidFill>
            <a:srgbClr val="0B2545"/>
          </a:solidFill>
          <a:ln/>
        </p:spPr>
      </p:sp>
      <p:sp>
        <p:nvSpPr>
          <p:cNvPr id="14" name="Text 12"/>
          <p:cNvSpPr/>
          <p:nvPr/>
        </p:nvSpPr>
        <p:spPr>
          <a:xfrm>
            <a:off x="6446520" y="3776472"/>
            <a:ext cx="498348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spc="150" kern="0" dirty="0">
                <a:solidFill>
                  <a:srgbClr val="14B8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CONCAT VS CONCAT_WS</a:t>
            </a:r>
            <a:endParaRPr lang="en-US" sz="1100" dirty="0"/>
          </a:p>
        </p:txBody>
      </p:sp>
      <p:sp>
        <p:nvSpPr>
          <p:cNvPr id="15" name="Text 13"/>
          <p:cNvSpPr/>
          <p:nvPr/>
        </p:nvSpPr>
        <p:spPr>
          <a:xfrm>
            <a:off x="6446520" y="4041648"/>
            <a:ext cx="4983480" cy="11887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12000"/>
              </a:lnSpc>
              <a:buNone/>
            </a:pPr>
            <a:r>
              <a:rPr lang="en-US" sz="12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CONCAT() returns NULL if ANY argument is NULL. CONCAT_WS() skips NULL arguments and keeps joining the rest — it only fails if the separator itself is NULL.</a:t>
            </a:r>
            <a:endParaRPr lang="en-US" sz="1250" dirty="0"/>
          </a:p>
        </p:txBody>
      </p:sp>
      <p:sp>
        <p:nvSpPr>
          <p:cNvPr id="16" name="Text 14"/>
          <p:cNvSpPr/>
          <p:nvPr/>
        </p:nvSpPr>
        <p:spPr>
          <a:xfrm>
            <a:off x="365760" y="6519672"/>
            <a:ext cx="6400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000" i="1" dirty="0">
                <a:solidFill>
                  <a:srgbClr val="6272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Shalinee Priya   |   Data Analyst  ·  SQL Trainer</a:t>
            </a:r>
            <a:endParaRPr lang="en-US" sz="1000" dirty="0"/>
          </a:p>
        </p:txBody>
      </p:sp>
      <p:sp>
        <p:nvSpPr>
          <p:cNvPr id="17" name="Shape 15"/>
          <p:cNvSpPr/>
          <p:nvPr/>
        </p:nvSpPr>
        <p:spPr>
          <a:xfrm>
            <a:off x="11109960" y="6473952"/>
            <a:ext cx="713232" cy="292608"/>
          </a:xfrm>
          <a:prstGeom prst="roundRect">
            <a:avLst>
              <a:gd name="adj" fmla="val 18750"/>
            </a:avLst>
          </a:prstGeom>
          <a:solidFill>
            <a:srgbClr val="0B2545"/>
          </a:solidFill>
          <a:ln/>
        </p:spPr>
      </p:sp>
      <p:sp>
        <p:nvSpPr>
          <p:cNvPr id="18" name="Text 16"/>
          <p:cNvSpPr/>
          <p:nvPr/>
        </p:nvSpPr>
        <p:spPr>
          <a:xfrm>
            <a:off x="11109960" y="6473952"/>
            <a:ext cx="713232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7/26</a:t>
            </a:r>
            <a:endParaRPr lang="en-US" sz="11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320040"/>
            <a:ext cx="9144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0C7C7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WORKED EXAMPLES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02920" y="566928"/>
            <a:ext cx="1078992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0B2545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String Functions — Extraction, Search, Replace, Split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502920" y="1783080"/>
            <a:ext cx="548640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b="1" spc="150" kern="0" dirty="0">
                <a:solidFill>
                  <a:srgbClr val="0C7C7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SUBSTRING / LEFT / RIGHT</a:t>
            </a:r>
            <a:endParaRPr lang="en-US" sz="1050" dirty="0"/>
          </a:p>
        </p:txBody>
      </p:sp>
      <p:sp>
        <p:nvSpPr>
          <p:cNvPr id="5" name="Shape 3"/>
          <p:cNvSpPr/>
          <p:nvPr/>
        </p:nvSpPr>
        <p:spPr>
          <a:xfrm>
            <a:off x="502920" y="2057400"/>
            <a:ext cx="5440680" cy="1188720"/>
          </a:xfrm>
          <a:prstGeom prst="roundRect">
            <a:avLst>
              <a:gd name="adj" fmla="val 4615"/>
            </a:avLst>
          </a:prstGeom>
          <a:solidFill>
            <a:srgbClr val="13315C"/>
          </a:solidFill>
          <a:ln w="12700">
            <a:solidFill>
              <a:srgbClr val="14B8A6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704088" y="2185416"/>
            <a:ext cx="5038344" cy="93268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18000"/>
              </a:lnSpc>
              <a:buNone/>
            </a:pPr>
            <a:r>
              <a:rPr lang="en-US" sz="12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SELECT LEFT('SQL Training', 3),</a:t>
            </a:r>
            <a:endParaRPr lang="en-US" sz="1200" dirty="0"/>
          </a:p>
          <a:p>
            <a:pPr indent="0" marL="0">
              <a:lnSpc>
                <a:spcPct val="118000"/>
              </a:lnSpc>
              <a:buNone/>
            </a:pPr>
            <a:r>
              <a:rPr lang="en-US" sz="12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RIGHT('SQL Training', 8);</a:t>
            </a:r>
            <a:endParaRPr lang="en-US" sz="1200" dirty="0"/>
          </a:p>
          <a:p>
            <a:pPr indent="0" marL="0">
              <a:lnSpc>
                <a:spcPct val="118000"/>
              </a:lnSpc>
              <a:buNone/>
            </a:pPr>
            <a:r>
              <a:rPr lang="en-US" sz="12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-- 'SQL'   'Training'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6217920" y="1783080"/>
            <a:ext cx="548640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b="1" spc="150" kern="0" dirty="0">
                <a:solidFill>
                  <a:srgbClr val="0C7C7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LOCATE() VS INSTR()</a:t>
            </a:r>
            <a:endParaRPr lang="en-US" sz="1050" dirty="0"/>
          </a:p>
        </p:txBody>
      </p:sp>
      <p:sp>
        <p:nvSpPr>
          <p:cNvPr id="8" name="Shape 6"/>
          <p:cNvSpPr/>
          <p:nvPr/>
        </p:nvSpPr>
        <p:spPr>
          <a:xfrm>
            <a:off x="6217920" y="2057400"/>
            <a:ext cx="5440680" cy="1188720"/>
          </a:xfrm>
          <a:prstGeom prst="roundRect">
            <a:avLst>
              <a:gd name="adj" fmla="val 4615"/>
            </a:avLst>
          </a:prstGeom>
          <a:solidFill>
            <a:srgbClr val="13315C"/>
          </a:solidFill>
          <a:ln w="12700">
            <a:solidFill>
              <a:srgbClr val="14B8A6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6419088" y="2185416"/>
            <a:ext cx="5038344" cy="93268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18000"/>
              </a:lnSpc>
              <a:buNone/>
            </a:pPr>
            <a:r>
              <a:rPr lang="en-US" sz="12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SELECT LOCATE('@', email),</a:t>
            </a:r>
            <a:endParaRPr lang="en-US" sz="1200" dirty="0"/>
          </a:p>
          <a:p>
            <a:pPr indent="0" marL="0">
              <a:lnSpc>
                <a:spcPct val="118000"/>
              </a:lnSpc>
              <a:buNone/>
            </a:pPr>
            <a:r>
              <a:rPr lang="en-US" sz="12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INSTR(email, '@')</a:t>
            </a:r>
            <a:endParaRPr lang="en-US" sz="1200" dirty="0"/>
          </a:p>
          <a:p>
            <a:pPr indent="0" marL="0">
              <a:lnSpc>
                <a:spcPct val="118000"/>
              </a:lnSpc>
              <a:buNone/>
            </a:pPr>
            <a:r>
              <a:rPr lang="en-US" sz="12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FROM employees WHERE emp_id = 1;</a:t>
            </a:r>
            <a:endParaRPr lang="en-US" sz="1200" dirty="0"/>
          </a:p>
          <a:p>
            <a:pPr indent="0" marL="0">
              <a:lnSpc>
                <a:spcPct val="118000"/>
              </a:lnSpc>
              <a:buNone/>
            </a:pPr>
            <a:r>
              <a:rPr lang="en-US" sz="12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-- both return 12 (opposite arg order)</a:t>
            </a:r>
            <a:endParaRPr lang="en-US" sz="1200" dirty="0"/>
          </a:p>
        </p:txBody>
      </p:sp>
      <p:sp>
        <p:nvSpPr>
          <p:cNvPr id="10" name="Text 8"/>
          <p:cNvSpPr/>
          <p:nvPr/>
        </p:nvSpPr>
        <p:spPr>
          <a:xfrm>
            <a:off x="502920" y="3429000"/>
            <a:ext cx="548640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b="1" spc="150" kern="0" dirty="0">
                <a:solidFill>
                  <a:srgbClr val="0C7C7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REPLACE()</a:t>
            </a:r>
            <a:endParaRPr lang="en-US" sz="1050" dirty="0"/>
          </a:p>
        </p:txBody>
      </p:sp>
      <p:sp>
        <p:nvSpPr>
          <p:cNvPr id="11" name="Shape 9"/>
          <p:cNvSpPr/>
          <p:nvPr/>
        </p:nvSpPr>
        <p:spPr>
          <a:xfrm>
            <a:off x="502920" y="3703320"/>
            <a:ext cx="5440680" cy="1188720"/>
          </a:xfrm>
          <a:prstGeom prst="roundRect">
            <a:avLst>
              <a:gd name="adj" fmla="val 4615"/>
            </a:avLst>
          </a:prstGeom>
          <a:solidFill>
            <a:srgbClr val="13315C"/>
          </a:solidFill>
          <a:ln w="12700">
            <a:solidFill>
              <a:srgbClr val="14B8A6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704088" y="3831336"/>
            <a:ext cx="5038344" cy="93268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18000"/>
              </a:lnSpc>
              <a:buNone/>
            </a:pPr>
            <a:r>
              <a:rPr lang="en-US" sz="12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SELECT REPLACE(email,</a:t>
            </a:r>
            <a:endParaRPr lang="en-US" sz="1200" dirty="0"/>
          </a:p>
          <a:p>
            <a:pPr indent="0" marL="0">
              <a:lnSpc>
                <a:spcPct val="118000"/>
              </a:lnSpc>
              <a:buNone/>
            </a:pPr>
            <a:r>
              <a:rPr lang="en-US" sz="12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'company.com','newcorp.io')</a:t>
            </a:r>
            <a:endParaRPr lang="en-US" sz="1200" dirty="0"/>
          </a:p>
          <a:p>
            <a:pPr indent="0" marL="0">
              <a:lnSpc>
                <a:spcPct val="118000"/>
              </a:lnSpc>
              <a:buNone/>
            </a:pPr>
            <a:r>
              <a:rPr lang="en-US" sz="12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FROM employees WHERE emp_id = 1;</a:t>
            </a:r>
            <a:endParaRPr lang="en-US" sz="1200" dirty="0"/>
          </a:p>
        </p:txBody>
      </p:sp>
      <p:sp>
        <p:nvSpPr>
          <p:cNvPr id="13" name="Text 11"/>
          <p:cNvSpPr/>
          <p:nvPr/>
        </p:nvSpPr>
        <p:spPr>
          <a:xfrm>
            <a:off x="6217920" y="3429000"/>
            <a:ext cx="548640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b="1" spc="150" kern="0" dirty="0">
                <a:solidFill>
                  <a:srgbClr val="0C7C7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SUBSTRING_INDEX() — THE REAL MYSQL SPLIT</a:t>
            </a:r>
            <a:endParaRPr lang="en-US" sz="1050" dirty="0"/>
          </a:p>
        </p:txBody>
      </p:sp>
      <p:sp>
        <p:nvSpPr>
          <p:cNvPr id="14" name="Shape 12"/>
          <p:cNvSpPr/>
          <p:nvPr/>
        </p:nvSpPr>
        <p:spPr>
          <a:xfrm>
            <a:off x="6217920" y="3703320"/>
            <a:ext cx="5440680" cy="1188720"/>
          </a:xfrm>
          <a:prstGeom prst="roundRect">
            <a:avLst>
              <a:gd name="adj" fmla="val 4615"/>
            </a:avLst>
          </a:prstGeom>
          <a:solidFill>
            <a:srgbClr val="13315C"/>
          </a:solidFill>
          <a:ln w="12700">
            <a:solidFill>
              <a:srgbClr val="14B8A6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6419088" y="3831336"/>
            <a:ext cx="5038344" cy="93268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18000"/>
              </a:lnSpc>
              <a:buNone/>
            </a:pPr>
            <a:r>
              <a:rPr lang="en-US" sz="12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SELECT SUBSTRING_INDEX(email,'@',1),</a:t>
            </a:r>
            <a:endParaRPr lang="en-US" sz="1200" dirty="0"/>
          </a:p>
          <a:p>
            <a:pPr indent="0" marL="0">
              <a:lnSpc>
                <a:spcPct val="118000"/>
              </a:lnSpc>
              <a:buNone/>
            </a:pPr>
            <a:r>
              <a:rPr lang="en-US" sz="12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SUBSTRING_INDEX(email,'@',-1)</a:t>
            </a:r>
            <a:endParaRPr lang="en-US" sz="1200" dirty="0"/>
          </a:p>
          <a:p>
            <a:pPr indent="0" marL="0">
              <a:lnSpc>
                <a:spcPct val="118000"/>
              </a:lnSpc>
              <a:buNone/>
            </a:pPr>
            <a:r>
              <a:rPr lang="en-US" sz="12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FROM employees WHERE emp_id = 1;</a:t>
            </a:r>
            <a:endParaRPr lang="en-US" sz="1200" dirty="0"/>
          </a:p>
          <a:p>
            <a:pPr indent="0" marL="0">
              <a:lnSpc>
                <a:spcPct val="118000"/>
              </a:lnSpc>
              <a:buNone/>
            </a:pPr>
            <a:r>
              <a:rPr lang="en-US" sz="12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-- 'amit.sharma'   'company.com'</a:t>
            </a:r>
            <a:endParaRPr lang="en-US" sz="1200" dirty="0"/>
          </a:p>
        </p:txBody>
      </p:sp>
      <p:sp>
        <p:nvSpPr>
          <p:cNvPr id="16" name="Shape 14"/>
          <p:cNvSpPr/>
          <p:nvPr/>
        </p:nvSpPr>
        <p:spPr>
          <a:xfrm>
            <a:off x="502920" y="5074920"/>
            <a:ext cx="11155680" cy="1143000"/>
          </a:xfrm>
          <a:prstGeom prst="roundRect">
            <a:avLst>
              <a:gd name="adj" fmla="val 5600"/>
            </a:avLst>
          </a:prstGeom>
          <a:solidFill>
            <a:srgbClr val="0B2545"/>
          </a:solidFill>
          <a:ln/>
        </p:spPr>
      </p:sp>
      <p:sp>
        <p:nvSpPr>
          <p:cNvPr id="17" name="Text 15"/>
          <p:cNvSpPr/>
          <p:nvPr/>
        </p:nvSpPr>
        <p:spPr>
          <a:xfrm>
            <a:off x="731520" y="5193792"/>
            <a:ext cx="1069848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spc="150" kern="0" dirty="0">
                <a:solidFill>
                  <a:srgbClr val="14B8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SOURCE-MATERIAL CORRECTION</a:t>
            </a:r>
            <a:endParaRPr lang="en-US" sz="1100" dirty="0"/>
          </a:p>
        </p:txBody>
      </p:sp>
      <p:sp>
        <p:nvSpPr>
          <p:cNvPr id="18" name="Text 16"/>
          <p:cNvSpPr/>
          <p:nvPr/>
        </p:nvSpPr>
        <p:spPr>
          <a:xfrm>
            <a:off x="731520" y="5458968"/>
            <a:ext cx="10698480" cy="6400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12000"/>
              </a:lnSpc>
              <a:buNone/>
            </a:pPr>
            <a:r>
              <a:rPr lang="en-US" sz="12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MySQL has NO native SPLIT() or SPLIT_PART() function (these belong to other database systems). Calling either in MySQL raises an error. SUBSTRING_INDEX(string, delimiter, count) is the correct MySQL tool: a positive count reads from the left, a negative count reads from the right.</a:t>
            </a:r>
            <a:endParaRPr lang="en-US" sz="1250" dirty="0"/>
          </a:p>
        </p:txBody>
      </p:sp>
      <p:sp>
        <p:nvSpPr>
          <p:cNvPr id="19" name="Text 17"/>
          <p:cNvSpPr/>
          <p:nvPr/>
        </p:nvSpPr>
        <p:spPr>
          <a:xfrm>
            <a:off x="365760" y="6519672"/>
            <a:ext cx="6400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000" i="1" dirty="0">
                <a:solidFill>
                  <a:srgbClr val="6272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Shalinee Priya   |   Data Analyst  ·  SQL Trainer</a:t>
            </a:r>
            <a:endParaRPr lang="en-US" sz="1000" dirty="0"/>
          </a:p>
        </p:txBody>
      </p:sp>
      <p:sp>
        <p:nvSpPr>
          <p:cNvPr id="20" name="Shape 18"/>
          <p:cNvSpPr/>
          <p:nvPr/>
        </p:nvSpPr>
        <p:spPr>
          <a:xfrm>
            <a:off x="11109960" y="6473952"/>
            <a:ext cx="713232" cy="292608"/>
          </a:xfrm>
          <a:prstGeom prst="roundRect">
            <a:avLst>
              <a:gd name="adj" fmla="val 18750"/>
            </a:avLst>
          </a:prstGeom>
          <a:solidFill>
            <a:srgbClr val="0B2545"/>
          </a:solidFill>
          <a:ln/>
        </p:spPr>
      </p:sp>
      <p:sp>
        <p:nvSpPr>
          <p:cNvPr id="21" name="Text 19"/>
          <p:cNvSpPr/>
          <p:nvPr/>
        </p:nvSpPr>
        <p:spPr>
          <a:xfrm>
            <a:off x="11109960" y="6473952"/>
            <a:ext cx="713232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8/26</a:t>
            </a:r>
            <a:endParaRPr lang="en-US" sz="11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320040"/>
            <a:ext cx="9144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0C7C7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VISUAL PIPELINE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02920" y="566928"/>
            <a:ext cx="1078992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0B2545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String Business Transformation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502920" y="2377440"/>
            <a:ext cx="1402080" cy="1005840"/>
          </a:xfrm>
          <a:prstGeom prst="roundRect">
            <a:avLst>
              <a:gd name="adj" fmla="val 6364"/>
            </a:avLst>
          </a:prstGeom>
          <a:solidFill>
            <a:srgbClr val="F3F6F9"/>
          </a:solidFill>
          <a:ln w="12700">
            <a:solidFill>
              <a:srgbClr val="DCE3EC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548640" y="2377440"/>
            <a:ext cx="131064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6272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Raw Data</a:t>
            </a:r>
            <a:endParaRPr lang="en-US" sz="1150" dirty="0"/>
          </a:p>
        </p:txBody>
      </p:sp>
      <p:sp>
        <p:nvSpPr>
          <p:cNvPr id="6" name="Text 4"/>
          <p:cNvSpPr/>
          <p:nvPr/>
        </p:nvSpPr>
        <p:spPr>
          <a:xfrm>
            <a:off x="1905000" y="2697480"/>
            <a:ext cx="384048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0C7C7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2000" dirty="0"/>
          </a:p>
        </p:txBody>
      </p:sp>
      <p:sp>
        <p:nvSpPr>
          <p:cNvPr id="7" name="Shape 5"/>
          <p:cNvSpPr/>
          <p:nvPr/>
        </p:nvSpPr>
        <p:spPr>
          <a:xfrm>
            <a:off x="2289048" y="2377440"/>
            <a:ext cx="1402080" cy="1005840"/>
          </a:xfrm>
          <a:prstGeom prst="roundRect">
            <a:avLst>
              <a:gd name="adj" fmla="val 6364"/>
            </a:avLst>
          </a:prstGeom>
          <a:solidFill>
            <a:srgbClr val="E9F8F5"/>
          </a:solidFill>
          <a:ln w="12700">
            <a:solidFill>
              <a:srgbClr val="DCE3EC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2334768" y="2377440"/>
            <a:ext cx="131064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0C7C7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TRIM</a:t>
            </a:r>
            <a:endParaRPr lang="en-US" sz="1150" dirty="0"/>
          </a:p>
        </p:txBody>
      </p:sp>
      <p:sp>
        <p:nvSpPr>
          <p:cNvPr id="9" name="Text 7"/>
          <p:cNvSpPr/>
          <p:nvPr/>
        </p:nvSpPr>
        <p:spPr>
          <a:xfrm>
            <a:off x="3691128" y="2697480"/>
            <a:ext cx="384048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0C7C7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2000" dirty="0"/>
          </a:p>
        </p:txBody>
      </p:sp>
      <p:sp>
        <p:nvSpPr>
          <p:cNvPr id="10" name="Shape 8"/>
          <p:cNvSpPr/>
          <p:nvPr/>
        </p:nvSpPr>
        <p:spPr>
          <a:xfrm>
            <a:off x="4075176" y="2377440"/>
            <a:ext cx="1402080" cy="1005840"/>
          </a:xfrm>
          <a:prstGeom prst="roundRect">
            <a:avLst>
              <a:gd name="adj" fmla="val 6364"/>
            </a:avLst>
          </a:prstGeom>
          <a:solidFill>
            <a:srgbClr val="E9F8F5"/>
          </a:solidFill>
          <a:ln w="12700">
            <a:solidFill>
              <a:srgbClr val="DCE3EC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4120896" y="2377440"/>
            <a:ext cx="131064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0C7C7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UPPER/LOWER</a:t>
            </a:r>
            <a:endParaRPr lang="en-US" sz="1150" dirty="0"/>
          </a:p>
        </p:txBody>
      </p:sp>
      <p:sp>
        <p:nvSpPr>
          <p:cNvPr id="12" name="Text 10"/>
          <p:cNvSpPr/>
          <p:nvPr/>
        </p:nvSpPr>
        <p:spPr>
          <a:xfrm>
            <a:off x="5477256" y="2697480"/>
            <a:ext cx="384048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0C7C7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2000" dirty="0"/>
          </a:p>
        </p:txBody>
      </p:sp>
      <p:sp>
        <p:nvSpPr>
          <p:cNvPr id="13" name="Shape 11"/>
          <p:cNvSpPr/>
          <p:nvPr/>
        </p:nvSpPr>
        <p:spPr>
          <a:xfrm>
            <a:off x="5861304" y="2377440"/>
            <a:ext cx="1402080" cy="1005840"/>
          </a:xfrm>
          <a:prstGeom prst="roundRect">
            <a:avLst>
              <a:gd name="adj" fmla="val 6364"/>
            </a:avLst>
          </a:prstGeom>
          <a:solidFill>
            <a:srgbClr val="E9F8F5"/>
          </a:solidFill>
          <a:ln w="12700">
            <a:solidFill>
              <a:srgbClr val="DCE3EC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5907024" y="2377440"/>
            <a:ext cx="131064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0C7C7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SUBSTRING</a:t>
            </a:r>
            <a:endParaRPr lang="en-US" sz="1150" dirty="0"/>
          </a:p>
        </p:txBody>
      </p:sp>
      <p:sp>
        <p:nvSpPr>
          <p:cNvPr id="15" name="Text 13"/>
          <p:cNvSpPr/>
          <p:nvPr/>
        </p:nvSpPr>
        <p:spPr>
          <a:xfrm>
            <a:off x="7263384" y="2697480"/>
            <a:ext cx="384048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0C7C7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2000" dirty="0"/>
          </a:p>
        </p:txBody>
      </p:sp>
      <p:sp>
        <p:nvSpPr>
          <p:cNvPr id="16" name="Shape 14"/>
          <p:cNvSpPr/>
          <p:nvPr/>
        </p:nvSpPr>
        <p:spPr>
          <a:xfrm>
            <a:off x="7647432" y="2377440"/>
            <a:ext cx="1402080" cy="1005840"/>
          </a:xfrm>
          <a:prstGeom prst="roundRect">
            <a:avLst>
              <a:gd name="adj" fmla="val 6364"/>
            </a:avLst>
          </a:prstGeom>
          <a:solidFill>
            <a:srgbClr val="E9F8F5"/>
          </a:solidFill>
          <a:ln w="12700">
            <a:solidFill>
              <a:srgbClr val="DCE3EC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7693152" y="2377440"/>
            <a:ext cx="131064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0C7C7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REPLACE</a:t>
            </a:r>
            <a:endParaRPr lang="en-US" sz="1150" dirty="0"/>
          </a:p>
        </p:txBody>
      </p:sp>
      <p:sp>
        <p:nvSpPr>
          <p:cNvPr id="18" name="Text 16"/>
          <p:cNvSpPr/>
          <p:nvPr/>
        </p:nvSpPr>
        <p:spPr>
          <a:xfrm>
            <a:off x="9049512" y="2697480"/>
            <a:ext cx="384048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0C7C7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2000" dirty="0"/>
          </a:p>
        </p:txBody>
      </p:sp>
      <p:sp>
        <p:nvSpPr>
          <p:cNvPr id="19" name="Shape 17"/>
          <p:cNvSpPr/>
          <p:nvPr/>
        </p:nvSpPr>
        <p:spPr>
          <a:xfrm>
            <a:off x="9433560" y="2377440"/>
            <a:ext cx="1402080" cy="1005840"/>
          </a:xfrm>
          <a:prstGeom prst="roundRect">
            <a:avLst>
              <a:gd name="adj" fmla="val 6364"/>
            </a:avLst>
          </a:prstGeom>
          <a:solidFill>
            <a:srgbClr val="0B2545"/>
          </a:solidFill>
          <a:ln w="12700">
            <a:solidFill>
              <a:srgbClr val="DCE3EC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9479280" y="2377440"/>
            <a:ext cx="131064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Business Value</a:t>
            </a:r>
            <a:endParaRPr lang="en-US" sz="1150" dirty="0"/>
          </a:p>
        </p:txBody>
      </p:sp>
      <p:sp>
        <p:nvSpPr>
          <p:cNvPr id="21" name="Shape 19"/>
          <p:cNvSpPr/>
          <p:nvPr/>
        </p:nvSpPr>
        <p:spPr>
          <a:xfrm>
            <a:off x="502920" y="3749040"/>
            <a:ext cx="11155680" cy="594360"/>
          </a:xfrm>
          <a:prstGeom prst="roundRect">
            <a:avLst>
              <a:gd name="adj" fmla="val 10769"/>
            </a:avLst>
          </a:prstGeom>
          <a:solidFill>
            <a:srgbClr val="F3F6F9"/>
          </a:solidFill>
          <a:ln w="12700">
            <a:solidFill>
              <a:srgbClr val="DCE3EC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685800" y="3749040"/>
            <a:ext cx="1078992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0B254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Farhan  → (TRIM) → Farhan → (UPPER) → FARHAN → (LEFT,3) → FAR → business-ready code fragment</a:t>
            </a:r>
            <a:endParaRPr lang="en-US" sz="1300" dirty="0"/>
          </a:p>
        </p:txBody>
      </p:sp>
      <p:sp>
        <p:nvSpPr>
          <p:cNvPr id="23" name="Shape 21"/>
          <p:cNvSpPr/>
          <p:nvPr/>
        </p:nvSpPr>
        <p:spPr>
          <a:xfrm>
            <a:off x="502920" y="4572000"/>
            <a:ext cx="11155680" cy="1645920"/>
          </a:xfrm>
          <a:prstGeom prst="roundRect">
            <a:avLst>
              <a:gd name="adj" fmla="val 3889"/>
            </a:avLst>
          </a:prstGeom>
          <a:solidFill>
            <a:srgbClr val="0B2545"/>
          </a:solidFill>
          <a:ln/>
        </p:spPr>
      </p:sp>
      <p:sp>
        <p:nvSpPr>
          <p:cNvPr id="24" name="Text 22"/>
          <p:cNvSpPr/>
          <p:nvPr/>
        </p:nvSpPr>
        <p:spPr>
          <a:xfrm>
            <a:off x="731520" y="4690872"/>
            <a:ext cx="1069848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spc="150" kern="0" dirty="0">
                <a:solidFill>
                  <a:srgbClr val="14B8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FUNCTION NESTING RULE</a:t>
            </a:r>
            <a:endParaRPr lang="en-US" sz="1100" dirty="0"/>
          </a:p>
        </p:txBody>
      </p:sp>
      <p:sp>
        <p:nvSpPr>
          <p:cNvPr id="25" name="Text 23"/>
          <p:cNvSpPr/>
          <p:nvPr/>
        </p:nvSpPr>
        <p:spPr>
          <a:xfrm>
            <a:off x="731520" y="4956048"/>
            <a:ext cx="10698480" cy="11430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12000"/>
              </a:lnSpc>
              <a:buNone/>
            </a:pPr>
            <a:r>
              <a:rPr lang="en-US" sz="12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Real business queries rarely use one string function alone — they NEST them. The INNERMOST function evaluates first, exactly like the inner-query-first rule you learned for Subqueries in Day 9. UPPER(TRIM(first_name)) first strips the stray spaces, THEN uppercases the result — reversing the order would still work here, but for functions like SUBSTRING(TRIM(name),2) the order genuinely changes the result.</a:t>
            </a:r>
            <a:endParaRPr lang="en-US" sz="1250" dirty="0"/>
          </a:p>
        </p:txBody>
      </p:sp>
      <p:sp>
        <p:nvSpPr>
          <p:cNvPr id="26" name="Text 24"/>
          <p:cNvSpPr/>
          <p:nvPr/>
        </p:nvSpPr>
        <p:spPr>
          <a:xfrm>
            <a:off x="365760" y="6519672"/>
            <a:ext cx="6400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000" i="1" dirty="0">
                <a:solidFill>
                  <a:srgbClr val="6272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Shalinee Priya   |   Data Analyst  ·  SQL Trainer</a:t>
            </a:r>
            <a:endParaRPr lang="en-US" sz="1000" dirty="0"/>
          </a:p>
        </p:txBody>
      </p:sp>
      <p:sp>
        <p:nvSpPr>
          <p:cNvPr id="27" name="Shape 25"/>
          <p:cNvSpPr/>
          <p:nvPr/>
        </p:nvSpPr>
        <p:spPr>
          <a:xfrm>
            <a:off x="11109960" y="6473952"/>
            <a:ext cx="713232" cy="292608"/>
          </a:xfrm>
          <a:prstGeom prst="roundRect">
            <a:avLst>
              <a:gd name="adj" fmla="val 18750"/>
            </a:avLst>
          </a:prstGeom>
          <a:solidFill>
            <a:srgbClr val="0B2545"/>
          </a:solidFill>
          <a:ln/>
        </p:spPr>
      </p:sp>
      <p:sp>
        <p:nvSpPr>
          <p:cNvPr id="28" name="Text 26"/>
          <p:cNvSpPr/>
          <p:nvPr/>
        </p:nvSpPr>
        <p:spPr>
          <a:xfrm>
            <a:off x="11109960" y="6473952"/>
            <a:ext cx="713232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9/26</a:t>
            </a:r>
            <a:endParaRPr lang="en-US" sz="11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320040"/>
            <a:ext cx="9144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0C7C7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CATEGORY MAP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02920" y="566928"/>
            <a:ext cx="1078992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0B2545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Numeric Functions Overview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502920" y="1783080"/>
            <a:ext cx="6492240" cy="4160520"/>
          </a:xfrm>
          <a:prstGeom prst="roundRect">
            <a:avLst>
              <a:gd name="adj" fmla="val 1538"/>
            </a:avLst>
          </a:prstGeom>
          <a:solidFill>
            <a:srgbClr val="F3F6F9"/>
          </a:solidFill>
          <a:ln w="12700">
            <a:solidFill>
              <a:srgbClr val="DCE3EC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777240" y="1965960"/>
            <a:ext cx="548640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b="1" spc="150" kern="0" dirty="0">
                <a:solidFill>
                  <a:srgbClr val="0C7C7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CORE BUSINESS FUNCTIONS</a:t>
            </a:r>
            <a:endParaRPr lang="en-US" sz="1050" dirty="0"/>
          </a:p>
        </p:txBody>
      </p:sp>
      <p:sp>
        <p:nvSpPr>
          <p:cNvPr id="6" name="Text 4"/>
          <p:cNvSpPr/>
          <p:nvPr/>
        </p:nvSpPr>
        <p:spPr>
          <a:xfrm>
            <a:off x="777240" y="2286000"/>
            <a:ext cx="5943600" cy="35661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228600" indent="-228600">
              <a:lnSpc>
                <a:spcPct val="120000"/>
              </a:lnSpc>
              <a:buSzPct val="100000"/>
              <a:buChar char="•"/>
            </a:pPr>
            <a:r>
              <a:rPr lang="en-US" sz="1400" dirty="0">
                <a:solidFill>
                  <a:srgbClr val="1120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ROUND()  ·  TRUNCATE()</a:t>
            </a:r>
            <a:endParaRPr lang="en-US" sz="1400" dirty="0"/>
          </a:p>
          <a:p>
            <a:pPr marL="228600" indent="-228600">
              <a:lnSpc>
                <a:spcPct val="120000"/>
              </a:lnSpc>
              <a:buSzPct val="100000"/>
              <a:buChar char="•"/>
            </a:pPr>
            <a:r>
              <a:rPr lang="en-US" sz="1400" dirty="0">
                <a:solidFill>
                  <a:srgbClr val="1120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CEIL() / CEILING()  ·  FLOOR()</a:t>
            </a:r>
            <a:endParaRPr lang="en-US" sz="1400" dirty="0"/>
          </a:p>
          <a:p>
            <a:pPr marL="228600" indent="-228600">
              <a:lnSpc>
                <a:spcPct val="120000"/>
              </a:lnSpc>
              <a:buSzPct val="100000"/>
              <a:buChar char="•"/>
            </a:pPr>
            <a:r>
              <a:rPr lang="en-US" sz="1400" dirty="0">
                <a:solidFill>
                  <a:srgbClr val="1120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ABS()  — absolute value, difference analysis</a:t>
            </a:r>
            <a:endParaRPr lang="en-US" sz="1400" dirty="0"/>
          </a:p>
          <a:p>
            <a:pPr marL="228600" indent="-228600">
              <a:lnSpc>
                <a:spcPct val="120000"/>
              </a:lnSpc>
              <a:buSzPct val="100000"/>
              <a:buChar char="•"/>
            </a:pPr>
            <a:r>
              <a:rPr lang="en-US" sz="1400" dirty="0">
                <a:solidFill>
                  <a:srgbClr val="1120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MOD()  — remainder, even/odd, cyclic logic</a:t>
            </a:r>
            <a:endParaRPr lang="en-US" sz="1400" dirty="0"/>
          </a:p>
          <a:p>
            <a:pPr marL="228600" indent="-228600">
              <a:lnSpc>
                <a:spcPct val="120000"/>
              </a:lnSpc>
              <a:buSzPct val="100000"/>
              <a:buChar char="•"/>
            </a:pPr>
            <a:r>
              <a:rPr lang="en-US" sz="1400" dirty="0">
                <a:solidFill>
                  <a:srgbClr val="1120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POWER()  ·  SQRT()</a:t>
            </a:r>
            <a:endParaRPr lang="en-US" sz="1400" dirty="0"/>
          </a:p>
          <a:p>
            <a:pPr marL="228600" indent="-228600">
              <a:lnSpc>
                <a:spcPct val="120000"/>
              </a:lnSpc>
              <a:buSzPct val="100000"/>
              <a:buChar char="•"/>
            </a:pPr>
            <a:r>
              <a:rPr lang="en-US" sz="1400" dirty="0">
                <a:solidFill>
                  <a:srgbClr val="1120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SIGN()  — -1 / 0 / 1</a:t>
            </a:r>
            <a:endParaRPr lang="en-US" sz="1400" dirty="0"/>
          </a:p>
          <a:p>
            <a:pPr marL="228600" indent="-228600">
              <a:lnSpc>
                <a:spcPct val="120000"/>
              </a:lnSpc>
              <a:buSzPct val="100000"/>
              <a:buChar char="•"/>
            </a:pPr>
            <a:r>
              <a:rPr lang="en-US" sz="1400" dirty="0">
                <a:solidFill>
                  <a:srgbClr val="1120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GREATEST()  ·  LEAST()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777240" y="5440680"/>
            <a:ext cx="5943600" cy="4114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050" i="1" dirty="0">
                <a:solidFill>
                  <a:srgbClr val="6272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INTERVIEW / AWARENESS — GREATEST(10, NULL, 20) returns NULL. A NULL argument affects the result; don't assume NULL behaves like 0.</a:t>
            </a:r>
            <a:endParaRPr lang="en-US" sz="1050" dirty="0"/>
          </a:p>
        </p:txBody>
      </p:sp>
      <p:sp>
        <p:nvSpPr>
          <p:cNvPr id="8" name="Shape 6"/>
          <p:cNvSpPr/>
          <p:nvPr/>
        </p:nvSpPr>
        <p:spPr>
          <a:xfrm>
            <a:off x="7178040" y="1783080"/>
            <a:ext cx="4480560" cy="4160520"/>
          </a:xfrm>
          <a:prstGeom prst="roundRect">
            <a:avLst>
              <a:gd name="adj" fmla="val 1538"/>
            </a:avLst>
          </a:prstGeom>
          <a:solidFill>
            <a:srgbClr val="0B2545"/>
          </a:solidFill>
          <a:ln w="12700">
            <a:solidFill>
              <a:srgbClr val="DCE3EC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7452360" y="1965960"/>
            <a:ext cx="393192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b="1" spc="150" kern="0" dirty="0">
                <a:solidFill>
                  <a:srgbClr val="14B8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INTERVIEW / AWARENESS ONLY</a:t>
            </a:r>
            <a:endParaRPr lang="en-US" sz="1050" dirty="0"/>
          </a:p>
        </p:txBody>
      </p:sp>
      <p:sp>
        <p:nvSpPr>
          <p:cNvPr id="10" name="Text 8"/>
          <p:cNvSpPr/>
          <p:nvPr/>
        </p:nvSpPr>
        <p:spPr>
          <a:xfrm>
            <a:off x="7452360" y="2377440"/>
            <a:ext cx="3931920" cy="25603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228600" indent="-228600">
              <a:lnSpc>
                <a:spcPct val="120000"/>
              </a:lnSpc>
              <a:buSzPct val="100000"/>
              <a:buChar char="•"/>
            </a:pPr>
            <a:r>
              <a:rPr lang="en-US" sz="13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RAND()  — random 0 to 1</a:t>
            </a:r>
            <a:endParaRPr lang="en-US" sz="1350" dirty="0"/>
          </a:p>
          <a:p>
            <a:pPr marL="228600" indent="-228600">
              <a:lnSpc>
                <a:spcPct val="120000"/>
              </a:lnSpc>
              <a:buSzPct val="100000"/>
              <a:buChar char="•"/>
            </a:pPr>
            <a:r>
              <a:rPr lang="en-US" sz="13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LOG()  ·  LOG10()</a:t>
            </a:r>
            <a:endParaRPr lang="en-US" sz="1350" dirty="0"/>
          </a:p>
          <a:p>
            <a:pPr marL="228600" indent="-228600">
              <a:lnSpc>
                <a:spcPct val="120000"/>
              </a:lnSpc>
              <a:buSzPct val="100000"/>
              <a:buChar char="•"/>
            </a:pPr>
            <a:r>
              <a:rPr lang="en-US" sz="13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EXP()  — e to the power of x</a:t>
            </a:r>
            <a:endParaRPr lang="en-US" sz="1350" dirty="0"/>
          </a:p>
          <a:p>
            <a:pPr marL="228600" indent="-228600">
              <a:lnSpc>
                <a:spcPct val="120000"/>
              </a:lnSpc>
              <a:buSzPct val="100000"/>
              <a:buChar char="•"/>
            </a:pPr>
            <a:r>
              <a:rPr lang="en-US" sz="13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PI()  — the constant π</a:t>
            </a:r>
            <a:endParaRPr lang="en-US" sz="1350" dirty="0"/>
          </a:p>
        </p:txBody>
      </p:sp>
      <p:sp>
        <p:nvSpPr>
          <p:cNvPr id="11" name="Text 9"/>
          <p:cNvSpPr/>
          <p:nvPr/>
        </p:nvSpPr>
        <p:spPr>
          <a:xfrm>
            <a:off x="7452360" y="5029200"/>
            <a:ext cx="3931920" cy="8229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150" i="1" dirty="0">
                <a:solidFill>
                  <a:srgbClr val="C7D0D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Rarely hand-written in everyday business SQL — know they exist, don't over-invest classroom time here.</a:t>
            </a:r>
            <a:endParaRPr lang="en-US" sz="1150" dirty="0"/>
          </a:p>
        </p:txBody>
      </p:sp>
      <p:sp>
        <p:nvSpPr>
          <p:cNvPr id="12" name="Text 10"/>
          <p:cNvSpPr/>
          <p:nvPr/>
        </p:nvSpPr>
        <p:spPr>
          <a:xfrm>
            <a:off x="365760" y="6519672"/>
            <a:ext cx="6400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000" i="1" dirty="0">
                <a:solidFill>
                  <a:srgbClr val="6272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Shalinee Priya   |   Data Analyst  ·  SQL Trainer</a:t>
            </a:r>
            <a:endParaRPr lang="en-US" sz="1000" dirty="0"/>
          </a:p>
        </p:txBody>
      </p:sp>
      <p:sp>
        <p:nvSpPr>
          <p:cNvPr id="13" name="Shape 11"/>
          <p:cNvSpPr/>
          <p:nvPr/>
        </p:nvSpPr>
        <p:spPr>
          <a:xfrm>
            <a:off x="11109960" y="6473952"/>
            <a:ext cx="713232" cy="292608"/>
          </a:xfrm>
          <a:prstGeom prst="roundRect">
            <a:avLst>
              <a:gd name="adj" fmla="val 18750"/>
            </a:avLst>
          </a:prstGeom>
          <a:solidFill>
            <a:srgbClr val="0B2545"/>
          </a:solidFill>
          <a:ln/>
        </p:spPr>
      </p:sp>
      <p:sp>
        <p:nvSpPr>
          <p:cNvPr id="14" name="Text 12"/>
          <p:cNvSpPr/>
          <p:nvPr/>
        </p:nvSpPr>
        <p:spPr>
          <a:xfrm>
            <a:off x="11109960" y="6473952"/>
            <a:ext cx="713232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10/26</a:t>
            </a:r>
            <a:endParaRPr lang="en-US" sz="11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320040"/>
            <a:ext cx="9144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0C7C7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#1 NUMERIC INTERVIEW PAIR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02920" y="566928"/>
            <a:ext cx="1078992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0B2545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ROUND vs TRUNCATE  ·  CEIL vs FLOOR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502920" y="1783080"/>
            <a:ext cx="5440680" cy="1965960"/>
          </a:xfrm>
          <a:prstGeom prst="roundRect">
            <a:avLst>
              <a:gd name="adj" fmla="val 3256"/>
            </a:avLst>
          </a:prstGeom>
          <a:solidFill>
            <a:srgbClr val="14B8A6"/>
          </a:solidFill>
          <a:ln w="12700">
            <a:solidFill>
              <a:srgbClr val="DCE3EC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502920" y="1874520"/>
            <a:ext cx="54406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600" b="1" dirty="0">
                <a:solidFill>
                  <a:srgbClr val="0B2545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15.789</a:t>
            </a:r>
            <a:endParaRPr lang="en-US" sz="2600" dirty="0"/>
          </a:p>
        </p:txBody>
      </p:sp>
      <p:sp>
        <p:nvSpPr>
          <p:cNvPr id="6" name="Text 4"/>
          <p:cNvSpPr/>
          <p:nvPr/>
        </p:nvSpPr>
        <p:spPr>
          <a:xfrm>
            <a:off x="822960" y="2423160"/>
            <a:ext cx="48463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B254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ROUND(15.789, 2)  =  15.79</a:t>
            </a:r>
            <a:endParaRPr lang="en-US" sz="1500" dirty="0"/>
          </a:p>
        </p:txBody>
      </p:sp>
      <p:sp>
        <p:nvSpPr>
          <p:cNvPr id="7" name="Text 5"/>
          <p:cNvSpPr/>
          <p:nvPr/>
        </p:nvSpPr>
        <p:spPr>
          <a:xfrm>
            <a:off x="822960" y="2834640"/>
            <a:ext cx="48463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i="1" dirty="0">
                <a:solidFill>
                  <a:srgbClr val="1331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rounds to nearest — the '9' pushes it UP</a:t>
            </a:r>
            <a:endParaRPr lang="en-US" sz="1150" dirty="0"/>
          </a:p>
        </p:txBody>
      </p:sp>
      <p:sp>
        <p:nvSpPr>
          <p:cNvPr id="8" name="Text 6"/>
          <p:cNvSpPr/>
          <p:nvPr/>
        </p:nvSpPr>
        <p:spPr>
          <a:xfrm>
            <a:off x="822960" y="3246120"/>
            <a:ext cx="48463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B254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TRUNCATE(15.789, 2)  =  15.78</a:t>
            </a:r>
            <a:endParaRPr lang="en-US" sz="1500" dirty="0"/>
          </a:p>
        </p:txBody>
      </p:sp>
      <p:sp>
        <p:nvSpPr>
          <p:cNvPr id="9" name="Shape 7"/>
          <p:cNvSpPr/>
          <p:nvPr/>
        </p:nvSpPr>
        <p:spPr>
          <a:xfrm>
            <a:off x="6217920" y="1783080"/>
            <a:ext cx="5440680" cy="1965960"/>
          </a:xfrm>
          <a:prstGeom prst="roundRect">
            <a:avLst>
              <a:gd name="adj" fmla="val 3256"/>
            </a:avLst>
          </a:prstGeom>
          <a:solidFill>
            <a:srgbClr val="1B3F73"/>
          </a:solidFill>
          <a:ln w="12700">
            <a:solidFill>
              <a:srgbClr val="DCE3EC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6217920" y="1874520"/>
            <a:ext cx="54406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15.1  and  15.9</a:t>
            </a:r>
            <a:endParaRPr lang="en-US" sz="2200" dirty="0"/>
          </a:p>
        </p:txBody>
      </p:sp>
      <p:sp>
        <p:nvSpPr>
          <p:cNvPr id="11" name="Text 9"/>
          <p:cNvSpPr/>
          <p:nvPr/>
        </p:nvSpPr>
        <p:spPr>
          <a:xfrm>
            <a:off x="6537960" y="2423160"/>
            <a:ext cx="484632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CEIL(15.1) = 16      CEIL(15.9) = 16</a:t>
            </a:r>
            <a:endParaRPr lang="en-US" sz="1400" dirty="0"/>
          </a:p>
        </p:txBody>
      </p:sp>
      <p:sp>
        <p:nvSpPr>
          <p:cNvPr id="12" name="Text 10"/>
          <p:cNvSpPr/>
          <p:nvPr/>
        </p:nvSpPr>
        <p:spPr>
          <a:xfrm>
            <a:off x="6537960" y="2834640"/>
            <a:ext cx="484632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FLOOR(15.1) = 15      FLOOR(15.9) = 15</a:t>
            </a:r>
            <a:endParaRPr lang="en-US" sz="1400" dirty="0"/>
          </a:p>
        </p:txBody>
      </p:sp>
      <p:sp>
        <p:nvSpPr>
          <p:cNvPr id="13" name="Text 11"/>
          <p:cNvSpPr/>
          <p:nvPr/>
        </p:nvSpPr>
        <p:spPr>
          <a:xfrm>
            <a:off x="6537960" y="3291840"/>
            <a:ext cx="48463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C7D0D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CEIL always rounds UP · FLOOR always rounds DOWN — regardless of how close the decimal is</a:t>
            </a:r>
            <a:endParaRPr lang="en-US" sz="1100" dirty="0"/>
          </a:p>
        </p:txBody>
      </p:sp>
      <p:sp>
        <p:nvSpPr>
          <p:cNvPr id="14" name="Shape 12"/>
          <p:cNvSpPr/>
          <p:nvPr/>
        </p:nvSpPr>
        <p:spPr>
          <a:xfrm>
            <a:off x="502920" y="3977640"/>
            <a:ext cx="11155680" cy="2194560"/>
          </a:xfrm>
          <a:prstGeom prst="roundRect">
            <a:avLst>
              <a:gd name="adj" fmla="val 2917"/>
            </a:avLst>
          </a:prstGeom>
          <a:solidFill>
            <a:srgbClr val="0B2545"/>
          </a:solidFill>
          <a:ln/>
        </p:spPr>
      </p:sp>
      <p:sp>
        <p:nvSpPr>
          <p:cNvPr id="15" name="Text 13"/>
          <p:cNvSpPr/>
          <p:nvPr/>
        </p:nvSpPr>
        <p:spPr>
          <a:xfrm>
            <a:off x="731520" y="4096512"/>
            <a:ext cx="1069848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spc="150" kern="0" dirty="0">
                <a:solidFill>
                  <a:srgbClr val="14B8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INTERVIEW TRAP — NEGATIVE NUMBERS</a:t>
            </a:r>
            <a:endParaRPr lang="en-US" sz="1100" dirty="0"/>
          </a:p>
        </p:txBody>
      </p:sp>
      <p:sp>
        <p:nvSpPr>
          <p:cNvPr id="16" name="Text 14"/>
          <p:cNvSpPr/>
          <p:nvPr/>
        </p:nvSpPr>
        <p:spPr>
          <a:xfrm>
            <a:off x="731520" y="4361688"/>
            <a:ext cx="10698480" cy="16916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12000"/>
              </a:lnSpc>
              <a:buNone/>
            </a:pPr>
            <a:r>
              <a:rPr lang="en-US" sz="12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For a NEGATIVE number, CEIL() and FLOOR() do NOT behave the way most people assume. CEIL(-15.4) = -15 (moves TOWARD zero). FLOOR(-15.4) = -16 (moves AWAY from zero). This single question — “what does CEIL(-15.4) return?” — catches more candidates off guard than almost any other numeric-function question, precisely because the positive-number intuition (“CEIL rounds up = bigger”) quietly breaks for negatives.</a:t>
            </a:r>
            <a:endParaRPr lang="en-US" sz="1250" dirty="0"/>
          </a:p>
        </p:txBody>
      </p:sp>
      <p:sp>
        <p:nvSpPr>
          <p:cNvPr id="17" name="Text 15"/>
          <p:cNvSpPr/>
          <p:nvPr/>
        </p:nvSpPr>
        <p:spPr>
          <a:xfrm>
            <a:off x="365760" y="6519672"/>
            <a:ext cx="6400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000" i="1" dirty="0">
                <a:solidFill>
                  <a:srgbClr val="6272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Shalinee Priya   |   Data Analyst  ·  SQL Trainer</a:t>
            </a:r>
            <a:endParaRPr lang="en-US" sz="1000" dirty="0"/>
          </a:p>
        </p:txBody>
      </p:sp>
      <p:sp>
        <p:nvSpPr>
          <p:cNvPr id="18" name="Shape 16"/>
          <p:cNvSpPr/>
          <p:nvPr/>
        </p:nvSpPr>
        <p:spPr>
          <a:xfrm>
            <a:off x="11109960" y="6473952"/>
            <a:ext cx="713232" cy="292608"/>
          </a:xfrm>
          <a:prstGeom prst="roundRect">
            <a:avLst>
              <a:gd name="adj" fmla="val 18750"/>
            </a:avLst>
          </a:prstGeom>
          <a:solidFill>
            <a:srgbClr val="0B2545"/>
          </a:solidFill>
          <a:ln/>
        </p:spPr>
      </p:sp>
      <p:sp>
        <p:nvSpPr>
          <p:cNvPr id="19" name="Text 17"/>
          <p:cNvSpPr/>
          <p:nvPr/>
        </p:nvSpPr>
        <p:spPr>
          <a:xfrm>
            <a:off x="11109960" y="6473952"/>
            <a:ext cx="713232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11/26</a:t>
            </a:r>
            <a:endParaRPr lang="en-US" sz="11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320040"/>
            <a:ext cx="9144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0C7C7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PIPELINE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02920" y="566928"/>
            <a:ext cx="1078992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0B2545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Numeric Business Calculations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502920" y="2011680"/>
            <a:ext cx="2446020" cy="914400"/>
          </a:xfrm>
          <a:prstGeom prst="roundRect">
            <a:avLst>
              <a:gd name="adj" fmla="val 7000"/>
            </a:avLst>
          </a:prstGeom>
          <a:solidFill>
            <a:srgbClr val="F3F6F9"/>
          </a:solidFill>
          <a:ln w="12700">
            <a:solidFill>
              <a:srgbClr val="DCE3EC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502920" y="2011680"/>
            <a:ext cx="244602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C7C7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Raw Salary</a:t>
            </a:r>
            <a:endParaRPr lang="en-US" sz="1300" dirty="0"/>
          </a:p>
        </p:txBody>
      </p:sp>
      <p:sp>
        <p:nvSpPr>
          <p:cNvPr id="6" name="Text 4"/>
          <p:cNvSpPr/>
          <p:nvPr/>
        </p:nvSpPr>
        <p:spPr>
          <a:xfrm>
            <a:off x="2948940" y="2286000"/>
            <a:ext cx="457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0C7C7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2000" dirty="0"/>
          </a:p>
        </p:txBody>
      </p:sp>
      <p:sp>
        <p:nvSpPr>
          <p:cNvPr id="7" name="Shape 5"/>
          <p:cNvSpPr/>
          <p:nvPr/>
        </p:nvSpPr>
        <p:spPr>
          <a:xfrm>
            <a:off x="3406140" y="2011680"/>
            <a:ext cx="2446020" cy="914400"/>
          </a:xfrm>
          <a:prstGeom prst="roundRect">
            <a:avLst>
              <a:gd name="adj" fmla="val 7000"/>
            </a:avLst>
          </a:prstGeom>
          <a:solidFill>
            <a:srgbClr val="E9F8F5"/>
          </a:solidFill>
          <a:ln w="12700">
            <a:solidFill>
              <a:srgbClr val="DCE3EC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3406140" y="2011680"/>
            <a:ext cx="244602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C7C7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Expression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5852160" y="2286000"/>
            <a:ext cx="457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0C7C7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2000" dirty="0"/>
          </a:p>
        </p:txBody>
      </p:sp>
      <p:sp>
        <p:nvSpPr>
          <p:cNvPr id="10" name="Shape 8"/>
          <p:cNvSpPr/>
          <p:nvPr/>
        </p:nvSpPr>
        <p:spPr>
          <a:xfrm>
            <a:off x="6309360" y="2011680"/>
            <a:ext cx="2446020" cy="914400"/>
          </a:xfrm>
          <a:prstGeom prst="roundRect">
            <a:avLst>
              <a:gd name="adj" fmla="val 7000"/>
            </a:avLst>
          </a:prstGeom>
          <a:solidFill>
            <a:srgbClr val="E9F8F5"/>
          </a:solidFill>
          <a:ln w="12700">
            <a:solidFill>
              <a:srgbClr val="DCE3EC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6309360" y="2011680"/>
            <a:ext cx="244602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C7C7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ROUND()</a:t>
            </a:r>
            <a:endParaRPr lang="en-US" sz="1300" dirty="0"/>
          </a:p>
        </p:txBody>
      </p:sp>
      <p:sp>
        <p:nvSpPr>
          <p:cNvPr id="12" name="Text 10"/>
          <p:cNvSpPr/>
          <p:nvPr/>
        </p:nvSpPr>
        <p:spPr>
          <a:xfrm>
            <a:off x="8755380" y="2286000"/>
            <a:ext cx="457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0C7C7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2000" dirty="0"/>
          </a:p>
        </p:txBody>
      </p:sp>
      <p:sp>
        <p:nvSpPr>
          <p:cNvPr id="13" name="Shape 11"/>
          <p:cNvSpPr/>
          <p:nvPr/>
        </p:nvSpPr>
        <p:spPr>
          <a:xfrm>
            <a:off x="9212580" y="2011680"/>
            <a:ext cx="2446020" cy="914400"/>
          </a:xfrm>
          <a:prstGeom prst="roundRect">
            <a:avLst>
              <a:gd name="adj" fmla="val 7000"/>
            </a:avLst>
          </a:prstGeom>
          <a:solidFill>
            <a:srgbClr val="0B2545"/>
          </a:solidFill>
          <a:ln w="12700">
            <a:solidFill>
              <a:srgbClr val="DCE3EC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9212580" y="2011680"/>
            <a:ext cx="244602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Business Metric</a:t>
            </a:r>
            <a:endParaRPr lang="en-US" sz="1300" dirty="0"/>
          </a:p>
        </p:txBody>
      </p:sp>
      <p:sp>
        <p:nvSpPr>
          <p:cNvPr id="15" name="Shape 13"/>
          <p:cNvSpPr/>
          <p:nvPr/>
        </p:nvSpPr>
        <p:spPr>
          <a:xfrm>
            <a:off x="502920" y="3246120"/>
            <a:ext cx="11155680" cy="1828800"/>
          </a:xfrm>
          <a:prstGeom prst="roundRect">
            <a:avLst>
              <a:gd name="adj" fmla="val 3000"/>
            </a:avLst>
          </a:prstGeom>
          <a:solidFill>
            <a:srgbClr val="13315C"/>
          </a:solidFill>
          <a:ln w="12700">
            <a:solidFill>
              <a:srgbClr val="14B8A6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704088" y="3374136"/>
            <a:ext cx="10753344" cy="157276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18000"/>
              </a:lnSpc>
              <a:buNone/>
            </a:pPr>
            <a:r>
              <a:rPr lang="en-US" sz="13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SELECT first_name, salary, bonus_pct,</a:t>
            </a:r>
            <a:endParaRPr lang="en-US" sz="1300" dirty="0"/>
          </a:p>
          <a:p>
            <a:pPr indent="0" marL="0">
              <a:lnSpc>
                <a:spcPct val="118000"/>
              </a:lnSpc>
              <a:buNone/>
            </a:pPr>
            <a:r>
              <a:rPr lang="en-US" sz="13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ROUND(salary * bonus_pct / 100, 2)          AS bonus_amount,</a:t>
            </a:r>
            <a:endParaRPr lang="en-US" sz="1300" dirty="0"/>
          </a:p>
          <a:p>
            <a:pPr indent="0" marL="0">
              <a:lnSpc>
                <a:spcPct val="118000"/>
              </a:lnSpc>
              <a:buNone/>
            </a:pPr>
            <a:r>
              <a:rPr lang="en-US" sz="13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ROUND(salary / 12, 2)                        AS monthly_salary,</a:t>
            </a:r>
            <a:endParaRPr lang="en-US" sz="1300" dirty="0"/>
          </a:p>
          <a:p>
            <a:pPr indent="0" marL="0">
              <a:lnSpc>
                <a:spcPct val="118000"/>
              </a:lnSpc>
              <a:buNone/>
            </a:pPr>
            <a:r>
              <a:rPr lang="en-US" sz="13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ROUND(salary + (salary * bonus_pct / 100), 2) AS total_annual_compensation</a:t>
            </a:r>
            <a:endParaRPr lang="en-US" sz="1300" dirty="0"/>
          </a:p>
          <a:p>
            <a:pPr indent="0" marL="0">
              <a:lnSpc>
                <a:spcPct val="118000"/>
              </a:lnSpc>
              <a:buNone/>
            </a:pPr>
            <a:r>
              <a:rPr lang="en-US" sz="13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FROM employees;</a:t>
            </a:r>
            <a:endParaRPr lang="en-US" sz="1300" dirty="0"/>
          </a:p>
        </p:txBody>
      </p:sp>
      <p:sp>
        <p:nvSpPr>
          <p:cNvPr id="17" name="Shape 15"/>
          <p:cNvSpPr/>
          <p:nvPr/>
        </p:nvSpPr>
        <p:spPr>
          <a:xfrm>
            <a:off x="502920" y="5212080"/>
            <a:ext cx="11155680" cy="1051560"/>
          </a:xfrm>
          <a:prstGeom prst="roundRect">
            <a:avLst>
              <a:gd name="adj" fmla="val 6087"/>
            </a:avLst>
          </a:prstGeom>
          <a:solidFill>
            <a:srgbClr val="0B2545"/>
          </a:solidFill>
          <a:ln/>
        </p:spPr>
      </p:sp>
      <p:sp>
        <p:nvSpPr>
          <p:cNvPr id="18" name="Text 16"/>
          <p:cNvSpPr/>
          <p:nvPr/>
        </p:nvSpPr>
        <p:spPr>
          <a:xfrm>
            <a:off x="731520" y="5330952"/>
            <a:ext cx="1069848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spc="150" kern="0" dirty="0">
                <a:solidFill>
                  <a:srgbClr val="14B8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NULL BEHAVIOR IN NUMERIC EXPRESSIONS</a:t>
            </a:r>
            <a:endParaRPr lang="en-US" sz="1100" dirty="0"/>
          </a:p>
        </p:txBody>
      </p:sp>
      <p:sp>
        <p:nvSpPr>
          <p:cNvPr id="19" name="Text 17"/>
          <p:cNvSpPr/>
          <p:nvPr/>
        </p:nvSpPr>
        <p:spPr>
          <a:xfrm>
            <a:off x="731520" y="5596128"/>
            <a:ext cx="10698480" cy="5486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12000"/>
              </a:lnSpc>
              <a:buNone/>
            </a:pPr>
            <a:r>
              <a:rPr lang="en-US" sz="12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Any arithmetic expression involving a NULL operand evaluates to NULL — not 0, and not an error. A missing bonus_pct would make bonus_amount evaluate to NULL, not 0. Full NULL handling in Section 9.</a:t>
            </a:r>
            <a:endParaRPr lang="en-US" sz="1250" dirty="0"/>
          </a:p>
        </p:txBody>
      </p:sp>
      <p:sp>
        <p:nvSpPr>
          <p:cNvPr id="20" name="Text 18"/>
          <p:cNvSpPr/>
          <p:nvPr/>
        </p:nvSpPr>
        <p:spPr>
          <a:xfrm>
            <a:off x="365760" y="6519672"/>
            <a:ext cx="6400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000" i="1" dirty="0">
                <a:solidFill>
                  <a:srgbClr val="6272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Shalinee Priya   |   Data Analyst  ·  SQL Trainer</a:t>
            </a:r>
            <a:endParaRPr lang="en-US" sz="1000" dirty="0"/>
          </a:p>
        </p:txBody>
      </p:sp>
      <p:sp>
        <p:nvSpPr>
          <p:cNvPr id="21" name="Shape 19"/>
          <p:cNvSpPr/>
          <p:nvPr/>
        </p:nvSpPr>
        <p:spPr>
          <a:xfrm>
            <a:off x="11109960" y="6473952"/>
            <a:ext cx="713232" cy="292608"/>
          </a:xfrm>
          <a:prstGeom prst="roundRect">
            <a:avLst>
              <a:gd name="adj" fmla="val 18750"/>
            </a:avLst>
          </a:prstGeom>
          <a:solidFill>
            <a:srgbClr val="0B2545"/>
          </a:solidFill>
          <a:ln/>
        </p:spPr>
      </p:sp>
      <p:sp>
        <p:nvSpPr>
          <p:cNvPr id="22" name="Text 20"/>
          <p:cNvSpPr/>
          <p:nvPr/>
        </p:nvSpPr>
        <p:spPr>
          <a:xfrm>
            <a:off x="11109960" y="6473952"/>
            <a:ext cx="713232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12/26</a:t>
            </a:r>
            <a:endParaRPr lang="en-US" sz="11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320040"/>
            <a:ext cx="9144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0C7C7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CATEGORY MAP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02920" y="566928"/>
            <a:ext cx="1078992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0B2545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Date &amp; Time Functions Overview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502920" y="1783080"/>
            <a:ext cx="5440680" cy="4160520"/>
          </a:xfrm>
          <a:prstGeom prst="roundRect">
            <a:avLst>
              <a:gd name="adj" fmla="val 1538"/>
            </a:avLst>
          </a:prstGeom>
          <a:solidFill>
            <a:srgbClr val="F3F6F9"/>
          </a:solidFill>
          <a:ln w="12700">
            <a:solidFill>
              <a:srgbClr val="DCE3EC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777240" y="1965960"/>
            <a:ext cx="484632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b="1" spc="150" kern="0" dirty="0">
                <a:solidFill>
                  <a:srgbClr val="0C7C7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CURRENT DATE / TIME</a:t>
            </a:r>
            <a:endParaRPr lang="en-US" sz="1050" dirty="0"/>
          </a:p>
        </p:txBody>
      </p:sp>
      <p:sp>
        <p:nvSpPr>
          <p:cNvPr id="6" name="Text 4"/>
          <p:cNvSpPr/>
          <p:nvPr/>
        </p:nvSpPr>
        <p:spPr>
          <a:xfrm>
            <a:off x="777240" y="2286000"/>
            <a:ext cx="4937760" cy="14630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228600" indent="-228600">
              <a:lnSpc>
                <a:spcPct val="120000"/>
              </a:lnSpc>
              <a:buSzPct val="100000"/>
              <a:buChar char="•"/>
            </a:pPr>
            <a:r>
              <a:rPr lang="en-US" sz="1350" dirty="0">
                <a:solidFill>
                  <a:srgbClr val="1120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CURDATE() / CURRENT_DATE()</a:t>
            </a:r>
            <a:endParaRPr lang="en-US" sz="1350" dirty="0"/>
          </a:p>
          <a:p>
            <a:pPr marL="228600" indent="-228600">
              <a:lnSpc>
                <a:spcPct val="120000"/>
              </a:lnSpc>
              <a:buSzPct val="100000"/>
              <a:buChar char="•"/>
            </a:pPr>
            <a:r>
              <a:rPr lang="en-US" sz="1350" dirty="0">
                <a:solidFill>
                  <a:srgbClr val="1120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CURTIME() / CURRENT_TIME()</a:t>
            </a:r>
            <a:endParaRPr lang="en-US" sz="1350" dirty="0"/>
          </a:p>
          <a:p>
            <a:pPr marL="228600" indent="-228600">
              <a:lnSpc>
                <a:spcPct val="120000"/>
              </a:lnSpc>
              <a:buSzPct val="100000"/>
              <a:buChar char="•"/>
            </a:pPr>
            <a:r>
              <a:rPr lang="en-US" sz="1350" dirty="0">
                <a:solidFill>
                  <a:srgbClr val="1120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NOW() / CURRENT_TIMESTAMP()</a:t>
            </a:r>
            <a:endParaRPr lang="en-US" sz="1350" dirty="0"/>
          </a:p>
          <a:p>
            <a:pPr marL="228600" indent="-228600">
              <a:lnSpc>
                <a:spcPct val="120000"/>
              </a:lnSpc>
              <a:buSzPct val="100000"/>
              <a:buChar char="•"/>
            </a:pPr>
            <a:r>
              <a:rPr lang="en-US" sz="1350" dirty="0">
                <a:solidFill>
                  <a:srgbClr val="1120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SYSDATE() — awareness only</a:t>
            </a:r>
            <a:endParaRPr lang="en-US" sz="1350" dirty="0"/>
          </a:p>
        </p:txBody>
      </p:sp>
      <p:sp>
        <p:nvSpPr>
          <p:cNvPr id="7" name="Text 5"/>
          <p:cNvSpPr/>
          <p:nvPr/>
        </p:nvSpPr>
        <p:spPr>
          <a:xfrm>
            <a:off x="777240" y="3886200"/>
            <a:ext cx="484632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b="1" spc="150" kern="0" dirty="0">
                <a:solidFill>
                  <a:srgbClr val="0C7C7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EXTRACTING DATE/TIME PARTS</a:t>
            </a:r>
            <a:endParaRPr lang="en-US" sz="1050" dirty="0"/>
          </a:p>
        </p:txBody>
      </p:sp>
      <p:sp>
        <p:nvSpPr>
          <p:cNvPr id="8" name="Text 6"/>
          <p:cNvSpPr/>
          <p:nvPr/>
        </p:nvSpPr>
        <p:spPr>
          <a:xfrm>
            <a:off x="777240" y="4187952"/>
            <a:ext cx="4937760" cy="14173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228600" indent="-228600">
              <a:lnSpc>
                <a:spcPct val="120000"/>
              </a:lnSpc>
              <a:buSzPct val="100000"/>
              <a:buChar char="•"/>
            </a:pPr>
            <a:r>
              <a:rPr lang="en-US" sz="1250" dirty="0">
                <a:solidFill>
                  <a:srgbClr val="1120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YEAR · MONTH · MONTHNAME · DAY</a:t>
            </a:r>
            <a:endParaRPr lang="en-US" sz="1250" dirty="0"/>
          </a:p>
          <a:p>
            <a:pPr marL="228600" indent="-228600">
              <a:lnSpc>
                <a:spcPct val="120000"/>
              </a:lnSpc>
              <a:buSzPct val="100000"/>
              <a:buChar char="•"/>
            </a:pPr>
            <a:r>
              <a:rPr lang="en-US" sz="1250" dirty="0">
                <a:solidFill>
                  <a:srgbClr val="1120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DAYNAME · DAYOFWEEK · WEEKDAY · DAYOFYEAR</a:t>
            </a:r>
            <a:endParaRPr lang="en-US" sz="1250" dirty="0"/>
          </a:p>
          <a:p>
            <a:pPr marL="228600" indent="-228600">
              <a:lnSpc>
                <a:spcPct val="120000"/>
              </a:lnSpc>
              <a:buSzPct val="100000"/>
              <a:buChar char="•"/>
            </a:pPr>
            <a:r>
              <a:rPr lang="en-US" sz="1250" dirty="0">
                <a:solidFill>
                  <a:srgbClr val="1120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QUARTER · WEEK()  ·  DATE() · TIME()</a:t>
            </a:r>
            <a:endParaRPr lang="en-US" sz="1250" dirty="0"/>
          </a:p>
          <a:p>
            <a:pPr marL="228600" indent="-228600">
              <a:lnSpc>
                <a:spcPct val="120000"/>
              </a:lnSpc>
              <a:buSzPct val="100000"/>
              <a:buChar char="•"/>
            </a:pPr>
            <a:r>
              <a:rPr lang="en-US" sz="1250" dirty="0">
                <a:solidFill>
                  <a:srgbClr val="1120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HOUR() · MINUTE() · SECOND() — DATETIME / TIME</a:t>
            </a:r>
            <a:endParaRPr lang="en-US" sz="1250" dirty="0"/>
          </a:p>
        </p:txBody>
      </p:sp>
      <p:sp>
        <p:nvSpPr>
          <p:cNvPr id="9" name="Text 7"/>
          <p:cNvSpPr/>
          <p:nvPr/>
        </p:nvSpPr>
        <p:spPr>
          <a:xfrm>
            <a:off x="777240" y="5504688"/>
            <a:ext cx="4937760" cy="4114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000" i="1" dirty="0">
                <a:solidFill>
                  <a:srgbClr val="6272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DAYOFWEEK (Sun=1) vs WEEKDAY (Mon=0) use different numbering — don't mix them up. WEEK() numbering also depends on MySQL's week-mode.</a:t>
            </a:r>
            <a:endParaRPr lang="en-US" sz="1000" dirty="0"/>
          </a:p>
        </p:txBody>
      </p:sp>
      <p:sp>
        <p:nvSpPr>
          <p:cNvPr id="10" name="Shape 8"/>
          <p:cNvSpPr/>
          <p:nvPr/>
        </p:nvSpPr>
        <p:spPr>
          <a:xfrm>
            <a:off x="6217920" y="1783080"/>
            <a:ext cx="5440680" cy="4160520"/>
          </a:xfrm>
          <a:prstGeom prst="roundRect">
            <a:avLst>
              <a:gd name="adj" fmla="val 1538"/>
            </a:avLst>
          </a:prstGeom>
          <a:solidFill>
            <a:srgbClr val="0B2545"/>
          </a:solidFill>
          <a:ln w="12700">
            <a:solidFill>
              <a:srgbClr val="DCE3EC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6492240" y="1965960"/>
            <a:ext cx="484632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b="1" spc="150" kern="0" dirty="0">
                <a:solidFill>
                  <a:srgbClr val="14B8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ARITHMETIC, DIFFERENCE &amp; FORMAT</a:t>
            </a:r>
            <a:endParaRPr lang="en-US" sz="1050" dirty="0"/>
          </a:p>
        </p:txBody>
      </p:sp>
      <p:sp>
        <p:nvSpPr>
          <p:cNvPr id="12" name="Text 10"/>
          <p:cNvSpPr/>
          <p:nvPr/>
        </p:nvSpPr>
        <p:spPr>
          <a:xfrm>
            <a:off x="6492240" y="2286000"/>
            <a:ext cx="4937760" cy="35661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228600" indent="-228600">
              <a:lnSpc>
                <a:spcPct val="120000"/>
              </a:lnSpc>
              <a:buSzPct val="100000"/>
              <a:buChar char="•"/>
            </a:pPr>
            <a:r>
              <a:rPr lang="en-US" sz="13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DATE_ADD() / DATE_SUB()  ·  ADDDATE() / SUBDATE()</a:t>
            </a:r>
            <a:endParaRPr lang="en-US" sz="1350" dirty="0"/>
          </a:p>
          <a:p>
            <a:pPr marL="228600" indent="-228600">
              <a:lnSpc>
                <a:spcPct val="120000"/>
              </a:lnSpc>
              <a:buSzPct val="100000"/>
              <a:buChar char="•"/>
            </a:pPr>
            <a:r>
              <a:rPr lang="en-US" sz="13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DATEDIFF()  ·  TIMEDIFF()  ·  TIMESTAMPDIFF()</a:t>
            </a:r>
            <a:endParaRPr lang="en-US" sz="1350" dirty="0"/>
          </a:p>
          <a:p>
            <a:pPr marL="228600" indent="-228600">
              <a:lnSpc>
                <a:spcPct val="120000"/>
              </a:lnSpc>
              <a:buSzPct val="100000"/>
              <a:buChar char="•"/>
            </a:pPr>
            <a:r>
              <a:rPr lang="en-US" sz="13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DATE_FORMAT()  ·  TIME_FORMAT()</a:t>
            </a:r>
            <a:endParaRPr lang="en-US" sz="1350" dirty="0"/>
          </a:p>
          <a:p>
            <a:pPr marL="228600" indent="-228600">
              <a:lnSpc>
                <a:spcPct val="120000"/>
              </a:lnSpc>
              <a:buSzPct val="100000"/>
              <a:buChar char="•"/>
            </a:pPr>
            <a:r>
              <a:rPr lang="en-US" sz="13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STR_TO_DATE()  ·  CAST()</a:t>
            </a:r>
            <a:endParaRPr lang="en-US" sz="1350" dirty="0"/>
          </a:p>
          <a:p>
            <a:pPr marL="228600" indent="-228600">
              <a:lnSpc>
                <a:spcPct val="120000"/>
              </a:lnSpc>
              <a:buSzPct val="100000"/>
              <a:buChar char="•"/>
            </a:pPr>
            <a:r>
              <a:rPr lang="en-US" sz="13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LAST_DAY()  ·  EXTRACT()</a:t>
            </a:r>
            <a:endParaRPr lang="en-US" sz="1350" dirty="0"/>
          </a:p>
          <a:p>
            <a:pPr marL="228600" indent="-228600">
              <a:lnSpc>
                <a:spcPct val="120000"/>
              </a:lnSpc>
              <a:buSzPct val="100000"/>
              <a:buChar char="•"/>
            </a:pPr>
            <a:r>
              <a:rPr lang="en-US" sz="13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UTC_DATE() / UTC_TIME() / UTC_TIMESTAMP() — awareness</a:t>
            </a:r>
            <a:endParaRPr lang="en-US" sz="1350" dirty="0"/>
          </a:p>
        </p:txBody>
      </p:sp>
      <p:sp>
        <p:nvSpPr>
          <p:cNvPr id="13" name="Text 11"/>
          <p:cNvSpPr/>
          <p:nvPr/>
        </p:nvSpPr>
        <p:spPr>
          <a:xfrm>
            <a:off x="365760" y="6519672"/>
            <a:ext cx="6400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000" i="1" dirty="0">
                <a:solidFill>
                  <a:srgbClr val="6272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Shalinee Priya   |   Data Analyst  ·  SQL Trainer</a:t>
            </a:r>
            <a:endParaRPr lang="en-US" sz="1000" dirty="0"/>
          </a:p>
        </p:txBody>
      </p:sp>
      <p:sp>
        <p:nvSpPr>
          <p:cNvPr id="14" name="Shape 12"/>
          <p:cNvSpPr/>
          <p:nvPr/>
        </p:nvSpPr>
        <p:spPr>
          <a:xfrm>
            <a:off x="11109960" y="6473952"/>
            <a:ext cx="713232" cy="292608"/>
          </a:xfrm>
          <a:prstGeom prst="roundRect">
            <a:avLst>
              <a:gd name="adj" fmla="val 18750"/>
            </a:avLst>
          </a:prstGeom>
          <a:solidFill>
            <a:srgbClr val="0B2545"/>
          </a:solidFill>
          <a:ln/>
        </p:spPr>
      </p:sp>
      <p:sp>
        <p:nvSpPr>
          <p:cNvPr id="15" name="Text 13"/>
          <p:cNvSpPr/>
          <p:nvPr/>
        </p:nvSpPr>
        <p:spPr>
          <a:xfrm>
            <a:off x="11109960" y="6473952"/>
            <a:ext cx="713232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13/26</a:t>
            </a:r>
            <a:endParaRPr lang="en-US" sz="11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320040"/>
            <a:ext cx="9144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0C7C7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VISUAL COMPARISON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02920" y="566928"/>
            <a:ext cx="1078992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0B2545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DATE vs DATETIME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502920" y="1691640"/>
            <a:ext cx="5440680" cy="2880360"/>
          </a:xfrm>
          <a:prstGeom prst="roundRect">
            <a:avLst>
              <a:gd name="adj" fmla="val 2222"/>
            </a:avLst>
          </a:prstGeom>
          <a:solidFill>
            <a:srgbClr val="14B8A6"/>
          </a:solidFill>
          <a:ln w="12700">
            <a:solidFill>
              <a:srgbClr val="DCE3EC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502920" y="1828800"/>
            <a:ext cx="54406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0B2545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DATE</a:t>
            </a:r>
            <a:endParaRPr lang="en-US" sz="2200" dirty="0"/>
          </a:p>
        </p:txBody>
      </p:sp>
      <p:sp>
        <p:nvSpPr>
          <p:cNvPr id="6" name="Text 4"/>
          <p:cNvSpPr/>
          <p:nvPr/>
        </p:nvSpPr>
        <p:spPr>
          <a:xfrm>
            <a:off x="868680" y="2359152"/>
            <a:ext cx="47548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13315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hire_date, birth_date</a:t>
            </a:r>
            <a:endParaRPr lang="en-US" sz="1250" dirty="0"/>
          </a:p>
        </p:txBody>
      </p:sp>
      <p:sp>
        <p:nvSpPr>
          <p:cNvPr id="7" name="Text 5"/>
          <p:cNvSpPr/>
          <p:nvPr/>
        </p:nvSpPr>
        <p:spPr>
          <a:xfrm>
            <a:off x="868680" y="2724912"/>
            <a:ext cx="47548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B254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YYYY-MM-DD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868680" y="3090672"/>
            <a:ext cx="47548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13315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2019-03-15</a:t>
            </a:r>
            <a:endParaRPr lang="en-US" sz="1250" dirty="0"/>
          </a:p>
        </p:txBody>
      </p:sp>
      <p:sp>
        <p:nvSpPr>
          <p:cNvPr id="9" name="Text 7"/>
          <p:cNvSpPr/>
          <p:nvPr/>
        </p:nvSpPr>
        <p:spPr>
          <a:xfrm>
            <a:off x="868680" y="3611880"/>
            <a:ext cx="4754880" cy="8686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150" i="1" dirty="0">
                <a:solidFill>
                  <a:srgbClr val="1331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time component at all. HOUR()/MINUTE()/SECOND() cannot extract anything meaningful from a plain DATE column.</a:t>
            </a:r>
            <a:endParaRPr lang="en-US" sz="1150" dirty="0"/>
          </a:p>
        </p:txBody>
      </p:sp>
      <p:sp>
        <p:nvSpPr>
          <p:cNvPr id="10" name="Shape 8"/>
          <p:cNvSpPr/>
          <p:nvPr/>
        </p:nvSpPr>
        <p:spPr>
          <a:xfrm>
            <a:off x="6217920" y="1691640"/>
            <a:ext cx="5440680" cy="2880360"/>
          </a:xfrm>
          <a:prstGeom prst="roundRect">
            <a:avLst>
              <a:gd name="adj" fmla="val 2222"/>
            </a:avLst>
          </a:prstGeom>
          <a:solidFill>
            <a:srgbClr val="1B3F73"/>
          </a:solidFill>
          <a:ln w="12700">
            <a:solidFill>
              <a:srgbClr val="DCE3EC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6217920" y="1828800"/>
            <a:ext cx="54406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DATETIME</a:t>
            </a:r>
            <a:endParaRPr lang="en-US" sz="2200" dirty="0"/>
          </a:p>
        </p:txBody>
      </p:sp>
      <p:sp>
        <p:nvSpPr>
          <p:cNvPr id="12" name="Text 10"/>
          <p:cNvSpPr/>
          <p:nvPr/>
        </p:nvSpPr>
        <p:spPr>
          <a:xfrm>
            <a:off x="6583680" y="2359152"/>
            <a:ext cx="47548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C7D0D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last_login</a:t>
            </a:r>
            <a:endParaRPr lang="en-US" sz="1250" dirty="0"/>
          </a:p>
        </p:txBody>
      </p:sp>
      <p:sp>
        <p:nvSpPr>
          <p:cNvPr id="13" name="Text 11"/>
          <p:cNvSpPr/>
          <p:nvPr/>
        </p:nvSpPr>
        <p:spPr>
          <a:xfrm>
            <a:off x="6583680" y="2724912"/>
            <a:ext cx="47548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YYYY-MM-DD HH:MM:SS</a:t>
            </a:r>
            <a:endParaRPr lang="en-US" sz="1400" dirty="0"/>
          </a:p>
        </p:txBody>
      </p:sp>
      <p:sp>
        <p:nvSpPr>
          <p:cNvPr id="14" name="Text 12"/>
          <p:cNvSpPr/>
          <p:nvPr/>
        </p:nvSpPr>
        <p:spPr>
          <a:xfrm>
            <a:off x="6583680" y="3090672"/>
            <a:ext cx="47548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C7D0D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2026-07-01 09:15:00</a:t>
            </a:r>
            <a:endParaRPr lang="en-US" sz="1250" dirty="0"/>
          </a:p>
        </p:txBody>
      </p:sp>
      <p:sp>
        <p:nvSpPr>
          <p:cNvPr id="15" name="Text 13"/>
          <p:cNvSpPr/>
          <p:nvPr/>
        </p:nvSpPr>
        <p:spPr>
          <a:xfrm>
            <a:off x="6583680" y="3611880"/>
            <a:ext cx="4754880" cy="8686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150" i="1" dirty="0">
                <a:solidFill>
                  <a:srgbClr val="C7D0D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Carries a full time-of-day. HOUR()/MINUTE()/SECOND() work correctly here — this is why last_login (not hire_date) powers the time-extraction examples.</a:t>
            </a:r>
            <a:endParaRPr lang="en-US" sz="1150" dirty="0"/>
          </a:p>
        </p:txBody>
      </p:sp>
      <p:sp>
        <p:nvSpPr>
          <p:cNvPr id="16" name="Shape 14"/>
          <p:cNvSpPr/>
          <p:nvPr/>
        </p:nvSpPr>
        <p:spPr>
          <a:xfrm>
            <a:off x="502920" y="4709160"/>
            <a:ext cx="11155680" cy="713232"/>
          </a:xfrm>
          <a:prstGeom prst="roundRect">
            <a:avLst>
              <a:gd name="adj" fmla="val 8974"/>
            </a:avLst>
          </a:prstGeom>
          <a:solidFill>
            <a:srgbClr val="F3F6F9"/>
          </a:solidFill>
          <a:ln w="12700">
            <a:solidFill>
              <a:srgbClr val="DCE3EC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731520" y="4791456"/>
            <a:ext cx="60350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B254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DATE(last_login) → 2026-07-01   ·   TIME(last_login) → 09:15:00</a:t>
            </a:r>
            <a:endParaRPr lang="en-US" sz="1300" dirty="0"/>
          </a:p>
        </p:txBody>
      </p:sp>
      <p:sp>
        <p:nvSpPr>
          <p:cNvPr id="18" name="Text 16"/>
          <p:cNvSpPr/>
          <p:nvPr/>
        </p:nvSpPr>
        <p:spPr>
          <a:xfrm>
            <a:off x="6858000" y="4754880"/>
            <a:ext cx="461772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i="1" dirty="0">
                <a:solidFill>
                  <a:srgbClr val="6272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Both still return a real DATE/TIME VALUE — usable in more calculations. DATE_FORMAT()/TIME_FORMAT() (Section 8C) return TEXT instead, for display only.</a:t>
            </a:r>
            <a:endParaRPr lang="en-US" sz="1050" dirty="0"/>
          </a:p>
        </p:txBody>
      </p:sp>
      <p:sp>
        <p:nvSpPr>
          <p:cNvPr id="19" name="Shape 17"/>
          <p:cNvSpPr/>
          <p:nvPr/>
        </p:nvSpPr>
        <p:spPr>
          <a:xfrm>
            <a:off x="502920" y="5532120"/>
            <a:ext cx="11155680" cy="868680"/>
          </a:xfrm>
          <a:prstGeom prst="roundRect">
            <a:avLst>
              <a:gd name="adj" fmla="val 7368"/>
            </a:avLst>
          </a:prstGeom>
          <a:solidFill>
            <a:srgbClr val="0B2545"/>
          </a:solidFill>
          <a:ln/>
        </p:spPr>
      </p:sp>
      <p:sp>
        <p:nvSpPr>
          <p:cNvPr id="20" name="Text 18"/>
          <p:cNvSpPr/>
          <p:nvPr/>
        </p:nvSpPr>
        <p:spPr>
          <a:xfrm>
            <a:off x="731520" y="5650992"/>
            <a:ext cx="1069848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spc="150" kern="0" dirty="0">
                <a:solidFill>
                  <a:srgbClr val="14B8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COMMON MISTAKE</a:t>
            </a:r>
            <a:endParaRPr lang="en-US" sz="1100" dirty="0"/>
          </a:p>
        </p:txBody>
      </p:sp>
      <p:sp>
        <p:nvSpPr>
          <p:cNvPr id="21" name="Text 19"/>
          <p:cNvSpPr/>
          <p:nvPr/>
        </p:nvSpPr>
        <p:spPr>
          <a:xfrm>
            <a:off x="731520" y="5916168"/>
            <a:ext cx="10698480" cy="3657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12000"/>
              </a:lnSpc>
              <a:buNone/>
            </a:pPr>
            <a:r>
              <a:rPr lang="en-US" sz="12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Comparing a DATE column directly against a DATETIME literal with a time portion (e.g. hire_date = '2019-03-15 09:00:00') never matches — a DATE column has no time to compare against.</a:t>
            </a:r>
            <a:endParaRPr lang="en-US" sz="1250" dirty="0"/>
          </a:p>
        </p:txBody>
      </p:sp>
      <p:sp>
        <p:nvSpPr>
          <p:cNvPr id="22" name="Text 20"/>
          <p:cNvSpPr/>
          <p:nvPr/>
        </p:nvSpPr>
        <p:spPr>
          <a:xfrm>
            <a:off x="365760" y="6519672"/>
            <a:ext cx="6400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000" i="1" dirty="0">
                <a:solidFill>
                  <a:srgbClr val="6272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Shalinee Priya   |   Data Analyst  ·  SQL Trainer</a:t>
            </a:r>
            <a:endParaRPr lang="en-US" sz="1000" dirty="0"/>
          </a:p>
        </p:txBody>
      </p:sp>
      <p:sp>
        <p:nvSpPr>
          <p:cNvPr id="23" name="Shape 21"/>
          <p:cNvSpPr/>
          <p:nvPr/>
        </p:nvSpPr>
        <p:spPr>
          <a:xfrm>
            <a:off x="11109960" y="6473952"/>
            <a:ext cx="713232" cy="292608"/>
          </a:xfrm>
          <a:prstGeom prst="roundRect">
            <a:avLst>
              <a:gd name="adj" fmla="val 18750"/>
            </a:avLst>
          </a:prstGeom>
          <a:solidFill>
            <a:srgbClr val="0B2545"/>
          </a:solidFill>
          <a:ln/>
        </p:spPr>
      </p:sp>
      <p:sp>
        <p:nvSpPr>
          <p:cNvPr id="24" name="Text 22"/>
          <p:cNvSpPr/>
          <p:nvPr/>
        </p:nvSpPr>
        <p:spPr>
          <a:xfrm>
            <a:off x="11109960" y="6473952"/>
            <a:ext cx="713232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14/26</a:t>
            </a:r>
            <a:endParaRPr lang="en-US" sz="110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320040"/>
            <a:ext cx="9144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0C7C7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LIFECYCLE DIAGRAM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02920" y="566928"/>
            <a:ext cx="1078992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0B2545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Date Arithmetic in Action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502920" y="1965960"/>
            <a:ext cx="1821485" cy="960120"/>
          </a:xfrm>
          <a:prstGeom prst="roundRect">
            <a:avLst>
              <a:gd name="adj" fmla="val 6667"/>
            </a:avLst>
          </a:prstGeom>
          <a:solidFill>
            <a:srgbClr val="F3F6F9"/>
          </a:solidFill>
          <a:ln w="12700">
            <a:solidFill>
              <a:srgbClr val="DCE3EC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530352" y="1965960"/>
            <a:ext cx="1766621" cy="9601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0C7C7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hire_date</a:t>
            </a:r>
            <a:endParaRPr lang="en-US" sz="1100" dirty="0"/>
          </a:p>
        </p:txBody>
      </p:sp>
      <p:sp>
        <p:nvSpPr>
          <p:cNvPr id="6" name="Text 4"/>
          <p:cNvSpPr/>
          <p:nvPr/>
        </p:nvSpPr>
        <p:spPr>
          <a:xfrm>
            <a:off x="2324405" y="2263140"/>
            <a:ext cx="365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0C7C7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2000" dirty="0"/>
          </a:p>
        </p:txBody>
      </p:sp>
      <p:sp>
        <p:nvSpPr>
          <p:cNvPr id="7" name="Shape 5"/>
          <p:cNvSpPr/>
          <p:nvPr/>
        </p:nvSpPr>
        <p:spPr>
          <a:xfrm>
            <a:off x="2690165" y="1965960"/>
            <a:ext cx="1821485" cy="960120"/>
          </a:xfrm>
          <a:prstGeom prst="roundRect">
            <a:avLst>
              <a:gd name="adj" fmla="val 6667"/>
            </a:avLst>
          </a:prstGeom>
          <a:solidFill>
            <a:srgbClr val="E9F8F5"/>
          </a:solidFill>
          <a:ln w="12700">
            <a:solidFill>
              <a:srgbClr val="DCE3EC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2717597" y="1965960"/>
            <a:ext cx="1766621" cy="9601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0C7C7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DATE_ADD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4511650" y="2263140"/>
            <a:ext cx="365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0C7C7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2000" dirty="0"/>
          </a:p>
        </p:txBody>
      </p:sp>
      <p:sp>
        <p:nvSpPr>
          <p:cNvPr id="10" name="Shape 8"/>
          <p:cNvSpPr/>
          <p:nvPr/>
        </p:nvSpPr>
        <p:spPr>
          <a:xfrm>
            <a:off x="4877410" y="1965960"/>
            <a:ext cx="1821485" cy="960120"/>
          </a:xfrm>
          <a:prstGeom prst="roundRect">
            <a:avLst>
              <a:gd name="adj" fmla="val 6667"/>
            </a:avLst>
          </a:prstGeom>
          <a:solidFill>
            <a:srgbClr val="E9F8F5"/>
          </a:solidFill>
          <a:ln w="12700">
            <a:solidFill>
              <a:srgbClr val="DCE3EC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4904842" y="1965960"/>
            <a:ext cx="1766621" cy="9601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0C7C7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DATEDIFF</a:t>
            </a:r>
            <a:endParaRPr lang="en-US" sz="1100" dirty="0"/>
          </a:p>
        </p:txBody>
      </p:sp>
      <p:sp>
        <p:nvSpPr>
          <p:cNvPr id="12" name="Text 10"/>
          <p:cNvSpPr/>
          <p:nvPr/>
        </p:nvSpPr>
        <p:spPr>
          <a:xfrm>
            <a:off x="6698894" y="2263140"/>
            <a:ext cx="365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0C7C7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2000" dirty="0"/>
          </a:p>
        </p:txBody>
      </p:sp>
      <p:sp>
        <p:nvSpPr>
          <p:cNvPr id="13" name="Shape 11"/>
          <p:cNvSpPr/>
          <p:nvPr/>
        </p:nvSpPr>
        <p:spPr>
          <a:xfrm>
            <a:off x="7064654" y="1965960"/>
            <a:ext cx="1821485" cy="960120"/>
          </a:xfrm>
          <a:prstGeom prst="roundRect">
            <a:avLst>
              <a:gd name="adj" fmla="val 6667"/>
            </a:avLst>
          </a:prstGeom>
          <a:solidFill>
            <a:srgbClr val="E9F8F5"/>
          </a:solidFill>
          <a:ln w="12700">
            <a:solidFill>
              <a:srgbClr val="DCE3EC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7092086" y="1965960"/>
            <a:ext cx="1766621" cy="9601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0C7C7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TIMESTAMPDIFF</a:t>
            </a:r>
            <a:endParaRPr lang="en-US" sz="1100" dirty="0"/>
          </a:p>
        </p:txBody>
      </p:sp>
      <p:sp>
        <p:nvSpPr>
          <p:cNvPr id="15" name="Text 13"/>
          <p:cNvSpPr/>
          <p:nvPr/>
        </p:nvSpPr>
        <p:spPr>
          <a:xfrm>
            <a:off x="8886139" y="2263140"/>
            <a:ext cx="365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0C7C7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2000" dirty="0"/>
          </a:p>
        </p:txBody>
      </p:sp>
      <p:sp>
        <p:nvSpPr>
          <p:cNvPr id="16" name="Shape 14"/>
          <p:cNvSpPr/>
          <p:nvPr/>
        </p:nvSpPr>
        <p:spPr>
          <a:xfrm>
            <a:off x="9251899" y="1965960"/>
            <a:ext cx="1821485" cy="960120"/>
          </a:xfrm>
          <a:prstGeom prst="roundRect">
            <a:avLst>
              <a:gd name="adj" fmla="val 6667"/>
            </a:avLst>
          </a:prstGeom>
          <a:solidFill>
            <a:srgbClr val="0B2545"/>
          </a:solidFill>
          <a:ln w="12700">
            <a:solidFill>
              <a:srgbClr val="DCE3EC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9279331" y="1965960"/>
            <a:ext cx="1766621" cy="9601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Business Insight</a:t>
            </a:r>
            <a:endParaRPr lang="en-US" sz="1100" dirty="0"/>
          </a:p>
        </p:txBody>
      </p:sp>
      <p:sp>
        <p:nvSpPr>
          <p:cNvPr id="18" name="Shape 16"/>
          <p:cNvSpPr/>
          <p:nvPr/>
        </p:nvSpPr>
        <p:spPr>
          <a:xfrm>
            <a:off x="502920" y="3246120"/>
            <a:ext cx="11155680" cy="1965960"/>
          </a:xfrm>
          <a:prstGeom prst="roundRect">
            <a:avLst>
              <a:gd name="adj" fmla="val 2791"/>
            </a:avLst>
          </a:prstGeom>
          <a:solidFill>
            <a:srgbClr val="13315C"/>
          </a:solidFill>
          <a:ln w="12700">
            <a:solidFill>
              <a:srgbClr val="14B8A6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704088" y="3374136"/>
            <a:ext cx="10753344" cy="170992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18000"/>
              </a:lnSpc>
              <a:buNone/>
            </a:pPr>
            <a:r>
              <a:rPr lang="en-US" sz="125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SELECT hire_date,</a:t>
            </a:r>
            <a:endParaRPr lang="en-US" sz="1250" dirty="0"/>
          </a:p>
          <a:p>
            <a:pPr indent="0" marL="0">
              <a:lnSpc>
                <a:spcPct val="118000"/>
              </a:lnSpc>
              <a:buNone/>
            </a:pPr>
            <a:r>
              <a:rPr lang="en-US" sz="125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DATE_ADD(hire_date, INTERVAL 90 DAY)   AS probation_end_90_days,</a:t>
            </a:r>
            <a:endParaRPr lang="en-US" sz="1250" dirty="0"/>
          </a:p>
          <a:p>
            <a:pPr indent="0" marL="0">
              <a:lnSpc>
                <a:spcPct val="118000"/>
              </a:lnSpc>
              <a:buNone/>
            </a:pPr>
            <a:r>
              <a:rPr lang="en-US" sz="125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DATE_ADD(hire_date, INTERVAL 1 YEAR)   AS one_year_anniversary,</a:t>
            </a:r>
            <a:endParaRPr lang="en-US" sz="1250" dirty="0"/>
          </a:p>
          <a:p>
            <a:pPr indent="0" marL="0">
              <a:lnSpc>
                <a:spcPct val="118000"/>
              </a:lnSpc>
              <a:buNone/>
            </a:pPr>
            <a:r>
              <a:rPr lang="en-US" sz="125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DATE_ADD(hire_date, INTERVAL 25 YEAR)  AS long_service_eligibility_date</a:t>
            </a:r>
            <a:endParaRPr lang="en-US" sz="1250" dirty="0"/>
          </a:p>
          <a:p>
            <a:pPr indent="0" marL="0">
              <a:lnSpc>
                <a:spcPct val="118000"/>
              </a:lnSpc>
              <a:buNone/>
            </a:pPr>
            <a:r>
              <a:rPr lang="en-US" sz="125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FROM employees WHERE emp_id = 1;</a:t>
            </a:r>
            <a:endParaRPr lang="en-US" sz="1250" dirty="0"/>
          </a:p>
          <a:p>
            <a:pPr indent="0" marL="0">
              <a:lnSpc>
                <a:spcPct val="118000"/>
              </a:lnSpc>
              <a:buNone/>
            </a:pPr>
            <a:r>
              <a:rPr lang="en-US" sz="125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-- hire_date 2019-03-15  -&gt;  2019-06-13  ·  2020-03-15  ·  2044-03-15</a:t>
            </a:r>
            <a:endParaRPr lang="en-US" sz="1250" dirty="0"/>
          </a:p>
        </p:txBody>
      </p:sp>
      <p:sp>
        <p:nvSpPr>
          <p:cNvPr id="20" name="Shape 18"/>
          <p:cNvSpPr/>
          <p:nvPr/>
        </p:nvSpPr>
        <p:spPr>
          <a:xfrm>
            <a:off x="502920" y="5394960"/>
            <a:ext cx="11155680" cy="914400"/>
          </a:xfrm>
          <a:prstGeom prst="roundRect">
            <a:avLst>
              <a:gd name="adj" fmla="val 7000"/>
            </a:avLst>
          </a:prstGeom>
          <a:solidFill>
            <a:srgbClr val="0B2545"/>
          </a:solidFill>
          <a:ln/>
        </p:spPr>
      </p:sp>
      <p:sp>
        <p:nvSpPr>
          <p:cNvPr id="21" name="Text 19"/>
          <p:cNvSpPr/>
          <p:nvPr/>
        </p:nvSpPr>
        <p:spPr>
          <a:xfrm>
            <a:off x="731520" y="5513832"/>
            <a:ext cx="1069848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spc="150" kern="0" dirty="0">
                <a:solidFill>
                  <a:srgbClr val="14B8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ADDDATE() / SUBDATE()</a:t>
            </a:r>
            <a:endParaRPr lang="en-US" sz="1100" dirty="0"/>
          </a:p>
        </p:txBody>
      </p:sp>
      <p:sp>
        <p:nvSpPr>
          <p:cNvPr id="22" name="Text 20"/>
          <p:cNvSpPr/>
          <p:nvPr/>
        </p:nvSpPr>
        <p:spPr>
          <a:xfrm>
            <a:off x="731520" y="5779008"/>
            <a:ext cx="10698480" cy="4114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12000"/>
              </a:lnSpc>
              <a:buNone/>
            </a:pPr>
            <a:r>
              <a:rPr lang="en-US" sz="12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MySQL-specific shorthand for DATE_ADD()/DATE_SUB(). ADDDATE() also accepts a plain number of days with no INTERVAL keyword — awareness-level, same underlying behavior.</a:t>
            </a:r>
            <a:endParaRPr lang="en-US" sz="1250" dirty="0"/>
          </a:p>
        </p:txBody>
      </p:sp>
      <p:sp>
        <p:nvSpPr>
          <p:cNvPr id="23" name="Text 21"/>
          <p:cNvSpPr/>
          <p:nvPr/>
        </p:nvSpPr>
        <p:spPr>
          <a:xfrm>
            <a:off x="365760" y="6519672"/>
            <a:ext cx="6400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000" i="1" dirty="0">
                <a:solidFill>
                  <a:srgbClr val="6272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Shalinee Priya   |   Data Analyst  ·  SQL Trainer</a:t>
            </a:r>
            <a:endParaRPr lang="en-US" sz="1000" dirty="0"/>
          </a:p>
        </p:txBody>
      </p:sp>
      <p:sp>
        <p:nvSpPr>
          <p:cNvPr id="24" name="Shape 22"/>
          <p:cNvSpPr/>
          <p:nvPr/>
        </p:nvSpPr>
        <p:spPr>
          <a:xfrm>
            <a:off x="11109960" y="6473952"/>
            <a:ext cx="713232" cy="292608"/>
          </a:xfrm>
          <a:prstGeom prst="roundRect">
            <a:avLst>
              <a:gd name="adj" fmla="val 18750"/>
            </a:avLst>
          </a:prstGeom>
          <a:solidFill>
            <a:srgbClr val="0B2545"/>
          </a:solidFill>
          <a:ln/>
        </p:spPr>
      </p:sp>
      <p:sp>
        <p:nvSpPr>
          <p:cNvPr id="25" name="Text 23"/>
          <p:cNvSpPr/>
          <p:nvPr/>
        </p:nvSpPr>
        <p:spPr>
          <a:xfrm>
            <a:off x="11109960" y="6473952"/>
            <a:ext cx="713232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15/26</a:t>
            </a:r>
            <a:endParaRPr lang="en-US" sz="110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320040"/>
            <a:ext cx="9144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0C7C7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INTERVIEW COMPARISON TABLE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02920" y="566928"/>
            <a:ext cx="1078992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0B2545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DATEDIFF() vs TIMEDIFF() vs TIMESTAMPDIFF()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502920" y="1874520"/>
            <a:ext cx="2743200" cy="566928"/>
          </a:xfrm>
          <a:prstGeom prst="roundRect">
            <a:avLst>
              <a:gd name="adj" fmla="val 11290"/>
            </a:avLst>
          </a:prstGeom>
          <a:solidFill>
            <a:srgbClr val="0B2545"/>
          </a:solidFill>
          <a:ln/>
        </p:spPr>
      </p:sp>
      <p:sp>
        <p:nvSpPr>
          <p:cNvPr id="5" name="Text 3"/>
          <p:cNvSpPr/>
          <p:nvPr/>
        </p:nvSpPr>
        <p:spPr>
          <a:xfrm>
            <a:off x="640080" y="1874520"/>
            <a:ext cx="246888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14B8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Function</a:t>
            </a:r>
            <a:endParaRPr lang="en-US" sz="1250" dirty="0"/>
          </a:p>
        </p:txBody>
      </p:sp>
      <p:sp>
        <p:nvSpPr>
          <p:cNvPr id="6" name="Shape 4"/>
          <p:cNvSpPr/>
          <p:nvPr/>
        </p:nvSpPr>
        <p:spPr>
          <a:xfrm>
            <a:off x="3246120" y="1874520"/>
            <a:ext cx="4206240" cy="566928"/>
          </a:xfrm>
          <a:prstGeom prst="roundRect">
            <a:avLst>
              <a:gd name="adj" fmla="val 11290"/>
            </a:avLst>
          </a:prstGeom>
          <a:solidFill>
            <a:srgbClr val="0B2545"/>
          </a:solidFill>
          <a:ln/>
        </p:spPr>
      </p:sp>
      <p:sp>
        <p:nvSpPr>
          <p:cNvPr id="7" name="Text 5"/>
          <p:cNvSpPr/>
          <p:nvPr/>
        </p:nvSpPr>
        <p:spPr>
          <a:xfrm>
            <a:off x="3383280" y="1874520"/>
            <a:ext cx="393192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14B8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Compares</a:t>
            </a:r>
            <a:endParaRPr lang="en-US" sz="1250" dirty="0"/>
          </a:p>
        </p:txBody>
      </p:sp>
      <p:sp>
        <p:nvSpPr>
          <p:cNvPr id="8" name="Shape 6"/>
          <p:cNvSpPr/>
          <p:nvPr/>
        </p:nvSpPr>
        <p:spPr>
          <a:xfrm>
            <a:off x="7452360" y="1874520"/>
            <a:ext cx="4206240" cy="566928"/>
          </a:xfrm>
          <a:prstGeom prst="roundRect">
            <a:avLst>
              <a:gd name="adj" fmla="val 11290"/>
            </a:avLst>
          </a:prstGeom>
          <a:solidFill>
            <a:srgbClr val="0B2545"/>
          </a:solidFill>
          <a:ln/>
        </p:spPr>
      </p:sp>
      <p:sp>
        <p:nvSpPr>
          <p:cNvPr id="9" name="Text 7"/>
          <p:cNvSpPr/>
          <p:nvPr/>
        </p:nvSpPr>
        <p:spPr>
          <a:xfrm>
            <a:off x="7589520" y="1874520"/>
            <a:ext cx="393192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14B8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Result Unit</a:t>
            </a:r>
            <a:endParaRPr lang="en-US" sz="1250" dirty="0"/>
          </a:p>
        </p:txBody>
      </p:sp>
      <p:sp>
        <p:nvSpPr>
          <p:cNvPr id="10" name="Shape 8"/>
          <p:cNvSpPr/>
          <p:nvPr/>
        </p:nvSpPr>
        <p:spPr>
          <a:xfrm>
            <a:off x="502920" y="2441448"/>
            <a:ext cx="2743200" cy="566928"/>
          </a:xfrm>
          <a:prstGeom prst="roundRect">
            <a:avLst>
              <a:gd name="adj" fmla="val 11290"/>
            </a:avLst>
          </a:prstGeom>
          <a:solidFill>
            <a:srgbClr val="FFFFFF"/>
          </a:solidFill>
          <a:ln w="6350">
            <a:solidFill>
              <a:srgbClr val="DCE3EC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640080" y="2441448"/>
            <a:ext cx="246888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B254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DATEDIFF()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3246120" y="2441448"/>
            <a:ext cx="4206240" cy="566928"/>
          </a:xfrm>
          <a:prstGeom prst="roundRect">
            <a:avLst>
              <a:gd name="adj" fmla="val 11290"/>
            </a:avLst>
          </a:prstGeom>
          <a:solidFill>
            <a:srgbClr val="FFFFFF"/>
          </a:solidFill>
          <a:ln w="6350">
            <a:solidFill>
              <a:srgbClr val="DCE3EC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3383280" y="2441448"/>
            <a:ext cx="393192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120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Two DATE (or DATETIME) values</a:t>
            </a:r>
            <a:endParaRPr lang="en-US" sz="1200" dirty="0"/>
          </a:p>
        </p:txBody>
      </p:sp>
      <p:sp>
        <p:nvSpPr>
          <p:cNvPr id="14" name="Shape 12"/>
          <p:cNvSpPr/>
          <p:nvPr/>
        </p:nvSpPr>
        <p:spPr>
          <a:xfrm>
            <a:off x="7452360" y="2441448"/>
            <a:ext cx="4206240" cy="566928"/>
          </a:xfrm>
          <a:prstGeom prst="roundRect">
            <a:avLst>
              <a:gd name="adj" fmla="val 11290"/>
            </a:avLst>
          </a:prstGeom>
          <a:solidFill>
            <a:srgbClr val="FFFFFF"/>
          </a:solidFill>
          <a:ln w="6350">
            <a:solidFill>
              <a:srgbClr val="DCE3EC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7589520" y="2441448"/>
            <a:ext cx="393192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120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Always DAYS</a:t>
            </a:r>
            <a:endParaRPr lang="en-US" sz="1200" dirty="0"/>
          </a:p>
        </p:txBody>
      </p:sp>
      <p:sp>
        <p:nvSpPr>
          <p:cNvPr id="16" name="Shape 14"/>
          <p:cNvSpPr/>
          <p:nvPr/>
        </p:nvSpPr>
        <p:spPr>
          <a:xfrm>
            <a:off x="502920" y="3008376"/>
            <a:ext cx="2743200" cy="566928"/>
          </a:xfrm>
          <a:prstGeom prst="roundRect">
            <a:avLst>
              <a:gd name="adj" fmla="val 11290"/>
            </a:avLst>
          </a:prstGeom>
          <a:solidFill>
            <a:srgbClr val="F3F6F9"/>
          </a:solidFill>
          <a:ln w="6350">
            <a:solidFill>
              <a:srgbClr val="DCE3EC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640080" y="3008376"/>
            <a:ext cx="246888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B254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TIMEDIFF()</a:t>
            </a:r>
            <a:endParaRPr lang="en-US" sz="1200" dirty="0"/>
          </a:p>
        </p:txBody>
      </p:sp>
      <p:sp>
        <p:nvSpPr>
          <p:cNvPr id="18" name="Shape 16"/>
          <p:cNvSpPr/>
          <p:nvPr/>
        </p:nvSpPr>
        <p:spPr>
          <a:xfrm>
            <a:off x="3246120" y="3008376"/>
            <a:ext cx="4206240" cy="566928"/>
          </a:xfrm>
          <a:prstGeom prst="roundRect">
            <a:avLst>
              <a:gd name="adj" fmla="val 11290"/>
            </a:avLst>
          </a:prstGeom>
          <a:solidFill>
            <a:srgbClr val="F3F6F9"/>
          </a:solidFill>
          <a:ln w="6350">
            <a:solidFill>
              <a:srgbClr val="DCE3EC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3383280" y="3008376"/>
            <a:ext cx="393192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120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Two TIME or two DATETIME values</a:t>
            </a:r>
            <a:endParaRPr lang="en-US" sz="1200" dirty="0"/>
          </a:p>
        </p:txBody>
      </p:sp>
      <p:sp>
        <p:nvSpPr>
          <p:cNvPr id="20" name="Shape 18"/>
          <p:cNvSpPr/>
          <p:nvPr/>
        </p:nvSpPr>
        <p:spPr>
          <a:xfrm>
            <a:off x="7452360" y="3008376"/>
            <a:ext cx="4206240" cy="566928"/>
          </a:xfrm>
          <a:prstGeom prst="roundRect">
            <a:avLst>
              <a:gd name="adj" fmla="val 11290"/>
            </a:avLst>
          </a:prstGeom>
          <a:solidFill>
            <a:srgbClr val="F3F6F9"/>
          </a:solidFill>
          <a:ln w="6350">
            <a:solidFill>
              <a:srgbClr val="DCE3EC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7589520" y="3008376"/>
            <a:ext cx="393192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120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HH:MM:SS duration</a:t>
            </a:r>
            <a:endParaRPr lang="en-US" sz="1200" dirty="0"/>
          </a:p>
        </p:txBody>
      </p:sp>
      <p:sp>
        <p:nvSpPr>
          <p:cNvPr id="22" name="Shape 20"/>
          <p:cNvSpPr/>
          <p:nvPr/>
        </p:nvSpPr>
        <p:spPr>
          <a:xfrm>
            <a:off x="502920" y="3575304"/>
            <a:ext cx="2743200" cy="566928"/>
          </a:xfrm>
          <a:prstGeom prst="roundRect">
            <a:avLst>
              <a:gd name="adj" fmla="val 11290"/>
            </a:avLst>
          </a:prstGeom>
          <a:solidFill>
            <a:srgbClr val="FFFFFF"/>
          </a:solidFill>
          <a:ln w="6350">
            <a:solidFill>
              <a:srgbClr val="DCE3EC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640080" y="3575304"/>
            <a:ext cx="246888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B254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TIMESTAMPDIFF()</a:t>
            </a:r>
            <a:endParaRPr lang="en-US" sz="1200" dirty="0"/>
          </a:p>
        </p:txBody>
      </p:sp>
      <p:sp>
        <p:nvSpPr>
          <p:cNvPr id="24" name="Shape 22"/>
          <p:cNvSpPr/>
          <p:nvPr/>
        </p:nvSpPr>
        <p:spPr>
          <a:xfrm>
            <a:off x="3246120" y="3575304"/>
            <a:ext cx="4206240" cy="566928"/>
          </a:xfrm>
          <a:prstGeom prst="roundRect">
            <a:avLst>
              <a:gd name="adj" fmla="val 11290"/>
            </a:avLst>
          </a:prstGeom>
          <a:solidFill>
            <a:srgbClr val="FFFFFF"/>
          </a:solidFill>
          <a:ln w="6350">
            <a:solidFill>
              <a:srgbClr val="DCE3EC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3383280" y="3575304"/>
            <a:ext cx="393192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120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Two DATE/DATETIME values</a:t>
            </a:r>
            <a:endParaRPr lang="en-US" sz="1200" dirty="0"/>
          </a:p>
        </p:txBody>
      </p:sp>
      <p:sp>
        <p:nvSpPr>
          <p:cNvPr id="26" name="Shape 24"/>
          <p:cNvSpPr/>
          <p:nvPr/>
        </p:nvSpPr>
        <p:spPr>
          <a:xfrm>
            <a:off x="7452360" y="3575304"/>
            <a:ext cx="4206240" cy="566928"/>
          </a:xfrm>
          <a:prstGeom prst="roundRect">
            <a:avLst>
              <a:gd name="adj" fmla="val 11290"/>
            </a:avLst>
          </a:prstGeom>
          <a:solidFill>
            <a:srgbClr val="FFFFFF"/>
          </a:solidFill>
          <a:ln w="6350">
            <a:solidFill>
              <a:srgbClr val="DCE3EC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7589520" y="3575304"/>
            <a:ext cx="393192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120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UNIT you choose (YEAR/MONTH/DAY/HOUR...)</a:t>
            </a:r>
            <a:endParaRPr lang="en-US" sz="1200" dirty="0"/>
          </a:p>
        </p:txBody>
      </p:sp>
      <p:sp>
        <p:nvSpPr>
          <p:cNvPr id="28" name="Shape 26"/>
          <p:cNvSpPr/>
          <p:nvPr/>
        </p:nvSpPr>
        <p:spPr>
          <a:xfrm>
            <a:off x="502920" y="4434840"/>
            <a:ext cx="11155680" cy="914400"/>
          </a:xfrm>
          <a:prstGeom prst="roundRect">
            <a:avLst>
              <a:gd name="adj" fmla="val 6000"/>
            </a:avLst>
          </a:prstGeom>
          <a:solidFill>
            <a:srgbClr val="13315C"/>
          </a:solidFill>
          <a:ln w="12700">
            <a:solidFill>
              <a:srgbClr val="14B8A6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704088" y="4562856"/>
            <a:ext cx="10753344" cy="65836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18000"/>
              </a:lnSpc>
              <a:buNone/>
            </a:pPr>
            <a:r>
              <a:rPr lang="en-US" sz="13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SELECT TIMESTAMPDIFF(YEAR, birth_date, CURDATE()) AS age_in_completed_years FROM employees;</a:t>
            </a:r>
            <a:endParaRPr lang="en-US" sz="1300" dirty="0"/>
          </a:p>
        </p:txBody>
      </p:sp>
      <p:sp>
        <p:nvSpPr>
          <p:cNvPr id="30" name="Shape 28"/>
          <p:cNvSpPr/>
          <p:nvPr/>
        </p:nvSpPr>
        <p:spPr>
          <a:xfrm>
            <a:off x="502920" y="5486400"/>
            <a:ext cx="11155680" cy="868680"/>
          </a:xfrm>
          <a:prstGeom prst="roundRect">
            <a:avLst>
              <a:gd name="adj" fmla="val 7368"/>
            </a:avLst>
          </a:prstGeom>
          <a:solidFill>
            <a:srgbClr val="0B2545"/>
          </a:solidFill>
          <a:ln/>
        </p:spPr>
      </p:sp>
      <p:sp>
        <p:nvSpPr>
          <p:cNvPr id="31" name="Text 29"/>
          <p:cNvSpPr/>
          <p:nvPr/>
        </p:nvSpPr>
        <p:spPr>
          <a:xfrm>
            <a:off x="731520" y="5605272"/>
            <a:ext cx="1069848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spc="150" kern="0" dirty="0">
                <a:solidFill>
                  <a:srgbClr val="14B8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WHY TIMESTAMPDIFF FOR AGE?</a:t>
            </a:r>
            <a:endParaRPr lang="en-US" sz="1100" dirty="0"/>
          </a:p>
        </p:txBody>
      </p:sp>
      <p:sp>
        <p:nvSpPr>
          <p:cNvPr id="32" name="Text 30"/>
          <p:cNvSpPr/>
          <p:nvPr/>
        </p:nvSpPr>
        <p:spPr>
          <a:xfrm>
            <a:off x="731520" y="5870448"/>
            <a:ext cx="10698480" cy="3657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12000"/>
              </a:lnSpc>
              <a:buNone/>
            </a:pPr>
            <a:r>
              <a:rPr lang="en-US" sz="12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TIMESTAMPDIFF(YEAR, birth_date, CURDATE()) counts only COMPLETED years, correctly checking whether this year's birthday has occurred. Dividing DATEDIFF's day count by 365 is a common but inaccurate shortcut.</a:t>
            </a:r>
            <a:endParaRPr lang="en-US" sz="1250" dirty="0"/>
          </a:p>
        </p:txBody>
      </p:sp>
      <p:sp>
        <p:nvSpPr>
          <p:cNvPr id="33" name="Text 31"/>
          <p:cNvSpPr/>
          <p:nvPr/>
        </p:nvSpPr>
        <p:spPr>
          <a:xfrm>
            <a:off x="365760" y="6519672"/>
            <a:ext cx="6400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000" i="1" dirty="0">
                <a:solidFill>
                  <a:srgbClr val="6272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Shalinee Priya   |   Data Analyst  ·  SQL Trainer</a:t>
            </a:r>
            <a:endParaRPr lang="en-US" sz="1000" dirty="0"/>
          </a:p>
        </p:txBody>
      </p:sp>
      <p:sp>
        <p:nvSpPr>
          <p:cNvPr id="34" name="Shape 32"/>
          <p:cNvSpPr/>
          <p:nvPr/>
        </p:nvSpPr>
        <p:spPr>
          <a:xfrm>
            <a:off x="11109960" y="6473952"/>
            <a:ext cx="713232" cy="292608"/>
          </a:xfrm>
          <a:prstGeom prst="roundRect">
            <a:avLst>
              <a:gd name="adj" fmla="val 18750"/>
            </a:avLst>
          </a:prstGeom>
          <a:solidFill>
            <a:srgbClr val="0B2545"/>
          </a:solidFill>
          <a:ln/>
        </p:spPr>
      </p:sp>
      <p:sp>
        <p:nvSpPr>
          <p:cNvPr id="35" name="Text 33"/>
          <p:cNvSpPr/>
          <p:nvPr/>
        </p:nvSpPr>
        <p:spPr>
          <a:xfrm>
            <a:off x="11109960" y="6473952"/>
            <a:ext cx="713232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16/26</a:t>
            </a:r>
            <a:endParaRPr lang="en-US" sz="1100" dirty="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320040"/>
            <a:ext cx="9144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0C7C7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PRESENTATION LAYER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02920" y="566928"/>
            <a:ext cx="1078992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0B2545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Date Formatting &amp; Conversion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502920" y="1691640"/>
            <a:ext cx="548640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b="1" spc="150" kern="0" dirty="0">
                <a:solidFill>
                  <a:srgbClr val="0C7C7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DATE_FORMAT() — KEY SPECIFIERS</a:t>
            </a:r>
            <a:endParaRPr lang="en-US" sz="1050" dirty="0"/>
          </a:p>
        </p:txBody>
      </p:sp>
      <p:sp>
        <p:nvSpPr>
          <p:cNvPr id="5" name="Shape 3"/>
          <p:cNvSpPr/>
          <p:nvPr/>
        </p:nvSpPr>
        <p:spPr>
          <a:xfrm>
            <a:off x="502920" y="1965960"/>
            <a:ext cx="1280160" cy="329184"/>
          </a:xfrm>
          <a:prstGeom prst="roundRect">
            <a:avLst>
              <a:gd name="adj" fmla="val 19444"/>
            </a:avLst>
          </a:prstGeom>
          <a:solidFill>
            <a:srgbClr val="F3F6F9"/>
          </a:solidFill>
          <a:ln w="12700">
            <a:solidFill>
              <a:srgbClr val="DCE3EC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576072" y="1965960"/>
            <a:ext cx="50292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0C7C7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%d</a:t>
            </a:r>
            <a:endParaRPr lang="en-US" sz="1150" dirty="0"/>
          </a:p>
        </p:txBody>
      </p:sp>
      <p:sp>
        <p:nvSpPr>
          <p:cNvPr id="7" name="Shape 5"/>
          <p:cNvSpPr/>
          <p:nvPr/>
        </p:nvSpPr>
        <p:spPr>
          <a:xfrm>
            <a:off x="1874520" y="1965960"/>
            <a:ext cx="1280160" cy="329184"/>
          </a:xfrm>
          <a:prstGeom prst="roundRect">
            <a:avLst>
              <a:gd name="adj" fmla="val 19444"/>
            </a:avLst>
          </a:prstGeom>
          <a:solidFill>
            <a:srgbClr val="F3F6F9"/>
          </a:solidFill>
          <a:ln w="12700">
            <a:solidFill>
              <a:srgbClr val="DCE3EC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1947672" y="1965960"/>
            <a:ext cx="50292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0C7C7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%m</a:t>
            </a:r>
            <a:endParaRPr lang="en-US" sz="1150" dirty="0"/>
          </a:p>
        </p:txBody>
      </p:sp>
      <p:sp>
        <p:nvSpPr>
          <p:cNvPr id="9" name="Shape 7"/>
          <p:cNvSpPr/>
          <p:nvPr/>
        </p:nvSpPr>
        <p:spPr>
          <a:xfrm>
            <a:off x="3246120" y="1965960"/>
            <a:ext cx="1280160" cy="329184"/>
          </a:xfrm>
          <a:prstGeom prst="roundRect">
            <a:avLst>
              <a:gd name="adj" fmla="val 19444"/>
            </a:avLst>
          </a:prstGeom>
          <a:solidFill>
            <a:srgbClr val="F3F6F9"/>
          </a:solidFill>
          <a:ln w="12700">
            <a:solidFill>
              <a:srgbClr val="DCE3EC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3319272" y="1965960"/>
            <a:ext cx="50292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0C7C7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%Y</a:t>
            </a:r>
            <a:endParaRPr lang="en-US" sz="1150" dirty="0"/>
          </a:p>
        </p:txBody>
      </p:sp>
      <p:sp>
        <p:nvSpPr>
          <p:cNvPr id="11" name="Shape 9"/>
          <p:cNvSpPr/>
          <p:nvPr/>
        </p:nvSpPr>
        <p:spPr>
          <a:xfrm>
            <a:off x="4617720" y="1965960"/>
            <a:ext cx="1280160" cy="329184"/>
          </a:xfrm>
          <a:prstGeom prst="roundRect">
            <a:avLst>
              <a:gd name="adj" fmla="val 19444"/>
            </a:avLst>
          </a:prstGeom>
          <a:solidFill>
            <a:srgbClr val="F3F6F9"/>
          </a:solidFill>
          <a:ln w="12700">
            <a:solidFill>
              <a:srgbClr val="DCE3EC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4690872" y="1965960"/>
            <a:ext cx="50292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0C7C7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%y</a:t>
            </a:r>
            <a:endParaRPr lang="en-US" sz="1150" dirty="0"/>
          </a:p>
        </p:txBody>
      </p:sp>
      <p:sp>
        <p:nvSpPr>
          <p:cNvPr id="13" name="Shape 11"/>
          <p:cNvSpPr/>
          <p:nvPr/>
        </p:nvSpPr>
        <p:spPr>
          <a:xfrm>
            <a:off x="502920" y="2350008"/>
            <a:ext cx="1280160" cy="329184"/>
          </a:xfrm>
          <a:prstGeom prst="roundRect">
            <a:avLst>
              <a:gd name="adj" fmla="val 19444"/>
            </a:avLst>
          </a:prstGeom>
          <a:solidFill>
            <a:srgbClr val="F3F6F9"/>
          </a:solidFill>
          <a:ln w="12700">
            <a:solidFill>
              <a:srgbClr val="DCE3EC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576072" y="2350008"/>
            <a:ext cx="50292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0C7C7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%M</a:t>
            </a:r>
            <a:endParaRPr lang="en-US" sz="1150" dirty="0"/>
          </a:p>
        </p:txBody>
      </p:sp>
      <p:sp>
        <p:nvSpPr>
          <p:cNvPr id="15" name="Shape 13"/>
          <p:cNvSpPr/>
          <p:nvPr/>
        </p:nvSpPr>
        <p:spPr>
          <a:xfrm>
            <a:off x="1874520" y="2350008"/>
            <a:ext cx="1280160" cy="329184"/>
          </a:xfrm>
          <a:prstGeom prst="roundRect">
            <a:avLst>
              <a:gd name="adj" fmla="val 19444"/>
            </a:avLst>
          </a:prstGeom>
          <a:solidFill>
            <a:srgbClr val="F3F6F9"/>
          </a:solidFill>
          <a:ln w="12700">
            <a:solidFill>
              <a:srgbClr val="DCE3EC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1947672" y="2350008"/>
            <a:ext cx="50292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0C7C7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%b</a:t>
            </a:r>
            <a:endParaRPr lang="en-US" sz="1150" dirty="0"/>
          </a:p>
        </p:txBody>
      </p:sp>
      <p:sp>
        <p:nvSpPr>
          <p:cNvPr id="17" name="Shape 15"/>
          <p:cNvSpPr/>
          <p:nvPr/>
        </p:nvSpPr>
        <p:spPr>
          <a:xfrm>
            <a:off x="3246120" y="2350008"/>
            <a:ext cx="1280160" cy="329184"/>
          </a:xfrm>
          <a:prstGeom prst="roundRect">
            <a:avLst>
              <a:gd name="adj" fmla="val 19444"/>
            </a:avLst>
          </a:prstGeom>
          <a:solidFill>
            <a:srgbClr val="F3F6F9"/>
          </a:solidFill>
          <a:ln w="12700">
            <a:solidFill>
              <a:srgbClr val="DCE3EC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3319272" y="2350008"/>
            <a:ext cx="50292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0C7C7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%W</a:t>
            </a:r>
            <a:endParaRPr lang="en-US" sz="1150" dirty="0"/>
          </a:p>
        </p:txBody>
      </p:sp>
      <p:sp>
        <p:nvSpPr>
          <p:cNvPr id="19" name="Shape 17"/>
          <p:cNvSpPr/>
          <p:nvPr/>
        </p:nvSpPr>
        <p:spPr>
          <a:xfrm>
            <a:off x="4617720" y="2350008"/>
            <a:ext cx="1280160" cy="329184"/>
          </a:xfrm>
          <a:prstGeom prst="roundRect">
            <a:avLst>
              <a:gd name="adj" fmla="val 19444"/>
            </a:avLst>
          </a:prstGeom>
          <a:solidFill>
            <a:srgbClr val="F3F6F9"/>
          </a:solidFill>
          <a:ln w="12700">
            <a:solidFill>
              <a:srgbClr val="DCE3EC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4690872" y="2350008"/>
            <a:ext cx="50292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0C7C7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%a</a:t>
            </a:r>
            <a:endParaRPr lang="en-US" sz="1150" dirty="0"/>
          </a:p>
        </p:txBody>
      </p:sp>
      <p:sp>
        <p:nvSpPr>
          <p:cNvPr id="21" name="Text 19"/>
          <p:cNvSpPr/>
          <p:nvPr/>
        </p:nvSpPr>
        <p:spPr>
          <a:xfrm>
            <a:off x="502920" y="2788920"/>
            <a:ext cx="1115568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0B254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%d %M %Y → '15 March 2019'   ·   %W, %d %M %Y → 'Friday, 15 March 2019'   ·   %b-%Y → 'Mar-2019'</a:t>
            </a:r>
            <a:endParaRPr lang="en-US" sz="1150" dirty="0"/>
          </a:p>
        </p:txBody>
      </p:sp>
      <p:sp>
        <p:nvSpPr>
          <p:cNvPr id="22" name="Text 20"/>
          <p:cNvSpPr/>
          <p:nvPr/>
        </p:nvSpPr>
        <p:spPr>
          <a:xfrm>
            <a:off x="502920" y="3182112"/>
            <a:ext cx="548640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b="1" spc="150" kern="0" dirty="0">
                <a:solidFill>
                  <a:srgbClr val="0C7C7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TIME_FORMAT()  ·  STR_TO_DATE() / CAST() CONVERSION</a:t>
            </a:r>
            <a:endParaRPr lang="en-US" sz="1050" dirty="0"/>
          </a:p>
        </p:txBody>
      </p:sp>
      <p:sp>
        <p:nvSpPr>
          <p:cNvPr id="23" name="Text 21"/>
          <p:cNvSpPr/>
          <p:nvPr/>
        </p:nvSpPr>
        <p:spPr>
          <a:xfrm>
            <a:off x="502920" y="3456432"/>
            <a:ext cx="111556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0B254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%H:%i:%s (24-hr)  ·  %h:%i %p (12-hr, AM/PM)   —   STR_TO_DATE('15-08-2023','%d-%m-%Y') → 2023-08-15 (reverses DATE_FORMAT)</a:t>
            </a:r>
            <a:endParaRPr lang="en-US" sz="1100" dirty="0"/>
          </a:p>
        </p:txBody>
      </p:sp>
      <p:sp>
        <p:nvSpPr>
          <p:cNvPr id="24" name="Shape 22"/>
          <p:cNvSpPr/>
          <p:nvPr/>
        </p:nvSpPr>
        <p:spPr>
          <a:xfrm>
            <a:off x="502920" y="3977640"/>
            <a:ext cx="11155680" cy="1051560"/>
          </a:xfrm>
          <a:prstGeom prst="roundRect">
            <a:avLst>
              <a:gd name="adj" fmla="val 6087"/>
            </a:avLst>
          </a:prstGeom>
          <a:solidFill>
            <a:srgbClr val="0B2545"/>
          </a:solidFill>
          <a:ln w="12700">
            <a:solidFill>
              <a:srgbClr val="DCE3EC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777240" y="4114800"/>
            <a:ext cx="30175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4B8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CALCULATE FIRST</a:t>
            </a:r>
            <a:endParaRPr lang="en-US" sz="1300" dirty="0"/>
          </a:p>
        </p:txBody>
      </p:sp>
      <p:sp>
        <p:nvSpPr>
          <p:cNvPr id="26" name="Text 24"/>
          <p:cNvSpPr/>
          <p:nvPr/>
        </p:nvSpPr>
        <p:spPr>
          <a:xfrm>
            <a:off x="3794760" y="4096512"/>
            <a:ext cx="5486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0C7C7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2000" dirty="0"/>
          </a:p>
        </p:txBody>
      </p:sp>
      <p:sp>
        <p:nvSpPr>
          <p:cNvPr id="27" name="Text 25"/>
          <p:cNvSpPr/>
          <p:nvPr/>
        </p:nvSpPr>
        <p:spPr>
          <a:xfrm>
            <a:off x="4343400" y="4114800"/>
            <a:ext cx="2743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FORMAT LAST</a:t>
            </a:r>
            <a:endParaRPr lang="en-US" sz="1300" dirty="0"/>
          </a:p>
        </p:txBody>
      </p:sp>
      <p:sp>
        <p:nvSpPr>
          <p:cNvPr id="28" name="Text 26"/>
          <p:cNvSpPr/>
          <p:nvPr/>
        </p:nvSpPr>
        <p:spPr>
          <a:xfrm>
            <a:off x="777240" y="4462272"/>
            <a:ext cx="10607040" cy="5029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1100" i="1" dirty="0">
                <a:solidFill>
                  <a:srgbClr val="C7D0D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DATEDIFF() / TIMESTAMPDIFF() / DATE_ADD() / DATE_SUB() work on real DATE/DATETIME values. DATE_FORMAT()/TIME_FORMAT() return TEXT — treat the formatted result as presentation output, not the working DATE/DATETIME value. Calculate on the original value, then format it last.</a:t>
            </a:r>
            <a:endParaRPr lang="en-US" sz="1100" dirty="0"/>
          </a:p>
        </p:txBody>
      </p:sp>
      <p:sp>
        <p:nvSpPr>
          <p:cNvPr id="29" name="Shape 27"/>
          <p:cNvSpPr/>
          <p:nvPr/>
        </p:nvSpPr>
        <p:spPr>
          <a:xfrm>
            <a:off x="502920" y="5166360"/>
            <a:ext cx="11155680" cy="1188720"/>
          </a:xfrm>
          <a:prstGeom prst="roundRect">
            <a:avLst>
              <a:gd name="adj" fmla="val 4615"/>
            </a:avLst>
          </a:prstGeom>
          <a:solidFill>
            <a:srgbClr val="13315C"/>
          </a:solidFill>
          <a:ln w="12700">
            <a:solidFill>
              <a:srgbClr val="14B8A6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704088" y="5294376"/>
            <a:ext cx="10753344" cy="93268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18000"/>
              </a:lnSpc>
              <a:buNone/>
            </a:pPr>
            <a:r>
              <a:rPr lang="en-US" sz="115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-- CALCULATE first (real DATE arithmetic) ...</a:t>
            </a:r>
            <a:endParaRPr lang="en-US" sz="1150" dirty="0"/>
          </a:p>
          <a:p>
            <a:pPr indent="0" marL="0">
              <a:lnSpc>
                <a:spcPct val="118000"/>
              </a:lnSpc>
              <a:buNone/>
            </a:pPr>
            <a:r>
              <a:rPr lang="en-US" sz="115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SELECT DATEDIFF(CURDATE(), hire_date) AS days_of_service FROM employees WHERE emp_id=1;</a:t>
            </a:r>
            <a:endParaRPr lang="en-US" sz="1150" dirty="0"/>
          </a:p>
          <a:p>
            <a:pPr indent="0" marL="0">
              <a:lnSpc>
                <a:spcPct val="118000"/>
              </a:lnSpc>
              <a:buNone/>
            </a:pPr>
            <a:r>
              <a:rPr lang="en-US" sz="115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-- ... THEN format only the final display column:</a:t>
            </a:r>
            <a:endParaRPr lang="en-US" sz="1150" dirty="0"/>
          </a:p>
          <a:p>
            <a:pPr indent="0" marL="0">
              <a:lnSpc>
                <a:spcPct val="118000"/>
              </a:lnSpc>
              <a:buNone/>
            </a:pPr>
            <a:r>
              <a:rPr lang="en-US" sz="115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SELECT DATE_FORMAT(hire_date, '%d %M %Y') AS hire_date_display FROM employees WHERE emp_id=1;</a:t>
            </a:r>
            <a:endParaRPr lang="en-US" sz="1150" dirty="0"/>
          </a:p>
        </p:txBody>
      </p:sp>
      <p:sp>
        <p:nvSpPr>
          <p:cNvPr id="31" name="Text 29"/>
          <p:cNvSpPr/>
          <p:nvPr/>
        </p:nvSpPr>
        <p:spPr>
          <a:xfrm>
            <a:off x="365760" y="6519672"/>
            <a:ext cx="6400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000" i="1" dirty="0">
                <a:solidFill>
                  <a:srgbClr val="6272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Shalinee Priya   |   Data Analyst  ·  SQL Trainer</a:t>
            </a:r>
            <a:endParaRPr lang="en-US" sz="1000" dirty="0"/>
          </a:p>
        </p:txBody>
      </p:sp>
      <p:sp>
        <p:nvSpPr>
          <p:cNvPr id="32" name="Shape 30"/>
          <p:cNvSpPr/>
          <p:nvPr/>
        </p:nvSpPr>
        <p:spPr>
          <a:xfrm>
            <a:off x="11109960" y="6473952"/>
            <a:ext cx="713232" cy="292608"/>
          </a:xfrm>
          <a:prstGeom prst="roundRect">
            <a:avLst>
              <a:gd name="adj" fmla="val 18750"/>
            </a:avLst>
          </a:prstGeom>
          <a:solidFill>
            <a:srgbClr val="0B2545"/>
          </a:solidFill>
          <a:ln/>
        </p:spPr>
      </p:sp>
      <p:sp>
        <p:nvSpPr>
          <p:cNvPr id="33" name="Text 31"/>
          <p:cNvSpPr/>
          <p:nvPr/>
        </p:nvSpPr>
        <p:spPr>
          <a:xfrm>
            <a:off x="11109960" y="6473952"/>
            <a:ext cx="713232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17/26</a:t>
            </a:r>
            <a:endParaRPr lang="en-US" sz="1100" dirty="0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320040"/>
            <a:ext cx="9144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0C7C7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UTILITY FUNCTIONS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02920" y="566928"/>
            <a:ext cx="1078992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0B2545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LAST_DAY()  ·  EXTRACT()  ·  UTC Awareness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502920" y="1783080"/>
            <a:ext cx="5440680" cy="4160520"/>
          </a:xfrm>
          <a:prstGeom prst="roundRect">
            <a:avLst>
              <a:gd name="adj" fmla="val 1538"/>
            </a:avLst>
          </a:prstGeom>
          <a:solidFill>
            <a:srgbClr val="F3F6F9"/>
          </a:solidFill>
          <a:ln w="12700">
            <a:solidFill>
              <a:srgbClr val="DCE3EC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777240" y="1965960"/>
            <a:ext cx="484632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b="1" spc="150" kern="0" dirty="0">
                <a:solidFill>
                  <a:srgbClr val="0C7C7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LAST_DAY()</a:t>
            </a:r>
            <a:endParaRPr lang="en-US" sz="1050" dirty="0"/>
          </a:p>
        </p:txBody>
      </p:sp>
      <p:sp>
        <p:nvSpPr>
          <p:cNvPr id="6" name="Text 4"/>
          <p:cNvSpPr/>
          <p:nvPr/>
        </p:nvSpPr>
        <p:spPr>
          <a:xfrm>
            <a:off x="777240" y="2286000"/>
            <a:ext cx="4937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1120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Returns the last calendar date of a date's month.</a:t>
            </a:r>
            <a:endParaRPr lang="en-US" sz="1250" dirty="0"/>
          </a:p>
        </p:txBody>
      </p:sp>
      <p:sp>
        <p:nvSpPr>
          <p:cNvPr id="7" name="Shape 5"/>
          <p:cNvSpPr/>
          <p:nvPr/>
        </p:nvSpPr>
        <p:spPr>
          <a:xfrm>
            <a:off x="777240" y="2697480"/>
            <a:ext cx="4892040" cy="777240"/>
          </a:xfrm>
          <a:prstGeom prst="roundRect">
            <a:avLst>
              <a:gd name="adj" fmla="val 7059"/>
            </a:avLst>
          </a:prstGeom>
          <a:solidFill>
            <a:srgbClr val="13315C"/>
          </a:solidFill>
          <a:ln w="12700">
            <a:solidFill>
              <a:srgbClr val="14B8A6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978408" y="2825496"/>
            <a:ext cx="4489704" cy="52120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18000"/>
              </a:lnSpc>
              <a:buNone/>
            </a:pPr>
            <a:r>
              <a:rPr lang="en-US" sz="115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SELECT LAST_DAY(hire_date)</a:t>
            </a:r>
            <a:endParaRPr lang="en-US" sz="1150" dirty="0"/>
          </a:p>
          <a:p>
            <a:pPr indent="0" marL="0">
              <a:lnSpc>
                <a:spcPct val="118000"/>
              </a:lnSpc>
              <a:buNone/>
            </a:pPr>
            <a:r>
              <a:rPr lang="en-US" sz="115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FROM employees WHERE emp_id=1;</a:t>
            </a:r>
            <a:endParaRPr lang="en-US" sz="1150" dirty="0"/>
          </a:p>
          <a:p>
            <a:pPr indent="0" marL="0">
              <a:lnSpc>
                <a:spcPct val="118000"/>
              </a:lnSpc>
              <a:buNone/>
            </a:pPr>
            <a:r>
              <a:rPr lang="en-US" sz="115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-- 2019-03-31</a:t>
            </a:r>
            <a:endParaRPr lang="en-US" sz="1150" dirty="0"/>
          </a:p>
        </p:txBody>
      </p:sp>
      <p:sp>
        <p:nvSpPr>
          <p:cNvPr id="9" name="Text 7"/>
          <p:cNvSpPr/>
          <p:nvPr/>
        </p:nvSpPr>
        <p:spPr>
          <a:xfrm>
            <a:off x="777240" y="3657600"/>
            <a:ext cx="49377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i="1" dirty="0">
                <a:solidFill>
                  <a:srgbClr val="6272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Practical use: end-of-month billing cycles, “days remaining in this month.”</a:t>
            </a:r>
            <a:endParaRPr lang="en-US" sz="1150" dirty="0"/>
          </a:p>
        </p:txBody>
      </p:sp>
      <p:sp>
        <p:nvSpPr>
          <p:cNvPr id="10" name="Text 8"/>
          <p:cNvSpPr/>
          <p:nvPr/>
        </p:nvSpPr>
        <p:spPr>
          <a:xfrm>
            <a:off x="777240" y="4297680"/>
            <a:ext cx="484632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b="1" spc="150" kern="0" dirty="0">
                <a:solidFill>
                  <a:srgbClr val="0C7C7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EXTRACT()</a:t>
            </a:r>
            <a:endParaRPr lang="en-US" sz="1050" dirty="0"/>
          </a:p>
        </p:txBody>
      </p:sp>
      <p:sp>
        <p:nvSpPr>
          <p:cNvPr id="11" name="Shape 9"/>
          <p:cNvSpPr/>
          <p:nvPr/>
        </p:nvSpPr>
        <p:spPr>
          <a:xfrm>
            <a:off x="777240" y="4572000"/>
            <a:ext cx="4892040" cy="1188720"/>
          </a:xfrm>
          <a:prstGeom prst="roundRect">
            <a:avLst>
              <a:gd name="adj" fmla="val 4615"/>
            </a:avLst>
          </a:prstGeom>
          <a:solidFill>
            <a:srgbClr val="13315C"/>
          </a:solidFill>
          <a:ln w="12700">
            <a:solidFill>
              <a:srgbClr val="14B8A6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978408" y="4700016"/>
            <a:ext cx="4489704" cy="93268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18000"/>
              </a:lnSpc>
              <a:buNone/>
            </a:pPr>
            <a:r>
              <a:rPr lang="en-US" sz="115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SELECT EXTRACT(YEAR FROM hire_date),</a:t>
            </a:r>
            <a:endParaRPr lang="en-US" sz="1150" dirty="0"/>
          </a:p>
          <a:p>
            <a:pPr indent="0" marL="0">
              <a:lnSpc>
                <a:spcPct val="118000"/>
              </a:lnSpc>
              <a:buNone/>
            </a:pPr>
            <a:r>
              <a:rPr lang="en-US" sz="115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EXTRACT(QUARTER FROM hire_date)</a:t>
            </a:r>
            <a:endParaRPr lang="en-US" sz="1150" dirty="0"/>
          </a:p>
          <a:p>
            <a:pPr indent="0" marL="0">
              <a:lnSpc>
                <a:spcPct val="118000"/>
              </a:lnSpc>
              <a:buNone/>
            </a:pPr>
            <a:r>
              <a:rPr lang="en-US" sz="115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FROM employees WHERE emp_id=1;</a:t>
            </a:r>
            <a:endParaRPr lang="en-US" sz="1150" dirty="0"/>
          </a:p>
          <a:p>
            <a:pPr indent="0" marL="0">
              <a:lnSpc>
                <a:spcPct val="118000"/>
              </a:lnSpc>
              <a:buNone/>
            </a:pPr>
            <a:r>
              <a:rPr lang="en-US" sz="115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-- 2019, 1</a:t>
            </a:r>
            <a:endParaRPr lang="en-US" sz="1150" dirty="0"/>
          </a:p>
        </p:txBody>
      </p:sp>
      <p:sp>
        <p:nvSpPr>
          <p:cNvPr id="13" name="Shape 11"/>
          <p:cNvSpPr/>
          <p:nvPr/>
        </p:nvSpPr>
        <p:spPr>
          <a:xfrm>
            <a:off x="6217920" y="1783080"/>
            <a:ext cx="5440680" cy="4160520"/>
          </a:xfrm>
          <a:prstGeom prst="roundRect">
            <a:avLst>
              <a:gd name="adj" fmla="val 1538"/>
            </a:avLst>
          </a:prstGeom>
          <a:solidFill>
            <a:srgbClr val="0B2545"/>
          </a:solidFill>
          <a:ln w="12700">
            <a:solidFill>
              <a:srgbClr val="DCE3EC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6492240" y="1965960"/>
            <a:ext cx="484632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b="1" spc="150" kern="0" dirty="0">
                <a:solidFill>
                  <a:srgbClr val="14B8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UTC — AWARENESS ONLY</a:t>
            </a:r>
            <a:endParaRPr lang="en-US" sz="1050" dirty="0"/>
          </a:p>
        </p:txBody>
      </p:sp>
      <p:sp>
        <p:nvSpPr>
          <p:cNvPr id="15" name="Text 13"/>
          <p:cNvSpPr/>
          <p:nvPr/>
        </p:nvSpPr>
        <p:spPr>
          <a:xfrm>
            <a:off x="6492240" y="2331720"/>
            <a:ext cx="4937760" cy="12801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228600" indent="-228600">
              <a:lnSpc>
                <a:spcPct val="120000"/>
              </a:lnSpc>
              <a:buSzPct val="100000"/>
              <a:buChar char="•"/>
            </a:pPr>
            <a:r>
              <a:rPr lang="en-US" sz="14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UTC_DATE()</a:t>
            </a:r>
            <a:endParaRPr lang="en-US" sz="1400" dirty="0"/>
          </a:p>
          <a:p>
            <a:pPr marL="228600" indent="-228600">
              <a:lnSpc>
                <a:spcPct val="120000"/>
              </a:lnSpc>
              <a:buSzPct val="100000"/>
              <a:buChar char="•"/>
            </a:pPr>
            <a:r>
              <a:rPr lang="en-US" sz="14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UTC_TIME()</a:t>
            </a:r>
            <a:endParaRPr lang="en-US" sz="1400" dirty="0"/>
          </a:p>
          <a:p>
            <a:pPr marL="228600" indent="-228600">
              <a:lnSpc>
                <a:spcPct val="120000"/>
              </a:lnSpc>
              <a:buSzPct val="100000"/>
              <a:buChar char="•"/>
            </a:pPr>
            <a:r>
              <a:rPr lang="en-US" sz="14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UTC_TIMESTAMP()</a:t>
            </a:r>
            <a:endParaRPr lang="en-US" sz="1400" dirty="0"/>
          </a:p>
        </p:txBody>
      </p:sp>
      <p:sp>
        <p:nvSpPr>
          <p:cNvPr id="16" name="Text 14"/>
          <p:cNvSpPr/>
          <p:nvPr/>
        </p:nvSpPr>
        <p:spPr>
          <a:xfrm>
            <a:off x="6492240" y="3749040"/>
            <a:ext cx="4937760" cy="20116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20000"/>
              </a:lnSpc>
              <a:buNone/>
            </a:pPr>
            <a:r>
              <a:rPr lang="en-US" sz="1200" i="1" dirty="0">
                <a:solidFill>
                  <a:srgbClr val="C7D0D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Returns current date/time in Coordinated Universal Time, ignoring the server's local time zone. In distributed systems (servers/users across regions), storing timestamps in UTC avoids ambiguity about which local time zone a value belongs to. Brief awareness point — not a heavy focus of this module.</a:t>
            </a:r>
            <a:endParaRPr lang="en-US" sz="1200" dirty="0"/>
          </a:p>
        </p:txBody>
      </p:sp>
      <p:sp>
        <p:nvSpPr>
          <p:cNvPr id="17" name="Text 15"/>
          <p:cNvSpPr/>
          <p:nvPr/>
        </p:nvSpPr>
        <p:spPr>
          <a:xfrm>
            <a:off x="365760" y="6519672"/>
            <a:ext cx="6400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000" i="1" dirty="0">
                <a:solidFill>
                  <a:srgbClr val="6272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Shalinee Priya   |   Data Analyst  ·  SQL Trainer</a:t>
            </a:r>
            <a:endParaRPr lang="en-US" sz="1000" dirty="0"/>
          </a:p>
        </p:txBody>
      </p:sp>
      <p:sp>
        <p:nvSpPr>
          <p:cNvPr id="18" name="Shape 16"/>
          <p:cNvSpPr/>
          <p:nvPr/>
        </p:nvSpPr>
        <p:spPr>
          <a:xfrm>
            <a:off x="11109960" y="6473952"/>
            <a:ext cx="713232" cy="292608"/>
          </a:xfrm>
          <a:prstGeom prst="roundRect">
            <a:avLst>
              <a:gd name="adj" fmla="val 18750"/>
            </a:avLst>
          </a:prstGeom>
          <a:solidFill>
            <a:srgbClr val="0B2545"/>
          </a:solidFill>
          <a:ln/>
        </p:spPr>
      </p:sp>
      <p:sp>
        <p:nvSpPr>
          <p:cNvPr id="19" name="Text 17"/>
          <p:cNvSpPr/>
          <p:nvPr/>
        </p:nvSpPr>
        <p:spPr>
          <a:xfrm>
            <a:off x="11109960" y="6473952"/>
            <a:ext cx="713232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18/26</a:t>
            </a:r>
            <a:endParaRPr lang="en-US" sz="1100" dirty="0"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320040"/>
            <a:ext cx="9144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0C7C7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MUST NOT BE MISSED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02920" y="566928"/>
            <a:ext cx="1078992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0B2545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NULL Handling — IFNULL, COALESCE, NULLIF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502920" y="1783080"/>
            <a:ext cx="11155680" cy="868680"/>
          </a:xfrm>
          <a:prstGeom prst="roundRect">
            <a:avLst>
              <a:gd name="adj" fmla="val 7368"/>
            </a:avLst>
          </a:prstGeom>
          <a:solidFill>
            <a:srgbClr val="FBEAEA"/>
          </a:solidFill>
          <a:ln w="12700">
            <a:solidFill>
              <a:srgbClr val="DCE3EC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777240" y="1856232"/>
            <a:ext cx="1060704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C74B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NULL means “unknown / not applicable” — NOT the same as 0 or ''. Many arithmetic expressions involving NULL evaluate to NULL, but string functions have FUNCTION-SPECIFIC NULL behavior (e.g. CONCAT() → NULL if any argument is NULL, CONCAT_WS() skips NULLs — Slide 7). emp_id 6 (Neha Gupta) has never logged in — last_login is genuinely NULL, real data.</a:t>
            </a:r>
            <a:endParaRPr lang="en-US" sz="1150" dirty="0"/>
          </a:p>
        </p:txBody>
      </p:sp>
      <p:sp>
        <p:nvSpPr>
          <p:cNvPr id="6" name="Shape 4"/>
          <p:cNvSpPr/>
          <p:nvPr/>
        </p:nvSpPr>
        <p:spPr>
          <a:xfrm>
            <a:off x="502920" y="2788920"/>
            <a:ext cx="3611880" cy="2286000"/>
          </a:xfrm>
          <a:prstGeom prst="roundRect">
            <a:avLst>
              <a:gd name="adj" fmla="val 2800"/>
            </a:avLst>
          </a:prstGeom>
          <a:solidFill>
            <a:srgbClr val="F3F6F9"/>
          </a:solidFill>
          <a:ln w="12700">
            <a:solidFill>
              <a:srgbClr val="DCE3EC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704088" y="2926080"/>
            <a:ext cx="3209544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B25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IS NULL / IS NOT NULL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704088" y="3337560"/>
            <a:ext cx="3209544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13315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WHERE last_login IS NULL;</a:t>
            </a:r>
            <a:endParaRPr lang="en-US" sz="1050" dirty="0"/>
          </a:p>
        </p:txBody>
      </p:sp>
      <p:sp>
        <p:nvSpPr>
          <p:cNvPr id="9" name="Text 7"/>
          <p:cNvSpPr/>
          <p:nvPr/>
        </p:nvSpPr>
        <p:spPr>
          <a:xfrm>
            <a:off x="704088" y="4069080"/>
            <a:ext cx="3209544" cy="914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050" i="1" dirty="0">
                <a:solidFill>
                  <a:srgbClr val="6272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only correct way to test for NULL. ‘= NULL’ never matches anything, even NULL rows.</a:t>
            </a:r>
            <a:endParaRPr lang="en-US" sz="1050" dirty="0"/>
          </a:p>
        </p:txBody>
      </p:sp>
      <p:sp>
        <p:nvSpPr>
          <p:cNvPr id="10" name="Shape 8"/>
          <p:cNvSpPr/>
          <p:nvPr/>
        </p:nvSpPr>
        <p:spPr>
          <a:xfrm>
            <a:off x="4270248" y="2788920"/>
            <a:ext cx="3611880" cy="2286000"/>
          </a:xfrm>
          <a:prstGeom prst="roundRect">
            <a:avLst>
              <a:gd name="adj" fmla="val 2800"/>
            </a:avLst>
          </a:prstGeom>
          <a:solidFill>
            <a:srgbClr val="F3F6F9"/>
          </a:solidFill>
          <a:ln w="12700">
            <a:solidFill>
              <a:srgbClr val="DCE3EC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4471416" y="2926080"/>
            <a:ext cx="3209544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B25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IFNULL(expr, fallback)</a:t>
            </a:r>
            <a:endParaRPr lang="en-US" sz="1300" dirty="0"/>
          </a:p>
        </p:txBody>
      </p:sp>
      <p:sp>
        <p:nvSpPr>
          <p:cNvPr id="12" name="Text 10"/>
          <p:cNvSpPr/>
          <p:nvPr/>
        </p:nvSpPr>
        <p:spPr>
          <a:xfrm>
            <a:off x="4471416" y="3337560"/>
            <a:ext cx="3209544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13315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IFNULL(last_login,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13315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'Never Logged In')</a:t>
            </a:r>
            <a:endParaRPr lang="en-US" sz="1050" dirty="0"/>
          </a:p>
        </p:txBody>
      </p:sp>
      <p:sp>
        <p:nvSpPr>
          <p:cNvPr id="13" name="Text 11"/>
          <p:cNvSpPr/>
          <p:nvPr/>
        </p:nvSpPr>
        <p:spPr>
          <a:xfrm>
            <a:off x="4471416" y="4069080"/>
            <a:ext cx="3209544" cy="914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050" i="1" dirty="0">
                <a:solidFill>
                  <a:srgbClr val="6272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Exactly TWO arguments. Substitutes the fallback only when expr is NULL.</a:t>
            </a:r>
            <a:endParaRPr lang="en-US" sz="1050" dirty="0"/>
          </a:p>
        </p:txBody>
      </p:sp>
      <p:sp>
        <p:nvSpPr>
          <p:cNvPr id="14" name="Shape 12"/>
          <p:cNvSpPr/>
          <p:nvPr/>
        </p:nvSpPr>
        <p:spPr>
          <a:xfrm>
            <a:off x="8037576" y="2788920"/>
            <a:ext cx="3611880" cy="2286000"/>
          </a:xfrm>
          <a:prstGeom prst="roundRect">
            <a:avLst>
              <a:gd name="adj" fmla="val 2800"/>
            </a:avLst>
          </a:prstGeom>
          <a:solidFill>
            <a:srgbClr val="0B2545"/>
          </a:solidFill>
          <a:ln w="12700">
            <a:solidFill>
              <a:srgbClr val="DCE3EC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8238744" y="2926080"/>
            <a:ext cx="3209544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4B8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COALESCE(e1, e2, ...)</a:t>
            </a:r>
            <a:endParaRPr lang="en-US" sz="1300" dirty="0"/>
          </a:p>
        </p:txBody>
      </p:sp>
      <p:sp>
        <p:nvSpPr>
          <p:cNvPr id="16" name="Text 14"/>
          <p:cNvSpPr/>
          <p:nvPr/>
        </p:nvSpPr>
        <p:spPr>
          <a:xfrm>
            <a:off x="8238744" y="3337560"/>
            <a:ext cx="3209544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COALESCE(NULL, NULL,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'Fallback Reached')</a:t>
            </a:r>
            <a:endParaRPr lang="en-US" sz="1050" dirty="0"/>
          </a:p>
        </p:txBody>
      </p:sp>
      <p:sp>
        <p:nvSpPr>
          <p:cNvPr id="17" name="Text 15"/>
          <p:cNvSpPr/>
          <p:nvPr/>
        </p:nvSpPr>
        <p:spPr>
          <a:xfrm>
            <a:off x="8238744" y="4069080"/>
            <a:ext cx="3209544" cy="914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050" i="1" dirty="0">
                <a:solidFill>
                  <a:srgbClr val="C7D0D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ANY number of expressions, same type — returns the first non-NULL one. A superset of IFNULL().</a:t>
            </a:r>
            <a:endParaRPr lang="en-US" sz="1050" dirty="0"/>
          </a:p>
        </p:txBody>
      </p:sp>
      <p:sp>
        <p:nvSpPr>
          <p:cNvPr id="18" name="Shape 16"/>
          <p:cNvSpPr/>
          <p:nvPr/>
        </p:nvSpPr>
        <p:spPr>
          <a:xfrm>
            <a:off x="502920" y="5257800"/>
            <a:ext cx="11155680" cy="1051560"/>
          </a:xfrm>
          <a:prstGeom prst="roundRect">
            <a:avLst>
              <a:gd name="adj" fmla="val 6087"/>
            </a:avLst>
          </a:prstGeom>
          <a:solidFill>
            <a:srgbClr val="0B2545"/>
          </a:solidFill>
          <a:ln/>
        </p:spPr>
      </p:sp>
      <p:sp>
        <p:nvSpPr>
          <p:cNvPr id="19" name="Text 17"/>
          <p:cNvSpPr/>
          <p:nvPr/>
        </p:nvSpPr>
        <p:spPr>
          <a:xfrm>
            <a:off x="731520" y="5376672"/>
            <a:ext cx="1069848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spc="150" kern="0" dirty="0">
                <a:solidFill>
                  <a:srgbClr val="14B8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IFNULL VS COALESCE</a:t>
            </a:r>
            <a:endParaRPr lang="en-US" sz="1100" dirty="0"/>
          </a:p>
        </p:txBody>
      </p:sp>
      <p:sp>
        <p:nvSpPr>
          <p:cNvPr id="20" name="Text 18"/>
          <p:cNvSpPr/>
          <p:nvPr/>
        </p:nvSpPr>
        <p:spPr>
          <a:xfrm>
            <a:off x="731520" y="5641848"/>
            <a:ext cx="10698480" cy="5486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12000"/>
              </a:lnSpc>
              <a:buNone/>
            </a:pPr>
            <a:r>
              <a:rPr lang="en-US" sz="12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IFNULL() takes exactly two arguments. COALESCE() accepts any number and returns the first non-NULL one — many teams standardize on COALESCE() everywhere for this flexibility, even in the simple two-argument case.</a:t>
            </a:r>
            <a:endParaRPr lang="en-US" sz="1250" dirty="0"/>
          </a:p>
        </p:txBody>
      </p:sp>
      <p:sp>
        <p:nvSpPr>
          <p:cNvPr id="21" name="Text 19"/>
          <p:cNvSpPr/>
          <p:nvPr/>
        </p:nvSpPr>
        <p:spPr>
          <a:xfrm>
            <a:off x="365760" y="6519672"/>
            <a:ext cx="6400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000" i="1" dirty="0">
                <a:solidFill>
                  <a:srgbClr val="6272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Shalinee Priya   |   Data Analyst  ·  SQL Trainer</a:t>
            </a:r>
            <a:endParaRPr lang="en-US" sz="1000" dirty="0"/>
          </a:p>
        </p:txBody>
      </p:sp>
      <p:sp>
        <p:nvSpPr>
          <p:cNvPr id="22" name="Shape 20"/>
          <p:cNvSpPr/>
          <p:nvPr/>
        </p:nvSpPr>
        <p:spPr>
          <a:xfrm>
            <a:off x="11109960" y="6473952"/>
            <a:ext cx="713232" cy="292608"/>
          </a:xfrm>
          <a:prstGeom prst="roundRect">
            <a:avLst>
              <a:gd name="adj" fmla="val 18750"/>
            </a:avLst>
          </a:prstGeom>
          <a:solidFill>
            <a:srgbClr val="0B2545"/>
          </a:solidFill>
          <a:ln/>
        </p:spPr>
      </p:sp>
      <p:sp>
        <p:nvSpPr>
          <p:cNvPr id="23" name="Text 21"/>
          <p:cNvSpPr/>
          <p:nvPr/>
        </p:nvSpPr>
        <p:spPr>
          <a:xfrm>
            <a:off x="11109960" y="6473952"/>
            <a:ext cx="713232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19/26</a:t>
            </a:r>
            <a:endParaRPr lang="en-US" sz="1100" dirty="0"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320040"/>
            <a:ext cx="9144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0C7C7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SUPPORTING BUSINESS LOGIC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02920" y="566928"/>
            <a:ext cx="1078992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0B2545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CASE + Functions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502920" y="1828800"/>
            <a:ext cx="11155680" cy="1828800"/>
          </a:xfrm>
          <a:prstGeom prst="roundRect">
            <a:avLst>
              <a:gd name="adj" fmla="val 3000"/>
            </a:avLst>
          </a:prstGeom>
          <a:solidFill>
            <a:srgbClr val="13315C"/>
          </a:solidFill>
          <a:ln w="12700">
            <a:solidFill>
              <a:srgbClr val="14B8A6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704088" y="1956816"/>
            <a:ext cx="10753344" cy="157276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18000"/>
              </a:lnSpc>
              <a:buNone/>
            </a:pPr>
            <a:r>
              <a:rPr lang="en-US" sz="135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SELECT first_name, salary,</a:t>
            </a:r>
            <a:endParaRPr lang="en-US" sz="1350" dirty="0"/>
          </a:p>
          <a:p>
            <a:pPr indent="0" marL="0">
              <a:lnSpc>
                <a:spcPct val="118000"/>
              </a:lnSpc>
              <a:buNone/>
            </a:pPr>
            <a:r>
              <a:rPr lang="en-US" sz="135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CASE WHEN salary &gt;= 80000 THEN 'High'</a:t>
            </a:r>
            <a:endParaRPr lang="en-US" sz="1350" dirty="0"/>
          </a:p>
          <a:p>
            <a:pPr indent="0" marL="0">
              <a:lnSpc>
                <a:spcPct val="118000"/>
              </a:lnSpc>
              <a:buNone/>
            </a:pPr>
            <a:r>
              <a:rPr lang="en-US" sz="135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    WHEN salary &gt;= 60000 THEN 'Medium'</a:t>
            </a:r>
            <a:endParaRPr lang="en-US" sz="1350" dirty="0"/>
          </a:p>
          <a:p>
            <a:pPr indent="0" marL="0">
              <a:lnSpc>
                <a:spcPct val="118000"/>
              </a:lnSpc>
              <a:buNone/>
            </a:pPr>
            <a:r>
              <a:rPr lang="en-US" sz="135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    ELSE 'Low'</a:t>
            </a:r>
            <a:endParaRPr lang="en-US" sz="1350" dirty="0"/>
          </a:p>
          <a:p>
            <a:pPr indent="0" marL="0">
              <a:lnSpc>
                <a:spcPct val="118000"/>
              </a:lnSpc>
              <a:buNone/>
            </a:pPr>
            <a:r>
              <a:rPr lang="en-US" sz="135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END AS salary_band</a:t>
            </a:r>
            <a:endParaRPr lang="en-US" sz="1350" dirty="0"/>
          </a:p>
          <a:p>
            <a:pPr indent="0" marL="0">
              <a:lnSpc>
                <a:spcPct val="118000"/>
              </a:lnSpc>
              <a:buNone/>
            </a:pPr>
            <a:r>
              <a:rPr lang="en-US" sz="135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FROM employees;</a:t>
            </a:r>
            <a:endParaRPr lang="en-US" sz="1350" dirty="0"/>
          </a:p>
        </p:txBody>
      </p:sp>
      <p:sp>
        <p:nvSpPr>
          <p:cNvPr id="6" name="Shape 4"/>
          <p:cNvSpPr/>
          <p:nvPr/>
        </p:nvSpPr>
        <p:spPr>
          <a:xfrm>
            <a:off x="502920" y="3886200"/>
            <a:ext cx="3611880" cy="822960"/>
          </a:xfrm>
          <a:prstGeom prst="roundRect">
            <a:avLst>
              <a:gd name="adj" fmla="val 7778"/>
            </a:avLst>
          </a:prstGeom>
          <a:solidFill>
            <a:srgbClr val="0B2545"/>
          </a:solidFill>
          <a:ln w="12700">
            <a:solidFill>
              <a:srgbClr val="DCE3EC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685800" y="3977640"/>
            <a:ext cx="32461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High</a:t>
            </a:r>
            <a:endParaRPr lang="en-US" sz="1500" dirty="0"/>
          </a:p>
        </p:txBody>
      </p:sp>
      <p:sp>
        <p:nvSpPr>
          <p:cNvPr id="8" name="Text 6"/>
          <p:cNvSpPr/>
          <p:nvPr/>
        </p:nvSpPr>
        <p:spPr>
          <a:xfrm>
            <a:off x="685800" y="4325112"/>
            <a:ext cx="32461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E9F8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≥ ₹80,000</a:t>
            </a:r>
            <a:endParaRPr lang="en-US" sz="1150" dirty="0"/>
          </a:p>
        </p:txBody>
      </p:sp>
      <p:sp>
        <p:nvSpPr>
          <p:cNvPr id="9" name="Shape 7"/>
          <p:cNvSpPr/>
          <p:nvPr/>
        </p:nvSpPr>
        <p:spPr>
          <a:xfrm>
            <a:off x="4270248" y="3886200"/>
            <a:ext cx="3611880" cy="822960"/>
          </a:xfrm>
          <a:prstGeom prst="roundRect">
            <a:avLst>
              <a:gd name="adj" fmla="val 7778"/>
            </a:avLst>
          </a:prstGeom>
          <a:solidFill>
            <a:srgbClr val="1B3F73"/>
          </a:solidFill>
          <a:ln w="12700">
            <a:solidFill>
              <a:srgbClr val="DCE3EC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4453128" y="3977640"/>
            <a:ext cx="32461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Medium</a:t>
            </a:r>
            <a:endParaRPr lang="en-US" sz="1500" dirty="0"/>
          </a:p>
        </p:txBody>
      </p:sp>
      <p:sp>
        <p:nvSpPr>
          <p:cNvPr id="11" name="Text 9"/>
          <p:cNvSpPr/>
          <p:nvPr/>
        </p:nvSpPr>
        <p:spPr>
          <a:xfrm>
            <a:off x="4453128" y="4325112"/>
            <a:ext cx="32461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E9F8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₹60,000 – 79,999</a:t>
            </a:r>
            <a:endParaRPr lang="en-US" sz="1150" dirty="0"/>
          </a:p>
        </p:txBody>
      </p:sp>
      <p:sp>
        <p:nvSpPr>
          <p:cNvPr id="12" name="Shape 10"/>
          <p:cNvSpPr/>
          <p:nvPr/>
        </p:nvSpPr>
        <p:spPr>
          <a:xfrm>
            <a:off x="8037576" y="3886200"/>
            <a:ext cx="3611880" cy="822960"/>
          </a:xfrm>
          <a:prstGeom prst="roundRect">
            <a:avLst>
              <a:gd name="adj" fmla="val 7778"/>
            </a:avLst>
          </a:prstGeom>
          <a:solidFill>
            <a:srgbClr val="62728A"/>
          </a:solidFill>
          <a:ln w="12700">
            <a:solidFill>
              <a:srgbClr val="DCE3EC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8220456" y="3977640"/>
            <a:ext cx="32461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Low</a:t>
            </a:r>
            <a:endParaRPr lang="en-US" sz="1500" dirty="0"/>
          </a:p>
        </p:txBody>
      </p:sp>
      <p:sp>
        <p:nvSpPr>
          <p:cNvPr id="14" name="Text 12"/>
          <p:cNvSpPr/>
          <p:nvPr/>
        </p:nvSpPr>
        <p:spPr>
          <a:xfrm>
            <a:off x="8220456" y="4325112"/>
            <a:ext cx="32461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E9F8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&lt; ₹60,000</a:t>
            </a:r>
            <a:endParaRPr lang="en-US" sz="1150" dirty="0"/>
          </a:p>
        </p:txBody>
      </p:sp>
      <p:sp>
        <p:nvSpPr>
          <p:cNvPr id="15" name="Text 13"/>
          <p:cNvSpPr/>
          <p:nvPr/>
        </p:nvSpPr>
        <p:spPr>
          <a:xfrm>
            <a:off x="502920" y="4937760"/>
            <a:ext cx="11155680" cy="12801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25000"/>
              </a:lnSpc>
              <a:buNone/>
            </a:pPr>
            <a:r>
              <a:rPr lang="en-US" sz="1300" i="1" dirty="0">
                <a:solidFill>
                  <a:srgbClr val="6272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Also used for tenure categories (Veteran / Established / New Joiner), login status (Recent / Inactive / Never Logged In using IS NULL), and bonus bands — CASE turns a calculated value into a business-meaningful category.</a:t>
            </a:r>
            <a:endParaRPr lang="en-US" sz="1300" dirty="0"/>
          </a:p>
        </p:txBody>
      </p:sp>
      <p:sp>
        <p:nvSpPr>
          <p:cNvPr id="16" name="Text 14"/>
          <p:cNvSpPr/>
          <p:nvPr/>
        </p:nvSpPr>
        <p:spPr>
          <a:xfrm>
            <a:off x="365760" y="6519672"/>
            <a:ext cx="6400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000" i="1" dirty="0">
                <a:solidFill>
                  <a:srgbClr val="6272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Shalinee Priya   |   Data Analyst  ·  SQL Trainer</a:t>
            </a:r>
            <a:endParaRPr lang="en-US" sz="1000" dirty="0"/>
          </a:p>
        </p:txBody>
      </p:sp>
      <p:sp>
        <p:nvSpPr>
          <p:cNvPr id="17" name="Shape 15"/>
          <p:cNvSpPr/>
          <p:nvPr/>
        </p:nvSpPr>
        <p:spPr>
          <a:xfrm>
            <a:off x="11109960" y="6473952"/>
            <a:ext cx="713232" cy="292608"/>
          </a:xfrm>
          <a:prstGeom prst="roundRect">
            <a:avLst>
              <a:gd name="adj" fmla="val 18750"/>
            </a:avLst>
          </a:prstGeom>
          <a:solidFill>
            <a:srgbClr val="0B2545"/>
          </a:solidFill>
          <a:ln/>
        </p:spPr>
      </p:sp>
      <p:sp>
        <p:nvSpPr>
          <p:cNvPr id="18" name="Text 16"/>
          <p:cNvSpPr/>
          <p:nvPr/>
        </p:nvSpPr>
        <p:spPr>
          <a:xfrm>
            <a:off x="11109960" y="6473952"/>
            <a:ext cx="713232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20/26</a:t>
            </a:r>
            <a:endParaRPr lang="en-US" sz="1100" dirty="0"/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320040"/>
            <a:ext cx="9144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0C7C7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WHERE DAY 10 BECOMES INTERVIEW-READY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02920" y="566928"/>
            <a:ext cx="1078992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0B2545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Combining Functions with WHERE, GROUP BY, JOIN, Subquery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502920" y="1828800"/>
            <a:ext cx="5440680" cy="868680"/>
          </a:xfrm>
          <a:prstGeom prst="roundRect">
            <a:avLst>
              <a:gd name="adj" fmla="val 7368"/>
            </a:avLst>
          </a:prstGeom>
          <a:solidFill>
            <a:srgbClr val="F3F6F9"/>
          </a:solidFill>
          <a:ln w="12700">
            <a:solidFill>
              <a:srgbClr val="DCE3EC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685800" y="1901952"/>
            <a:ext cx="50749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0B25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WHERE + function</a:t>
            </a:r>
            <a:endParaRPr lang="en-US" sz="1250" dirty="0"/>
          </a:p>
        </p:txBody>
      </p:sp>
      <p:sp>
        <p:nvSpPr>
          <p:cNvPr id="6" name="Text 4"/>
          <p:cNvSpPr/>
          <p:nvPr/>
        </p:nvSpPr>
        <p:spPr>
          <a:xfrm>
            <a:off x="685800" y="2212848"/>
            <a:ext cx="507492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0C7C7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WHERE YEAR(hire_date) = 2020</a:t>
            </a:r>
            <a:endParaRPr lang="en-US" sz="1100" dirty="0"/>
          </a:p>
        </p:txBody>
      </p:sp>
      <p:sp>
        <p:nvSpPr>
          <p:cNvPr id="7" name="Shape 5"/>
          <p:cNvSpPr/>
          <p:nvPr/>
        </p:nvSpPr>
        <p:spPr>
          <a:xfrm>
            <a:off x="6217920" y="1828800"/>
            <a:ext cx="5440680" cy="868680"/>
          </a:xfrm>
          <a:prstGeom prst="roundRect">
            <a:avLst>
              <a:gd name="adj" fmla="val 7368"/>
            </a:avLst>
          </a:prstGeom>
          <a:solidFill>
            <a:srgbClr val="F3F6F9"/>
          </a:solidFill>
          <a:ln w="12700">
            <a:solidFill>
              <a:srgbClr val="DCE3EC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6400800" y="1901952"/>
            <a:ext cx="50749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0B25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GROUP BY + function</a:t>
            </a:r>
            <a:endParaRPr lang="en-US" sz="1250" dirty="0"/>
          </a:p>
        </p:txBody>
      </p:sp>
      <p:sp>
        <p:nvSpPr>
          <p:cNvPr id="9" name="Text 7"/>
          <p:cNvSpPr/>
          <p:nvPr/>
        </p:nvSpPr>
        <p:spPr>
          <a:xfrm>
            <a:off x="6400800" y="2212848"/>
            <a:ext cx="507492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0C7C7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GROUP BY YEAR(hire_date), MONTH(hire_date)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502920" y="2834640"/>
            <a:ext cx="5440680" cy="868680"/>
          </a:xfrm>
          <a:prstGeom prst="roundRect">
            <a:avLst>
              <a:gd name="adj" fmla="val 7368"/>
            </a:avLst>
          </a:prstGeom>
          <a:solidFill>
            <a:srgbClr val="F3F6F9"/>
          </a:solidFill>
          <a:ln w="12700">
            <a:solidFill>
              <a:srgbClr val="DCE3EC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685800" y="2907792"/>
            <a:ext cx="50749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0B25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ORDER BY + function</a:t>
            </a:r>
            <a:endParaRPr lang="en-US" sz="1250" dirty="0"/>
          </a:p>
        </p:txBody>
      </p:sp>
      <p:sp>
        <p:nvSpPr>
          <p:cNvPr id="12" name="Text 10"/>
          <p:cNvSpPr/>
          <p:nvPr/>
        </p:nvSpPr>
        <p:spPr>
          <a:xfrm>
            <a:off x="685800" y="3218688"/>
            <a:ext cx="507492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0C7C7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ORDER BY ROUND(salary,0) DESC</a:t>
            </a:r>
            <a:endParaRPr lang="en-US" sz="1100" dirty="0"/>
          </a:p>
        </p:txBody>
      </p:sp>
      <p:sp>
        <p:nvSpPr>
          <p:cNvPr id="13" name="Shape 11"/>
          <p:cNvSpPr/>
          <p:nvPr/>
        </p:nvSpPr>
        <p:spPr>
          <a:xfrm>
            <a:off x="6217920" y="2834640"/>
            <a:ext cx="5440680" cy="868680"/>
          </a:xfrm>
          <a:prstGeom prst="roundRect">
            <a:avLst>
              <a:gd name="adj" fmla="val 7368"/>
            </a:avLst>
          </a:prstGeom>
          <a:solidFill>
            <a:srgbClr val="F3F6F9"/>
          </a:solidFill>
          <a:ln w="12700">
            <a:solidFill>
              <a:srgbClr val="DCE3EC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6400800" y="2907792"/>
            <a:ext cx="50749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0B25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HAVING + function</a:t>
            </a:r>
            <a:endParaRPr lang="en-US" sz="1250" dirty="0"/>
          </a:p>
        </p:txBody>
      </p:sp>
      <p:sp>
        <p:nvSpPr>
          <p:cNvPr id="15" name="Text 13"/>
          <p:cNvSpPr/>
          <p:nvPr/>
        </p:nvSpPr>
        <p:spPr>
          <a:xfrm>
            <a:off x="6400800" y="3218688"/>
            <a:ext cx="507492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0C7C7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HAVING AVG(ROUND(salary,2)) &gt; 55000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502920" y="3840480"/>
            <a:ext cx="5440680" cy="868680"/>
          </a:xfrm>
          <a:prstGeom prst="roundRect">
            <a:avLst>
              <a:gd name="adj" fmla="val 7368"/>
            </a:avLst>
          </a:prstGeom>
          <a:solidFill>
            <a:srgbClr val="F3F6F9"/>
          </a:solidFill>
          <a:ln w="12700">
            <a:solidFill>
              <a:srgbClr val="DCE3EC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685800" y="3913632"/>
            <a:ext cx="50749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0B25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JOIN + string function</a:t>
            </a:r>
            <a:endParaRPr lang="en-US" sz="1250" dirty="0"/>
          </a:p>
        </p:txBody>
      </p:sp>
      <p:sp>
        <p:nvSpPr>
          <p:cNvPr id="18" name="Text 16"/>
          <p:cNvSpPr/>
          <p:nvPr/>
        </p:nvSpPr>
        <p:spPr>
          <a:xfrm>
            <a:off x="685800" y="4224528"/>
            <a:ext cx="507492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0C7C7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SELECT UPPER(d.location) ... JOIN departments d</a:t>
            </a:r>
            <a:endParaRPr lang="en-US" sz="1100" dirty="0"/>
          </a:p>
        </p:txBody>
      </p:sp>
      <p:sp>
        <p:nvSpPr>
          <p:cNvPr id="19" name="Shape 17"/>
          <p:cNvSpPr/>
          <p:nvPr/>
        </p:nvSpPr>
        <p:spPr>
          <a:xfrm>
            <a:off x="6217920" y="3840480"/>
            <a:ext cx="5440680" cy="868680"/>
          </a:xfrm>
          <a:prstGeom prst="roundRect">
            <a:avLst>
              <a:gd name="adj" fmla="val 7368"/>
            </a:avLst>
          </a:prstGeom>
          <a:solidFill>
            <a:srgbClr val="F3F6F9"/>
          </a:solidFill>
          <a:ln w="12700">
            <a:solidFill>
              <a:srgbClr val="DCE3EC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6400800" y="3913632"/>
            <a:ext cx="50749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0B25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Subquery + numeric function</a:t>
            </a:r>
            <a:endParaRPr lang="en-US" sz="1250" dirty="0"/>
          </a:p>
        </p:txBody>
      </p:sp>
      <p:sp>
        <p:nvSpPr>
          <p:cNvPr id="21" name="Text 19"/>
          <p:cNvSpPr/>
          <p:nvPr/>
        </p:nvSpPr>
        <p:spPr>
          <a:xfrm>
            <a:off x="6400800" y="4224528"/>
            <a:ext cx="507492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0C7C7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WHERE salary &gt; (SELECT ROUND(AVG(salary),2)...)</a:t>
            </a:r>
            <a:endParaRPr lang="en-US" sz="1100" dirty="0"/>
          </a:p>
        </p:txBody>
      </p:sp>
      <p:sp>
        <p:nvSpPr>
          <p:cNvPr id="22" name="Text 20"/>
          <p:cNvSpPr/>
          <p:nvPr/>
        </p:nvSpPr>
        <p:spPr>
          <a:xfrm>
            <a:off x="365760" y="6519672"/>
            <a:ext cx="6400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000" i="1" dirty="0">
                <a:solidFill>
                  <a:srgbClr val="6272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Shalinee Priya   |   Data Analyst  ·  SQL Trainer</a:t>
            </a:r>
            <a:endParaRPr lang="en-US" sz="1000" dirty="0"/>
          </a:p>
        </p:txBody>
      </p:sp>
      <p:sp>
        <p:nvSpPr>
          <p:cNvPr id="23" name="Shape 21"/>
          <p:cNvSpPr/>
          <p:nvPr/>
        </p:nvSpPr>
        <p:spPr>
          <a:xfrm>
            <a:off x="11109960" y="6473952"/>
            <a:ext cx="713232" cy="292608"/>
          </a:xfrm>
          <a:prstGeom prst="roundRect">
            <a:avLst>
              <a:gd name="adj" fmla="val 18750"/>
            </a:avLst>
          </a:prstGeom>
          <a:solidFill>
            <a:srgbClr val="0B2545"/>
          </a:solidFill>
          <a:ln/>
        </p:spPr>
      </p:sp>
      <p:sp>
        <p:nvSpPr>
          <p:cNvPr id="24" name="Text 22"/>
          <p:cNvSpPr/>
          <p:nvPr/>
        </p:nvSpPr>
        <p:spPr>
          <a:xfrm>
            <a:off x="11109960" y="6473952"/>
            <a:ext cx="713232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21/26</a:t>
            </a:r>
            <a:endParaRPr lang="en-US" sz="1100" dirty="0"/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320040"/>
            <a:ext cx="9144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0C7C7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CASE STUDY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02920" y="566928"/>
            <a:ext cx="1078992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0B2545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HR Analytics — One Coherent Employee Dataset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502920" y="1783080"/>
            <a:ext cx="11155680" cy="914400"/>
          </a:xfrm>
          <a:prstGeom prst="roundRect">
            <a:avLst>
              <a:gd name="adj" fmla="val 7000"/>
            </a:avLst>
          </a:prstGeom>
          <a:solidFill>
            <a:srgbClr val="F3F6F9"/>
          </a:solidFill>
          <a:ln w="12700">
            <a:solidFill>
              <a:srgbClr val="DCE3EC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502920" y="1783080"/>
            <a:ext cx="1115568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0B254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hr_analytics.employees   (14 rows)   ×   hr_analytics.departments   (6 rows)</a:t>
            </a:r>
            <a:endParaRPr lang="en-US" sz="1500" dirty="0"/>
          </a:p>
        </p:txBody>
      </p:sp>
      <p:sp>
        <p:nvSpPr>
          <p:cNvPr id="6" name="Text 4"/>
          <p:cNvSpPr/>
          <p:nvPr/>
        </p:nvSpPr>
        <p:spPr>
          <a:xfrm>
            <a:off x="777240" y="2926080"/>
            <a:ext cx="10607040" cy="35661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228600" indent="-228600">
              <a:lnSpc>
                <a:spcPct val="120000"/>
              </a:lnSpc>
              <a:buSzPct val="100000"/>
              <a:buChar char="•"/>
            </a:pPr>
            <a:r>
              <a:rPr lang="en-US" sz="1400" dirty="0">
                <a:solidFill>
                  <a:srgbClr val="1120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Create employee display names &amp; formatted labels</a:t>
            </a:r>
            <a:endParaRPr lang="en-US" sz="1400" dirty="0"/>
          </a:p>
          <a:p>
            <a:pPr marL="228600" indent="-228600">
              <a:lnSpc>
                <a:spcPct val="120000"/>
              </a:lnSpc>
              <a:buSzPct val="100000"/>
              <a:buChar char="•"/>
            </a:pPr>
            <a:r>
              <a:rPr lang="en-US" sz="1400" dirty="0">
                <a:solidFill>
                  <a:srgbClr val="1120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Standardize and mask email data</a:t>
            </a:r>
            <a:endParaRPr lang="en-US" sz="1400" dirty="0"/>
          </a:p>
          <a:p>
            <a:pPr marL="228600" indent="-228600">
              <a:lnSpc>
                <a:spcPct val="120000"/>
              </a:lnSpc>
              <a:buSzPct val="100000"/>
              <a:buChar char="•"/>
            </a:pPr>
            <a:r>
              <a:rPr lang="en-US" sz="1400" dirty="0">
                <a:solidFill>
                  <a:srgbClr val="1120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Calculate monthly salary and bonus amount</a:t>
            </a:r>
            <a:endParaRPr lang="en-US" sz="1400" dirty="0"/>
          </a:p>
          <a:p>
            <a:pPr marL="228600" indent="-228600">
              <a:lnSpc>
                <a:spcPct val="120000"/>
              </a:lnSpc>
              <a:buSzPct val="100000"/>
              <a:buChar char="•"/>
            </a:pPr>
            <a:r>
              <a:rPr lang="en-US" sz="1400" dirty="0">
                <a:solidFill>
                  <a:srgbClr val="1120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Categorize salary bands with CASE</a:t>
            </a:r>
            <a:endParaRPr lang="en-US" sz="1400" dirty="0"/>
          </a:p>
          <a:p>
            <a:pPr marL="228600" indent="-228600">
              <a:lnSpc>
                <a:spcPct val="120000"/>
              </a:lnSpc>
              <a:buSzPct val="100000"/>
              <a:buChar char="•"/>
            </a:pPr>
            <a:r>
              <a:rPr lang="en-US" sz="1400" dirty="0">
                <a:solidFill>
                  <a:srgbClr val="1120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Calculate employee age and years of service</a:t>
            </a:r>
            <a:endParaRPr lang="en-US" sz="1400" dirty="0"/>
          </a:p>
          <a:p>
            <a:pPr marL="228600" indent="-228600">
              <a:lnSpc>
                <a:spcPct val="120000"/>
              </a:lnSpc>
              <a:buSzPct val="100000"/>
              <a:buChar char="•"/>
            </a:pPr>
            <a:r>
              <a:rPr lang="en-US" sz="1400" dirty="0">
                <a:solidFill>
                  <a:srgbClr val="1120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Identify employees due for a milestone anniversary</a:t>
            </a:r>
            <a:endParaRPr lang="en-US" sz="1400" dirty="0"/>
          </a:p>
          <a:p>
            <a:pPr marL="228600" indent="-228600">
              <a:lnSpc>
                <a:spcPct val="120000"/>
              </a:lnSpc>
              <a:buSzPct val="100000"/>
              <a:buChar char="•"/>
            </a:pPr>
            <a:r>
              <a:rPr lang="en-US" sz="1400" dirty="0">
                <a:solidFill>
                  <a:srgbClr val="1120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Flag employees with no recent login (NULL-aware)</a:t>
            </a:r>
            <a:endParaRPr lang="en-US" sz="1400" dirty="0"/>
          </a:p>
          <a:p>
            <a:pPr marL="228600" indent="-228600">
              <a:lnSpc>
                <a:spcPct val="120000"/>
              </a:lnSpc>
              <a:buSzPct val="100000"/>
              <a:buChar char="•"/>
            </a:pPr>
            <a:r>
              <a:rPr lang="en-US" sz="1400" dirty="0">
                <a:solidFill>
                  <a:srgbClr val="1120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Analyze hiring trends by year / quarter / month</a:t>
            </a:r>
            <a:endParaRPr lang="en-US" sz="1400" dirty="0"/>
          </a:p>
          <a:p>
            <a:pPr marL="228600" indent="-228600">
              <a:lnSpc>
                <a:spcPct val="120000"/>
              </a:lnSpc>
              <a:buSzPct val="100000"/>
              <a:buChar char="•"/>
            </a:pPr>
            <a:r>
              <a:rPr lang="en-US" sz="1400" dirty="0">
                <a:solidFill>
                  <a:srgbClr val="1120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Build a management-ready employee summary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365760" y="6519672"/>
            <a:ext cx="6400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000" i="1" dirty="0">
                <a:solidFill>
                  <a:srgbClr val="6272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Shalinee Priya   |   Data Analyst  ·  SQL Trainer</a:t>
            </a:r>
            <a:endParaRPr lang="en-US" sz="1000" dirty="0"/>
          </a:p>
        </p:txBody>
      </p:sp>
      <p:sp>
        <p:nvSpPr>
          <p:cNvPr id="8" name="Shape 6"/>
          <p:cNvSpPr/>
          <p:nvPr/>
        </p:nvSpPr>
        <p:spPr>
          <a:xfrm>
            <a:off x="11109960" y="6473952"/>
            <a:ext cx="713232" cy="292608"/>
          </a:xfrm>
          <a:prstGeom prst="roundRect">
            <a:avLst>
              <a:gd name="adj" fmla="val 18750"/>
            </a:avLst>
          </a:prstGeom>
          <a:solidFill>
            <a:srgbClr val="0B2545"/>
          </a:solidFill>
          <a:ln/>
        </p:spPr>
      </p:sp>
      <p:sp>
        <p:nvSpPr>
          <p:cNvPr id="9" name="Text 7"/>
          <p:cNvSpPr/>
          <p:nvPr/>
        </p:nvSpPr>
        <p:spPr>
          <a:xfrm>
            <a:off x="11109960" y="6473952"/>
            <a:ext cx="713232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22/26</a:t>
            </a:r>
            <a:endParaRPr lang="en-US" sz="1100" dirty="0"/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320040"/>
            <a:ext cx="9144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0C7C7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HIGH-PRIORITY CALLOUTS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02920" y="566928"/>
            <a:ext cx="1078992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0B2545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Interview Traps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502920" y="1783080"/>
            <a:ext cx="5440680" cy="1234440"/>
          </a:xfrm>
          <a:prstGeom prst="roundRect">
            <a:avLst>
              <a:gd name="adj" fmla="val 5185"/>
            </a:avLst>
          </a:prstGeom>
          <a:solidFill>
            <a:srgbClr val="0B2545"/>
          </a:solidFill>
          <a:ln w="12700">
            <a:solidFill>
              <a:srgbClr val="DCE3EC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704088" y="1892808"/>
            <a:ext cx="5038344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4B8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MAX(column) vs GREATEST(...)</a:t>
            </a:r>
            <a:endParaRPr lang="en-US" sz="1300" dirty="0"/>
          </a:p>
        </p:txBody>
      </p:sp>
      <p:sp>
        <p:nvSpPr>
          <p:cNvPr id="6" name="Text 4"/>
          <p:cNvSpPr/>
          <p:nvPr/>
        </p:nvSpPr>
        <p:spPr>
          <a:xfrm>
            <a:off x="704088" y="2258568"/>
            <a:ext cx="5038344" cy="71323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11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MAX is aggregate (many rows). GREATEST is scalar (many columns, one row).</a:t>
            </a:r>
            <a:endParaRPr lang="en-US" sz="1150" dirty="0"/>
          </a:p>
        </p:txBody>
      </p:sp>
      <p:sp>
        <p:nvSpPr>
          <p:cNvPr id="7" name="Shape 5"/>
          <p:cNvSpPr/>
          <p:nvPr/>
        </p:nvSpPr>
        <p:spPr>
          <a:xfrm>
            <a:off x="6217920" y="1783080"/>
            <a:ext cx="5440680" cy="1234440"/>
          </a:xfrm>
          <a:prstGeom prst="roundRect">
            <a:avLst>
              <a:gd name="adj" fmla="val 5185"/>
            </a:avLst>
          </a:prstGeom>
          <a:solidFill>
            <a:srgbClr val="0B2545"/>
          </a:solidFill>
          <a:ln w="12700">
            <a:solidFill>
              <a:srgbClr val="DCE3EC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6419088" y="1892808"/>
            <a:ext cx="5038344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4B8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CEIL/FLOOR on negatives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6419088" y="2258568"/>
            <a:ext cx="5038344" cy="71323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11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CEIL(-15.4) = -15. FLOOR(-15.4) = -16. The positive-number intuition breaks.</a:t>
            </a:r>
            <a:endParaRPr lang="en-US" sz="1150" dirty="0"/>
          </a:p>
        </p:txBody>
      </p:sp>
      <p:sp>
        <p:nvSpPr>
          <p:cNvPr id="10" name="Shape 8"/>
          <p:cNvSpPr/>
          <p:nvPr/>
        </p:nvSpPr>
        <p:spPr>
          <a:xfrm>
            <a:off x="502920" y="3182112"/>
            <a:ext cx="5440680" cy="1234440"/>
          </a:xfrm>
          <a:prstGeom prst="roundRect">
            <a:avLst>
              <a:gd name="adj" fmla="val 5185"/>
            </a:avLst>
          </a:prstGeom>
          <a:solidFill>
            <a:srgbClr val="0B2545"/>
          </a:solidFill>
          <a:ln w="12700">
            <a:solidFill>
              <a:srgbClr val="DCE3EC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704088" y="3291840"/>
            <a:ext cx="5038344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4B8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= NULL vs IS NULL</a:t>
            </a:r>
            <a:endParaRPr lang="en-US" sz="1300" dirty="0"/>
          </a:p>
        </p:txBody>
      </p:sp>
      <p:sp>
        <p:nvSpPr>
          <p:cNvPr id="12" name="Text 10"/>
          <p:cNvSpPr/>
          <p:nvPr/>
        </p:nvSpPr>
        <p:spPr>
          <a:xfrm>
            <a:off x="704088" y="3657600"/>
            <a:ext cx="5038344" cy="71323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11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'= NULL' never matches any row, even a NULL row. Always use IS NULL.</a:t>
            </a:r>
            <a:endParaRPr lang="en-US" sz="1150" dirty="0"/>
          </a:p>
        </p:txBody>
      </p:sp>
      <p:sp>
        <p:nvSpPr>
          <p:cNvPr id="13" name="Shape 11"/>
          <p:cNvSpPr/>
          <p:nvPr/>
        </p:nvSpPr>
        <p:spPr>
          <a:xfrm>
            <a:off x="6217920" y="3182112"/>
            <a:ext cx="5440680" cy="1234440"/>
          </a:xfrm>
          <a:prstGeom prst="roundRect">
            <a:avLst>
              <a:gd name="adj" fmla="val 5185"/>
            </a:avLst>
          </a:prstGeom>
          <a:solidFill>
            <a:srgbClr val="0B2545"/>
          </a:solidFill>
          <a:ln w="12700">
            <a:solidFill>
              <a:srgbClr val="DCE3EC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6419088" y="3291840"/>
            <a:ext cx="5038344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4B8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DATEDIFF vs TIMESTAMPDIFF</a:t>
            </a:r>
            <a:endParaRPr lang="en-US" sz="1300" dirty="0"/>
          </a:p>
        </p:txBody>
      </p:sp>
      <p:sp>
        <p:nvSpPr>
          <p:cNvPr id="15" name="Text 13"/>
          <p:cNvSpPr/>
          <p:nvPr/>
        </p:nvSpPr>
        <p:spPr>
          <a:xfrm>
            <a:off x="6419088" y="3657600"/>
            <a:ext cx="5038344" cy="71323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11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DATEDIFF only ever returns DAYS. TIMESTAMPDIFF lets you choose YEAR/MONTH/etc.</a:t>
            </a:r>
            <a:endParaRPr lang="en-US" sz="1150" dirty="0"/>
          </a:p>
        </p:txBody>
      </p:sp>
      <p:sp>
        <p:nvSpPr>
          <p:cNvPr id="16" name="Shape 14"/>
          <p:cNvSpPr/>
          <p:nvPr/>
        </p:nvSpPr>
        <p:spPr>
          <a:xfrm>
            <a:off x="502920" y="4581144"/>
            <a:ext cx="5440680" cy="1234440"/>
          </a:xfrm>
          <a:prstGeom prst="roundRect">
            <a:avLst>
              <a:gd name="adj" fmla="val 5185"/>
            </a:avLst>
          </a:prstGeom>
          <a:solidFill>
            <a:srgbClr val="0B2545"/>
          </a:solidFill>
          <a:ln w="12700">
            <a:solidFill>
              <a:srgbClr val="DCE3EC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704088" y="4690872"/>
            <a:ext cx="5038344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4B8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SPLIT() in MySQL</a:t>
            </a:r>
            <a:endParaRPr lang="en-US" sz="1300" dirty="0"/>
          </a:p>
        </p:txBody>
      </p:sp>
      <p:sp>
        <p:nvSpPr>
          <p:cNvPr id="18" name="Text 16"/>
          <p:cNvSpPr/>
          <p:nvPr/>
        </p:nvSpPr>
        <p:spPr>
          <a:xfrm>
            <a:off x="704088" y="5056632"/>
            <a:ext cx="5038344" cy="71323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11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Does not exist. Use SUBSTRING_INDEX() instead.</a:t>
            </a:r>
            <a:endParaRPr lang="en-US" sz="1150" dirty="0"/>
          </a:p>
        </p:txBody>
      </p:sp>
      <p:sp>
        <p:nvSpPr>
          <p:cNvPr id="19" name="Shape 17"/>
          <p:cNvSpPr/>
          <p:nvPr/>
        </p:nvSpPr>
        <p:spPr>
          <a:xfrm>
            <a:off x="6217920" y="4581144"/>
            <a:ext cx="5440680" cy="1234440"/>
          </a:xfrm>
          <a:prstGeom prst="roundRect">
            <a:avLst>
              <a:gd name="adj" fmla="val 5185"/>
            </a:avLst>
          </a:prstGeom>
          <a:solidFill>
            <a:srgbClr val="0B2545"/>
          </a:solidFill>
          <a:ln w="12700">
            <a:solidFill>
              <a:srgbClr val="DCE3EC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6419088" y="4690872"/>
            <a:ext cx="5038344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4B8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Alias in WHERE</a:t>
            </a:r>
            <a:endParaRPr lang="en-US" sz="1300" dirty="0"/>
          </a:p>
        </p:txBody>
      </p:sp>
      <p:sp>
        <p:nvSpPr>
          <p:cNvPr id="21" name="Text 19"/>
          <p:cNvSpPr/>
          <p:nvPr/>
        </p:nvSpPr>
        <p:spPr>
          <a:xfrm>
            <a:off x="6419088" y="5056632"/>
            <a:ext cx="5038344" cy="71323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11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SELECT alias cannot be reused in the same query's WHERE clause — repeat the expression.</a:t>
            </a:r>
            <a:endParaRPr lang="en-US" sz="1150" dirty="0"/>
          </a:p>
        </p:txBody>
      </p:sp>
      <p:sp>
        <p:nvSpPr>
          <p:cNvPr id="22" name="Text 20"/>
          <p:cNvSpPr/>
          <p:nvPr/>
        </p:nvSpPr>
        <p:spPr>
          <a:xfrm>
            <a:off x="365760" y="6519672"/>
            <a:ext cx="6400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000" i="1" dirty="0">
                <a:solidFill>
                  <a:srgbClr val="6272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Shalinee Priya   |   Data Analyst  ·  SQL Trainer</a:t>
            </a:r>
            <a:endParaRPr lang="en-US" sz="1000" dirty="0"/>
          </a:p>
        </p:txBody>
      </p:sp>
      <p:sp>
        <p:nvSpPr>
          <p:cNvPr id="23" name="Shape 21"/>
          <p:cNvSpPr/>
          <p:nvPr/>
        </p:nvSpPr>
        <p:spPr>
          <a:xfrm>
            <a:off x="11109960" y="6473952"/>
            <a:ext cx="713232" cy="292608"/>
          </a:xfrm>
          <a:prstGeom prst="roundRect">
            <a:avLst>
              <a:gd name="adj" fmla="val 18750"/>
            </a:avLst>
          </a:prstGeom>
          <a:solidFill>
            <a:srgbClr val="0B2545"/>
          </a:solidFill>
          <a:ln/>
        </p:spPr>
      </p:sp>
      <p:sp>
        <p:nvSpPr>
          <p:cNvPr id="24" name="Text 22"/>
          <p:cNvSpPr/>
          <p:nvPr/>
        </p:nvSpPr>
        <p:spPr>
          <a:xfrm>
            <a:off x="11109960" y="6473952"/>
            <a:ext cx="713232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23/26</a:t>
            </a:r>
            <a:endParaRPr lang="en-US" sz="1100" dirty="0"/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320040"/>
            <a:ext cx="9144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0C7C7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HANDS-ON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02920" y="566928"/>
            <a:ext cx="1078992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0B2545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Practice Challenge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502920" y="1920240"/>
            <a:ext cx="2651760" cy="2834640"/>
          </a:xfrm>
          <a:prstGeom prst="roundRect">
            <a:avLst>
              <a:gd name="adj" fmla="val 2414"/>
            </a:avLst>
          </a:prstGeom>
          <a:solidFill>
            <a:srgbClr val="F3F6F9"/>
          </a:solidFill>
          <a:ln w="12700">
            <a:solidFill>
              <a:srgbClr val="DCE3EC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502920" y="2148840"/>
            <a:ext cx="265176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4200" b="1" dirty="0">
                <a:solidFill>
                  <a:srgbClr val="0C7C7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10</a:t>
            </a:r>
            <a:endParaRPr lang="en-US" sz="4200" dirty="0"/>
          </a:p>
        </p:txBody>
      </p:sp>
      <p:sp>
        <p:nvSpPr>
          <p:cNvPr id="6" name="Text 4"/>
          <p:cNvSpPr/>
          <p:nvPr/>
        </p:nvSpPr>
        <p:spPr>
          <a:xfrm>
            <a:off x="640080" y="3063240"/>
            <a:ext cx="237744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B25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Guided</a:t>
            </a:r>
            <a:endParaRPr lang="en-US" sz="1300" dirty="0"/>
          </a:p>
          <a:p>
            <a:pPr algn="ctr" indent="0" marL="0">
              <a:buNone/>
            </a:pPr>
            <a:r>
              <a:rPr lang="en-US" sz="1300" b="1" dirty="0">
                <a:solidFill>
                  <a:srgbClr val="0B25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Business Problems</a:t>
            </a:r>
            <a:endParaRPr lang="en-US" sz="1300" dirty="0"/>
          </a:p>
        </p:txBody>
      </p:sp>
      <p:sp>
        <p:nvSpPr>
          <p:cNvPr id="7" name="Text 5"/>
          <p:cNvSpPr/>
          <p:nvPr/>
        </p:nvSpPr>
        <p:spPr>
          <a:xfrm>
            <a:off x="685800" y="3794760"/>
            <a:ext cx="2286000" cy="8686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1050" i="1" dirty="0">
                <a:solidFill>
                  <a:srgbClr val="6272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Worked examples, solved step by step</a:t>
            </a:r>
            <a:endParaRPr lang="en-US" sz="1050" dirty="0"/>
          </a:p>
        </p:txBody>
      </p:sp>
      <p:sp>
        <p:nvSpPr>
          <p:cNvPr id="8" name="Shape 6"/>
          <p:cNvSpPr/>
          <p:nvPr/>
        </p:nvSpPr>
        <p:spPr>
          <a:xfrm>
            <a:off x="3291840" y="1920240"/>
            <a:ext cx="2651760" cy="2834640"/>
          </a:xfrm>
          <a:prstGeom prst="roundRect">
            <a:avLst>
              <a:gd name="adj" fmla="val 2414"/>
            </a:avLst>
          </a:prstGeom>
          <a:solidFill>
            <a:srgbClr val="F3F6F9"/>
          </a:solidFill>
          <a:ln w="12700">
            <a:solidFill>
              <a:srgbClr val="DCE3EC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3291840" y="2148840"/>
            <a:ext cx="265176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4200" b="1" dirty="0">
                <a:solidFill>
                  <a:srgbClr val="0C7C7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15</a:t>
            </a:r>
            <a:endParaRPr lang="en-US" sz="4200" dirty="0"/>
          </a:p>
        </p:txBody>
      </p:sp>
      <p:sp>
        <p:nvSpPr>
          <p:cNvPr id="10" name="Text 8"/>
          <p:cNvSpPr/>
          <p:nvPr/>
        </p:nvSpPr>
        <p:spPr>
          <a:xfrm>
            <a:off x="3429000" y="3063240"/>
            <a:ext cx="237744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B25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Independent</a:t>
            </a:r>
            <a:endParaRPr lang="en-US" sz="1300" dirty="0"/>
          </a:p>
          <a:p>
            <a:pPr algn="ctr" indent="0" marL="0">
              <a:buNone/>
            </a:pPr>
            <a:r>
              <a:rPr lang="en-US" sz="1300" b="1" dirty="0">
                <a:solidFill>
                  <a:srgbClr val="0B25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Practice</a:t>
            </a:r>
            <a:endParaRPr lang="en-US" sz="1300" dirty="0"/>
          </a:p>
        </p:txBody>
      </p:sp>
      <p:sp>
        <p:nvSpPr>
          <p:cNvPr id="11" name="Text 9"/>
          <p:cNvSpPr/>
          <p:nvPr/>
        </p:nvSpPr>
        <p:spPr>
          <a:xfrm>
            <a:off x="3474720" y="3794760"/>
            <a:ext cx="2286000" cy="8686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1050" i="1" dirty="0">
                <a:solidFill>
                  <a:srgbClr val="6272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Unsolved — function-focused business asks</a:t>
            </a:r>
            <a:endParaRPr lang="en-US" sz="1050" dirty="0"/>
          </a:p>
        </p:txBody>
      </p:sp>
      <p:sp>
        <p:nvSpPr>
          <p:cNvPr id="12" name="Shape 10"/>
          <p:cNvSpPr/>
          <p:nvPr/>
        </p:nvSpPr>
        <p:spPr>
          <a:xfrm>
            <a:off x="6080760" y="1920240"/>
            <a:ext cx="2651760" cy="2834640"/>
          </a:xfrm>
          <a:prstGeom prst="roundRect">
            <a:avLst>
              <a:gd name="adj" fmla="val 2414"/>
            </a:avLst>
          </a:prstGeom>
          <a:solidFill>
            <a:srgbClr val="F3F6F9"/>
          </a:solidFill>
          <a:ln w="12700">
            <a:solidFill>
              <a:srgbClr val="DCE3EC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6080760" y="2148840"/>
            <a:ext cx="265176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4200" b="1" dirty="0">
                <a:solidFill>
                  <a:srgbClr val="0C7C7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15</a:t>
            </a:r>
            <a:endParaRPr lang="en-US" sz="4200" dirty="0"/>
          </a:p>
        </p:txBody>
      </p:sp>
      <p:sp>
        <p:nvSpPr>
          <p:cNvPr id="14" name="Text 12"/>
          <p:cNvSpPr/>
          <p:nvPr/>
        </p:nvSpPr>
        <p:spPr>
          <a:xfrm>
            <a:off x="6217920" y="3063240"/>
            <a:ext cx="237744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B25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Mixed Business</a:t>
            </a:r>
            <a:endParaRPr lang="en-US" sz="1300" dirty="0"/>
          </a:p>
          <a:p>
            <a:pPr algn="ctr" indent="0" marL="0">
              <a:buNone/>
            </a:pPr>
            <a:r>
              <a:rPr lang="en-US" sz="1300" b="1" dirty="0">
                <a:solidFill>
                  <a:srgbClr val="0B25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Problems</a:t>
            </a:r>
            <a:endParaRPr lang="en-US" sz="1300" dirty="0"/>
          </a:p>
        </p:txBody>
      </p:sp>
      <p:sp>
        <p:nvSpPr>
          <p:cNvPr id="15" name="Text 13"/>
          <p:cNvSpPr/>
          <p:nvPr/>
        </p:nvSpPr>
        <p:spPr>
          <a:xfrm>
            <a:off x="6263640" y="3794760"/>
            <a:ext cx="2286000" cy="8686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1050" i="1" dirty="0">
                <a:solidFill>
                  <a:srgbClr val="6272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Unsolved — combines Days 1–10 concepts</a:t>
            </a:r>
            <a:endParaRPr lang="en-US" sz="1050" dirty="0"/>
          </a:p>
        </p:txBody>
      </p:sp>
      <p:sp>
        <p:nvSpPr>
          <p:cNvPr id="16" name="Shape 14"/>
          <p:cNvSpPr/>
          <p:nvPr/>
        </p:nvSpPr>
        <p:spPr>
          <a:xfrm>
            <a:off x="8869680" y="1920240"/>
            <a:ext cx="2651760" cy="2834640"/>
          </a:xfrm>
          <a:prstGeom prst="roundRect">
            <a:avLst>
              <a:gd name="adj" fmla="val 2414"/>
            </a:avLst>
          </a:prstGeom>
          <a:solidFill>
            <a:srgbClr val="0B2545"/>
          </a:solidFill>
          <a:ln w="12700">
            <a:solidFill>
              <a:srgbClr val="DCE3EC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8869680" y="2148840"/>
            <a:ext cx="265176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4200" b="1" dirty="0">
                <a:solidFill>
                  <a:srgbClr val="14B8A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25</a:t>
            </a:r>
            <a:endParaRPr lang="en-US" sz="4200" dirty="0"/>
          </a:p>
        </p:txBody>
      </p:sp>
      <p:sp>
        <p:nvSpPr>
          <p:cNvPr id="18" name="Text 16"/>
          <p:cNvSpPr/>
          <p:nvPr/>
        </p:nvSpPr>
        <p:spPr>
          <a:xfrm>
            <a:off x="9006840" y="3063240"/>
            <a:ext cx="237744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Interview</a:t>
            </a:r>
            <a:endParaRPr lang="en-US" sz="1300" dirty="0"/>
          </a:p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Challenge</a:t>
            </a:r>
            <a:endParaRPr lang="en-US" sz="1300" dirty="0"/>
          </a:p>
        </p:txBody>
      </p:sp>
      <p:sp>
        <p:nvSpPr>
          <p:cNvPr id="19" name="Text 17"/>
          <p:cNvSpPr/>
          <p:nvPr/>
        </p:nvSpPr>
        <p:spPr>
          <a:xfrm>
            <a:off x="9052560" y="3794760"/>
            <a:ext cx="2286000" cy="8686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1050" i="1" dirty="0">
                <a:solidFill>
                  <a:srgbClr val="C7D0D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Unsolved — conceptual + query-writing + traps</a:t>
            </a:r>
            <a:endParaRPr lang="en-US" sz="1050" dirty="0"/>
          </a:p>
        </p:txBody>
      </p:sp>
      <p:sp>
        <p:nvSpPr>
          <p:cNvPr id="20" name="Shape 18"/>
          <p:cNvSpPr/>
          <p:nvPr/>
        </p:nvSpPr>
        <p:spPr>
          <a:xfrm>
            <a:off x="502920" y="5029200"/>
            <a:ext cx="11155680" cy="1234440"/>
          </a:xfrm>
          <a:prstGeom prst="roundRect">
            <a:avLst>
              <a:gd name="adj" fmla="val 5185"/>
            </a:avLst>
          </a:prstGeom>
          <a:solidFill>
            <a:srgbClr val="0B2545"/>
          </a:solidFill>
          <a:ln/>
        </p:spPr>
      </p:sp>
      <p:sp>
        <p:nvSpPr>
          <p:cNvPr id="21" name="Text 19"/>
          <p:cNvSpPr/>
          <p:nvPr/>
        </p:nvSpPr>
        <p:spPr>
          <a:xfrm>
            <a:off x="731520" y="5148072"/>
            <a:ext cx="1069848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spc="150" kern="0" dirty="0">
                <a:solidFill>
                  <a:srgbClr val="14B8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NOT LABELED BY FUNCTION</a:t>
            </a:r>
            <a:endParaRPr lang="en-US" sz="1100" dirty="0"/>
          </a:p>
        </p:txBody>
      </p:sp>
      <p:sp>
        <p:nvSpPr>
          <p:cNvPr id="22" name="Text 20"/>
          <p:cNvSpPr/>
          <p:nvPr/>
        </p:nvSpPr>
        <p:spPr>
          <a:xfrm>
            <a:off x="731520" y="5413248"/>
            <a:ext cx="10698480" cy="7315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12000"/>
              </a:lnSpc>
              <a:buNone/>
            </a:pPr>
            <a:r>
              <a:rPr lang="en-US" sz="12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Independent and Mixed questions ask the BUSINESS problem, not “use ROUND()” or “use SUBSTRING_INDEX().” You identify the required function(s) yourself — exactly like a real interview or on-the-job request.</a:t>
            </a:r>
            <a:endParaRPr lang="en-US" sz="1250" dirty="0"/>
          </a:p>
        </p:txBody>
      </p:sp>
      <p:sp>
        <p:nvSpPr>
          <p:cNvPr id="23" name="Text 21"/>
          <p:cNvSpPr/>
          <p:nvPr/>
        </p:nvSpPr>
        <p:spPr>
          <a:xfrm>
            <a:off x="365760" y="6519672"/>
            <a:ext cx="6400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000" i="1" dirty="0">
                <a:solidFill>
                  <a:srgbClr val="6272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Shalinee Priya   |   Data Analyst  ·  SQL Trainer</a:t>
            </a:r>
            <a:endParaRPr lang="en-US" sz="1000" dirty="0"/>
          </a:p>
        </p:txBody>
      </p:sp>
      <p:sp>
        <p:nvSpPr>
          <p:cNvPr id="24" name="Shape 22"/>
          <p:cNvSpPr/>
          <p:nvPr/>
        </p:nvSpPr>
        <p:spPr>
          <a:xfrm>
            <a:off x="11109960" y="6473952"/>
            <a:ext cx="713232" cy="292608"/>
          </a:xfrm>
          <a:prstGeom prst="roundRect">
            <a:avLst>
              <a:gd name="adj" fmla="val 18750"/>
            </a:avLst>
          </a:prstGeom>
          <a:solidFill>
            <a:srgbClr val="0B2545"/>
          </a:solidFill>
          <a:ln/>
        </p:spPr>
      </p:sp>
      <p:sp>
        <p:nvSpPr>
          <p:cNvPr id="25" name="Text 23"/>
          <p:cNvSpPr/>
          <p:nvPr/>
        </p:nvSpPr>
        <p:spPr>
          <a:xfrm>
            <a:off x="11109960" y="6473952"/>
            <a:ext cx="713232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24/26</a:t>
            </a:r>
            <a:endParaRPr lang="en-US" sz="1100" dirty="0"/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320040"/>
            <a:ext cx="9144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0C7C7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WRAP-UP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02920" y="566928"/>
            <a:ext cx="1078992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0B2545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Day 10 Recap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502920" y="1783080"/>
            <a:ext cx="11155680" cy="4160520"/>
          </a:xfrm>
          <a:prstGeom prst="roundRect">
            <a:avLst>
              <a:gd name="adj" fmla="val 1538"/>
            </a:avLst>
          </a:prstGeom>
          <a:solidFill>
            <a:srgbClr val="F3F6F9"/>
          </a:solidFill>
          <a:ln w="12700">
            <a:solidFill>
              <a:srgbClr val="DCE3EC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868680" y="2011680"/>
            <a:ext cx="10424160" cy="37490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228600" indent="-228600">
              <a:lnSpc>
                <a:spcPct val="120000"/>
              </a:lnSpc>
              <a:buSzPct val="100000"/>
              <a:buChar char="•"/>
            </a:pPr>
            <a:r>
              <a:rPr lang="en-US" sz="1350" dirty="0">
                <a:solidFill>
                  <a:srgbClr val="1120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SQL functions: SCALAR (one row in → one result per row) vs AGGREGATE (many rows in → one result), already known from Day 3</a:t>
            </a:r>
            <a:endParaRPr lang="en-US" sz="1350" dirty="0"/>
          </a:p>
          <a:p>
            <a:pPr marL="228600" indent="-228600">
              <a:lnSpc>
                <a:spcPct val="120000"/>
              </a:lnSpc>
              <a:buSzPct val="100000"/>
              <a:buChar char="•"/>
            </a:pPr>
            <a:r>
              <a:rPr lang="en-US" sz="1350" dirty="0">
                <a:solidFill>
                  <a:srgbClr val="1120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STRING functions clean, transform and extract text — UPPER/LOWER, CONCAT/CONCAT_WS, LENGTH/CHAR_LENGTH, TRIM, SUBSTRING/LEFT/RIGHT, LOCATE/INSTR, REPLACE, SUBSTRING_INDEX, LPAD/RPAD</a:t>
            </a:r>
            <a:endParaRPr lang="en-US" sz="1350" dirty="0"/>
          </a:p>
          <a:p>
            <a:pPr marL="228600" indent="-228600">
              <a:lnSpc>
                <a:spcPct val="120000"/>
              </a:lnSpc>
              <a:buSzPct val="100000"/>
              <a:buChar char="•"/>
            </a:pPr>
            <a:r>
              <a:rPr lang="en-US" sz="1350" dirty="0">
                <a:solidFill>
                  <a:srgbClr val="1120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NUMERIC functions calculate and format numbers — ROUND/TRUNCATE, CEIL/FLOOR, ABS, MOD, GREATEST/LEAST</a:t>
            </a:r>
            <a:endParaRPr lang="en-US" sz="1350" dirty="0"/>
          </a:p>
          <a:p>
            <a:pPr marL="228600" indent="-228600">
              <a:lnSpc>
                <a:spcPct val="120000"/>
              </a:lnSpc>
              <a:buSzPct val="100000"/>
              <a:buChar char="•"/>
            </a:pPr>
            <a:r>
              <a:rPr lang="en-US" sz="1350" dirty="0">
                <a:solidFill>
                  <a:srgbClr val="1120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DATE/TIME functions extract, calculate and format dates — part-extraction, DATE_ADD/SUB, DATEDIFF/TIMESTAMPDIFF, DATE_FORMAT, LAST_DAY/EXTRACT</a:t>
            </a:r>
            <a:endParaRPr lang="en-US" sz="1350" dirty="0"/>
          </a:p>
          <a:p>
            <a:pPr marL="228600" indent="-228600">
              <a:lnSpc>
                <a:spcPct val="120000"/>
              </a:lnSpc>
              <a:buSzPct val="100000"/>
              <a:buChar char="•"/>
            </a:pPr>
            <a:r>
              <a:rPr lang="en-US" sz="1350" dirty="0">
                <a:solidFill>
                  <a:srgbClr val="1120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NULL is neither 0 nor '' — IS NULL, IFNULL(), COALESCE(), NULLIF()</a:t>
            </a:r>
            <a:endParaRPr lang="en-US" sz="1350" dirty="0"/>
          </a:p>
          <a:p>
            <a:pPr marL="228600" indent="-228600">
              <a:lnSpc>
                <a:spcPct val="120000"/>
              </a:lnSpc>
              <a:buSzPct val="100000"/>
              <a:buChar char="•"/>
            </a:pPr>
            <a:r>
              <a:rPr lang="en-US" sz="1350" dirty="0">
                <a:solidFill>
                  <a:srgbClr val="1120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CASE turns a calculated value into a business category</a:t>
            </a:r>
            <a:endParaRPr lang="en-US" sz="1350" dirty="0"/>
          </a:p>
          <a:p>
            <a:pPr marL="228600" indent="-228600">
              <a:lnSpc>
                <a:spcPct val="120000"/>
              </a:lnSpc>
              <a:buSzPct val="100000"/>
              <a:buChar char="•"/>
            </a:pPr>
            <a:r>
              <a:rPr lang="en-US" sz="1350" dirty="0">
                <a:solidFill>
                  <a:srgbClr val="1120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None of this works in isolation — functions combine with WHERE, GROUP BY, HAVING, ORDER BY, JOIN and Subquery</a:t>
            </a:r>
            <a:endParaRPr lang="en-US" sz="1350" dirty="0"/>
          </a:p>
        </p:txBody>
      </p:sp>
      <p:sp>
        <p:nvSpPr>
          <p:cNvPr id="6" name="Text 4"/>
          <p:cNvSpPr/>
          <p:nvPr/>
        </p:nvSpPr>
        <p:spPr>
          <a:xfrm>
            <a:off x="365760" y="6519672"/>
            <a:ext cx="6400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000" i="1" dirty="0">
                <a:solidFill>
                  <a:srgbClr val="6272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Shalinee Priya   |   Data Analyst  ·  SQL Trainer</a:t>
            </a:r>
            <a:endParaRPr lang="en-US" sz="1000" dirty="0"/>
          </a:p>
        </p:txBody>
      </p:sp>
      <p:sp>
        <p:nvSpPr>
          <p:cNvPr id="7" name="Shape 5"/>
          <p:cNvSpPr/>
          <p:nvPr/>
        </p:nvSpPr>
        <p:spPr>
          <a:xfrm>
            <a:off x="11109960" y="6473952"/>
            <a:ext cx="713232" cy="292608"/>
          </a:xfrm>
          <a:prstGeom prst="roundRect">
            <a:avLst>
              <a:gd name="adj" fmla="val 18750"/>
            </a:avLst>
          </a:prstGeom>
          <a:solidFill>
            <a:srgbClr val="0B2545"/>
          </a:solidFill>
          <a:ln/>
        </p:spPr>
      </p:sp>
      <p:sp>
        <p:nvSpPr>
          <p:cNvPr id="8" name="Text 6"/>
          <p:cNvSpPr/>
          <p:nvPr/>
        </p:nvSpPr>
        <p:spPr>
          <a:xfrm>
            <a:off x="11109960" y="6473952"/>
            <a:ext cx="713232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25/26</a:t>
            </a:r>
            <a:endParaRPr lang="en-US" sz="1100" dirty="0"/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6">
    <p:bg>
      <p:bgPr>
        <a:solidFill>
          <a:srgbClr val="0B254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8778240" y="-1280160"/>
            <a:ext cx="3108960" cy="3108960"/>
          </a:xfrm>
          <a:prstGeom prst="ellipse">
            <a:avLst/>
          </a:prstGeom>
          <a:solidFill>
            <a:srgbClr val="14B8A6">
              <a:alpha val="22000"/>
            </a:srgbClr>
          </a:solidFill>
          <a:ln w="19050">
            <a:solidFill>
              <a:srgbClr val="14B8A6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-1097280" y="4206240"/>
            <a:ext cx="3108960" cy="3108960"/>
          </a:xfrm>
          <a:prstGeom prst="ellipse">
            <a:avLst/>
          </a:prstGeom>
          <a:solidFill>
            <a:srgbClr val="1B3F73">
              <a:alpha val="65000"/>
            </a:srgbClr>
          </a:solidFill>
          <a:ln w="19050">
            <a:solidFill>
              <a:srgbClr val="1B3F73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731520" y="1920240"/>
            <a:ext cx="7315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spc="200" kern="0" dirty="0">
                <a:solidFill>
                  <a:srgbClr val="14B8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COMING UP NEXT</a:t>
            </a:r>
            <a:endParaRPr lang="en-US" sz="1400" dirty="0"/>
          </a:p>
        </p:txBody>
      </p:sp>
      <p:sp>
        <p:nvSpPr>
          <p:cNvPr id="5" name="Text 3"/>
          <p:cNvSpPr/>
          <p:nvPr/>
        </p:nvSpPr>
        <p:spPr>
          <a:xfrm>
            <a:off x="731520" y="2286000"/>
            <a:ext cx="73152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dirty="0">
                <a:solidFill>
                  <a:srgbClr val="AEB9C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SQL Day 11</a:t>
            </a:r>
            <a:endParaRPr lang="en-US" sz="2200" dirty="0"/>
          </a:p>
        </p:txBody>
      </p:sp>
      <p:sp>
        <p:nvSpPr>
          <p:cNvPr id="6" name="Text 4"/>
          <p:cNvSpPr/>
          <p:nvPr/>
        </p:nvSpPr>
        <p:spPr>
          <a:xfrm>
            <a:off x="731520" y="2788920"/>
            <a:ext cx="914400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4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SQL VIEWS</a:t>
            </a:r>
            <a:endParaRPr lang="en-US" sz="4600" dirty="0"/>
          </a:p>
        </p:txBody>
      </p:sp>
      <p:sp>
        <p:nvSpPr>
          <p:cNvPr id="7" name="Shape 5"/>
          <p:cNvSpPr/>
          <p:nvPr/>
        </p:nvSpPr>
        <p:spPr>
          <a:xfrm>
            <a:off x="731520" y="3657600"/>
            <a:ext cx="1463040" cy="0"/>
          </a:xfrm>
          <a:prstGeom prst="line">
            <a:avLst/>
          </a:prstGeom>
          <a:noFill/>
          <a:ln w="31750">
            <a:solidFill>
              <a:srgbClr val="14B8A6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731520" y="3840480"/>
            <a:ext cx="960120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500" i="1" dirty="0">
                <a:solidFill>
                  <a:srgbClr val="C7D0D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 query you wrote today has to be retyped from scratch the next time someone needs it. Day 11 introduces the VIEW — a way to save a query, including everything from Day 10, under a reusable name.</a:t>
            </a:r>
            <a:endParaRPr lang="en-US" sz="1500" dirty="0"/>
          </a:p>
        </p:txBody>
      </p:sp>
      <p:sp>
        <p:nvSpPr>
          <p:cNvPr id="9" name="Text 7"/>
          <p:cNvSpPr/>
          <p:nvPr/>
        </p:nvSpPr>
        <p:spPr>
          <a:xfrm>
            <a:off x="731520" y="5120640"/>
            <a:ext cx="9144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4B8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SQL SUBQUERIES  →  FUNCTIONS  →  VIEWS</a:t>
            </a:r>
            <a:endParaRPr lang="en-US" sz="1300" dirty="0"/>
          </a:p>
        </p:txBody>
      </p:sp>
      <p:sp>
        <p:nvSpPr>
          <p:cNvPr id="10" name="Text 8"/>
          <p:cNvSpPr/>
          <p:nvPr/>
        </p:nvSpPr>
        <p:spPr>
          <a:xfrm>
            <a:off x="731520" y="6355080"/>
            <a:ext cx="6400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8A97A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Shalinee Priya   |   Data Analyst  ·  SQL Trainer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11109960" y="6309360"/>
            <a:ext cx="713232" cy="292608"/>
          </a:xfrm>
          <a:prstGeom prst="roundRect">
            <a:avLst>
              <a:gd name="adj" fmla="val 18750"/>
            </a:avLst>
          </a:prstGeom>
          <a:solidFill>
            <a:srgbClr val="14B8A6"/>
          </a:solidFill>
          <a:ln/>
        </p:spPr>
      </p:sp>
      <p:sp>
        <p:nvSpPr>
          <p:cNvPr id="12" name="Text 10"/>
          <p:cNvSpPr/>
          <p:nvPr/>
        </p:nvSpPr>
        <p:spPr>
          <a:xfrm>
            <a:off x="11109960" y="6309360"/>
            <a:ext cx="713232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0B25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26/26</a:t>
            </a:r>
            <a:endParaRPr lang="en-US" sz="11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26</Slides>
  <Notes>26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26</vt:i4>
      </vt:variant>
    </vt:vector>
  </HeadingPairs>
  <TitlesOfParts>
    <vt:vector size="29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  <vt:lpstr>Slide 18</vt:lpstr>
      <vt:lpstr>Slide 19</vt:lpstr>
      <vt:lpstr>Slide 20</vt:lpstr>
      <vt:lpstr>Slide 21</vt:lpstr>
      <vt:lpstr>Slide 22</vt:lpstr>
      <vt:lpstr>Slide 23</vt:lpstr>
      <vt:lpstr>Slide 24</vt:lpstr>
      <vt:lpstr>Slide 25</vt:lpstr>
      <vt:lpstr>Slide 26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2026-08-20T16:40:19Z</dcterms:created>
  <dcterms:modified xsi:type="dcterms:W3CDTF">2026-08-20T16:40:19Z</dcterms:modified>
</cp:coreProperties>
</file>