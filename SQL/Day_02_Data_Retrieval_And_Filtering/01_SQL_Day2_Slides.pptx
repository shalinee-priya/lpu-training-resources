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1430000" cy="6858000"/>
  <p:notesSz cx="6858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88536" cy="6858000"/>
          </a:xfrm>
          <a:prstGeom prst="rect">
            <a:avLst/>
          </a:prstGeom>
          <a:solidFill>
            <a:srgbClr val="1F416C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40080"/>
            <a:ext cx="2377440" cy="23774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3063240"/>
            <a:ext cx="1554480" cy="155448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4160520"/>
            <a:ext cx="1920240" cy="1920240"/>
          </a:xfrm>
          <a:prstGeom prst="ellipse">
            <a:avLst/>
          </a:prstGeom>
          <a:ln w="15875">
            <a:solidFill>
              <a:srgbClr val="3A93CD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822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108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7432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3949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621792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585216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4572000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051560"/>
            <a:ext cx="1005840" cy="210312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828800" y="2788920"/>
            <a:ext cx="178308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5897880"/>
            <a:ext cx="1280160" cy="36576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868680"/>
            <a:ext cx="274320" cy="1920240"/>
          </a:xfrm>
          <a:prstGeom prst="line">
            <a:avLst/>
          </a:prstGeom>
          <a:noFill/>
          <a:ln w="12700">
            <a:solidFill>
              <a:srgbClr val="3A93CD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3063240"/>
            <a:ext cx="4288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Day 2: Data Retrieval &amp; Filtering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9204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Query Language · B.Tech SQL Training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A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459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569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Revision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6052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2459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2569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Columns &amp; DISTINCT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2668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26680" y="2459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2569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Aliases (AS) &amp; Expressions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602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12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Clause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16052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3602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3712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OR, NOT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2668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6680" y="3602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3712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BETWEEN, IN, LIKE, IS NULL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745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855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+ LIMIT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16052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60520" y="4745736"/>
            <a:ext cx="3063240" cy="20117"/>
          </a:xfrm>
          <a:prstGeom prst="rect">
            <a:avLst/>
          </a:prstGeom>
          <a:solidFill>
            <a:srgbClr val="DFA938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485546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Challenge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16586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1658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Revision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 flipV="1">
            <a:off x="2788920" y="2514600"/>
            <a:ext cx="9144" cy="1828800"/>
          </a:xfrm>
          <a:prstGeom prst="line">
            <a:avLst/>
          </a:prstGeom>
          <a:noFill/>
          <a:ln w="19050">
            <a:solidFill>
              <a:srgbClr val="ECDD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4343400"/>
            <a:ext cx="1828800" cy="9144"/>
          </a:xfrm>
          <a:prstGeom prst="line">
            <a:avLst/>
          </a:prstGeom>
          <a:noFill/>
          <a:ln w="19050">
            <a:solidFill>
              <a:srgbClr val="ECDD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4343400"/>
            <a:ext cx="9144" cy="1645920"/>
          </a:xfrm>
          <a:prstGeom prst="line">
            <a:avLst/>
          </a:prstGeom>
          <a:noFill/>
          <a:ln w="19050">
            <a:solidFill>
              <a:srgbClr val="ECDD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60120" y="4343400"/>
            <a:ext cx="1828800" cy="9144"/>
          </a:xfrm>
          <a:prstGeom prst="line">
            <a:avLst/>
          </a:prstGeom>
          <a:noFill/>
          <a:ln w="19050">
            <a:solidFill>
              <a:srgbClr val="ECDD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0552" y="185623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DD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85623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59352" y="368503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DD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368503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30552" y="533095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DD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533095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1752" y="3685032"/>
            <a:ext cx="1316736" cy="1316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CDD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3685032"/>
            <a:ext cx="13167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920240" y="3474720"/>
            <a:ext cx="1737360" cy="1737360"/>
          </a:xfrm>
          <a:prstGeom prst="ellipse">
            <a:avLst/>
          </a:prstGeom>
          <a:solidFill>
            <a:srgbClr val="F8ECD3"/>
          </a:solidFill>
          <a:ln w="22225">
            <a:solidFill>
              <a:srgbClr val="DFA9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4747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2368296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2231136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 organized collection of related tables holding all college data.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3374136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2" name="Text 20"/>
          <p:cNvSpPr/>
          <p:nvPr/>
        </p:nvSpPr>
        <p:spPr>
          <a:xfrm>
            <a:off x="6574536" y="3236976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—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rows (records) and columns (fields) inside a database, e.g. students.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4379976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4242816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—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uniquely identifies each record in the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table, e.g.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5385816"/>
            <a:ext cx="82296" cy="8229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6" name="Text 24"/>
          <p:cNvSpPr/>
          <p:nvPr/>
        </p:nvSpPr>
        <p:spPr>
          <a:xfrm>
            <a:off x="6574536" y="5248656"/>
            <a:ext cx="4215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Categories —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DDL, DML, DQL, DCL and TCL.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583180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5831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RETRIEVING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Specific Columns &amp; DISTINCT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placement office wants only student names — not the entire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852160" cy="4069080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5303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Get everything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Get specific columns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age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Remove duplicate values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branch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*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every column. Handy for exploring a table you don't know yet.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Columns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only the columns you need — faster to run and easier to read.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4434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8554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duplicate values, leaving only unique results.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016252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01625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Aliases (AS) &amp; Expressions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read better with friendly column names — and CGPA needs to become a percentage.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852160" cy="4069080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5303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Rename a column in the output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student_name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6B8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Calculate a new value from an existing column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cgpa * 10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percentage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96596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 (AS)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2386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Renames the output column only — the table itself is untouched.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32004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3284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36210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calculated value using existing columns, e.g. cgpa * 10.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4434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4562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Unchanged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8554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stored data is never modified.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441448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4414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Clause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placement team wants students whose CGPA is above 8.0.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852160" cy="4069080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5303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cgpa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cgpa &gt; 8.0;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1965960"/>
            <a:ext cx="41148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2121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95160" y="2542032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2542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2967228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9672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 or &lt;&gt;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29672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 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3392424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3392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33924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38176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38176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0" y="38176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0" y="4242816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4242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242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 or equal 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95160" y="4668012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F8ECD3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46680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5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0" y="46680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or equal 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866644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86664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OR, NOT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two or more conditions to narrow — or widen — your results.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3291840" cy="3337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6232" y="2377440"/>
            <a:ext cx="768096" cy="768096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8" name="Text 6"/>
          <p:cNvSpPr/>
          <p:nvPr/>
        </p:nvSpPr>
        <p:spPr>
          <a:xfrm>
            <a:off x="1856232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— Both Must Be True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branch='CSE' AND age&gt;20;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42232" y="2103120"/>
            <a:ext cx="3291840" cy="3337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04104" y="2377440"/>
            <a:ext cx="768096" cy="768096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14" name="Text 12"/>
          <p:cNvSpPr/>
          <p:nvPr/>
        </p:nvSpPr>
        <p:spPr>
          <a:xfrm>
            <a:off x="5404104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70832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— Either Can Be True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70832" y="4160520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branch='CSE' OR branch='IT';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90104" y="2103120"/>
            <a:ext cx="3291840" cy="3337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51976" y="2377440"/>
            <a:ext cx="768096" cy="768096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20" name="Text 18"/>
          <p:cNvSpPr/>
          <p:nvPr/>
        </p:nvSpPr>
        <p:spPr>
          <a:xfrm>
            <a:off x="8951976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18704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— Reverses a Condition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18704" y="4160520"/>
            <a:ext cx="2834640" cy="731520"/>
          </a:xfrm>
          <a:prstGeom prst="roundRect">
            <a:avLst>
              <a:gd name="adj" fmla="val 625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branch='ECE';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2866644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286664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 &amp;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BETWEEN, IN, LIKE, IS NULL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ranges, lists, text patterns, or missing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2523744"/>
            <a:ext cx="694944" cy="694944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252374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221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values within a range (inclusive).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3063240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06324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BETWEEN 18 AND 22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057400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2523744"/>
            <a:ext cx="694944" cy="694944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15" name="Text 13"/>
          <p:cNvSpPr/>
          <p:nvPr/>
        </p:nvSpPr>
        <p:spPr>
          <a:xfrm>
            <a:off x="6071616" y="252374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2221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any value from a list.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063240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306324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IN ('CSE','IT','ECE')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794760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" y="4261104"/>
            <a:ext cx="694944" cy="694944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4261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3959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91640" y="4270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a text pattern — % means any characters.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91640" y="4800600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480060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LIKE 'A%'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3794760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4261104"/>
            <a:ext cx="694944" cy="694944"/>
          </a:xfrm>
          <a:prstGeom prst="ellipse">
            <a:avLst/>
          </a:prstGeom>
          <a:solidFill>
            <a:srgbClr val="F8ECD3"/>
          </a:solidFill>
          <a:ln/>
        </p:spPr>
      </p:sp>
      <p:sp>
        <p:nvSpPr>
          <p:cNvPr id="29" name="Text 27"/>
          <p:cNvSpPr/>
          <p:nvPr/>
        </p:nvSpPr>
        <p:spPr>
          <a:xfrm>
            <a:off x="6071616" y="426110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3959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NULL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49440" y="4270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rows with missing (NULL) values.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4800600"/>
            <a:ext cx="3703320" cy="420624"/>
          </a:xfrm>
          <a:prstGeom prst="roundRect">
            <a:avLst>
              <a:gd name="adj" fmla="val 10870"/>
            </a:avLst>
          </a:prstGeom>
          <a:solidFill>
            <a:srgbClr val="F4F5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480060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IS NULL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300837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300837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&amp; LIMITING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 + LIMIT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top 5 students with the highest CGPA.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852160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965960"/>
            <a:ext cx="5852160" cy="310896"/>
          </a:xfrm>
          <a:prstGeom prst="roundRect">
            <a:avLst>
              <a:gd name="adj" fmla="val 13235"/>
            </a:avLst>
          </a:prstGeom>
          <a:solidFill>
            <a:srgbClr val="E7E7E7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121408"/>
            <a:ext cx="5852160" cy="155448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071116"/>
            <a:ext cx="100584" cy="100584"/>
          </a:xfrm>
          <a:prstGeom prst="ellipse">
            <a:avLst/>
          </a:prstGeom>
          <a:solidFill>
            <a:srgbClr val="E8695B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" y="207111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7111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659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Workbench — college_db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423160"/>
            <a:ext cx="53035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cgpa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students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cgpa </a:t>
            </a:r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300" b="1" dirty="0">
                <a:solidFill>
                  <a:srgbClr val="1D5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5852160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4114800"/>
            <a:ext cx="5852160" cy="384048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2044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20440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Diya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882896"/>
            <a:ext cx="5852160" cy="3840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82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20440" y="4882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Aarav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74920" y="488289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5266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20440" y="5266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Kabir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5266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650992"/>
            <a:ext cx="5852160" cy="384048"/>
          </a:xfrm>
          <a:prstGeom prst="rect">
            <a:avLst/>
          </a:prstGeom>
          <a:solidFill>
            <a:srgbClr val="FBFAF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6509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520440" y="56509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Meera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74920" y="56509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20840" y="196596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944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49440" y="2386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the result set. ASC (default) for ascending, DESC for descending.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20840" y="2862072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9440" y="2990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4944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the output to the first n rows of the sorted result.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20840" y="3758184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9F3F3"/>
          </a:solidFill>
          <a:ln w="12700">
            <a:solidFill>
              <a:srgbClr val="BEE0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84962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TIP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22008" y="4069080"/>
            <a:ext cx="37124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3A3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most common SQL pattern used to retrieve the Top N or Bottom N records in placement interviews.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4791456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9440" y="49194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49440" y="5212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sorts the full result first, then LIMIT trims it down.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57200"/>
            <a:ext cx="1591056" cy="320040"/>
          </a:xfrm>
          <a:prstGeom prst="roundRect">
            <a:avLst>
              <a:gd name="adj" fmla="val 17143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159105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Challenge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real requests from around campus — write the SQL for each. No answers here!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21284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all unique branches offered by the college.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" y="294436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students aged between 18 and 22.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67588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each student's name with their CGPA percentage (cgpa * 10) as percentage.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" y="440740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29768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the top 3 students by CGPA.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029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" y="5138928"/>
            <a:ext cx="402336" cy="402336"/>
          </a:xfrm>
          <a:prstGeom prst="ellipse">
            <a:avLst/>
          </a:prstGeom>
          <a:solidFill>
            <a:srgbClr val="DFA938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02920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C29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students whose names start with “S” and whose branch is not “ECE”.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57424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Shalinee Priya
</a:t>
            </a:r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6D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| SQL Trainer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Shalinee Priya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2: Data Retrieval &amp; Filtering</dc:title>
  <dc:subject>PptxGenJS Presentation</dc:subject>
  <dc:creator>Shalinee Priya</dc:creator>
  <cp:lastModifiedBy>Shalinee Priya</cp:lastModifiedBy>
  <cp:revision>1</cp:revision>
  <dcterms:created xsi:type="dcterms:W3CDTF">2026-08-18T18:54:30Z</dcterms:created>
  <dcterms:modified xsi:type="dcterms:W3CDTF">2026-08-18T18:54:30Z</dcterms:modified>
</cp:coreProperties>
</file>