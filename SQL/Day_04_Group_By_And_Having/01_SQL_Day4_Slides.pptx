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1430000" cy="6858000"/>
  <p:notesSz cx="68580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88536" cy="6858000"/>
          </a:xfrm>
          <a:prstGeom prst="rect">
            <a:avLst/>
          </a:prstGeom>
          <a:solidFill>
            <a:srgbClr val="1F416C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40080"/>
            <a:ext cx="2377440" cy="2377440"/>
          </a:xfrm>
          <a:prstGeom prst="ellipse">
            <a:avLst/>
          </a:prstGeom>
          <a:ln w="15875">
            <a:solidFill>
              <a:srgbClr val="3A93CD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3063240"/>
            <a:ext cx="1554480" cy="1554480"/>
          </a:xfrm>
          <a:prstGeom prst="ellipse">
            <a:avLst/>
          </a:prstGeom>
          <a:ln w="15875">
            <a:solidFill>
              <a:srgbClr val="3A93CD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4160520"/>
            <a:ext cx="1920240" cy="1920240"/>
          </a:xfrm>
          <a:prstGeom prst="ellipse">
            <a:avLst/>
          </a:prstGeom>
          <a:ln w="15875">
            <a:solidFill>
              <a:srgbClr val="3A93CD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82296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310896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274320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539496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621792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585216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457200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051560"/>
            <a:ext cx="1005840" cy="2103120"/>
          </a:xfrm>
          <a:prstGeom prst="line">
            <a:avLst/>
          </a:prstGeom>
          <a:noFill/>
          <a:ln w="12700">
            <a:solidFill>
              <a:srgbClr val="3A93CD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828800" y="2788920"/>
            <a:ext cx="1783080" cy="365760"/>
          </a:xfrm>
          <a:prstGeom prst="line">
            <a:avLst/>
          </a:prstGeom>
          <a:noFill/>
          <a:ln w="12700">
            <a:solidFill>
              <a:srgbClr val="3A93CD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5897880"/>
            <a:ext cx="1280160" cy="365760"/>
          </a:xfrm>
          <a:prstGeom prst="line">
            <a:avLst/>
          </a:prstGeom>
          <a:noFill/>
          <a:ln w="12700">
            <a:solidFill>
              <a:srgbClr val="3A93CD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868680"/>
            <a:ext cx="274320" cy="1920240"/>
          </a:xfrm>
          <a:prstGeom prst="line">
            <a:avLst/>
          </a:prstGeom>
          <a:noFill/>
          <a:ln w="12700">
            <a:solidFill>
              <a:srgbClr val="3A93CD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3063240"/>
            <a:ext cx="4288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5852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Day 4: GROUP BY &amp; HAVING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892040" y="4069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Query Language · B.Tech SQL Training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2441448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Today</a:t>
            </a:r>
            <a:endParaRPr lang="en-US" sz="3400" dirty="0"/>
          </a:p>
        </p:txBody>
      </p:sp>
      <p:sp>
        <p:nvSpPr>
          <p:cNvPr id="5" name="AgendaNum 5"/>
          <p:cNvSpPr/>
          <p:nvPr/>
        </p:nvSpPr>
        <p:spPr>
          <a:xfrm>
            <a:off x="594360" y="1965960"/>
            <a:ext cx="477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AgendaBar 6"/>
          <p:cNvSpPr/>
          <p:nvPr/>
        </p:nvSpPr>
        <p:spPr>
          <a:xfrm>
            <a:off x="594360" y="2240280"/>
            <a:ext cx="4542040" cy="18288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7" name="AgendaTitle 7"/>
          <p:cNvSpPr/>
          <p:nvPr/>
        </p:nvSpPr>
        <p:spPr>
          <a:xfrm>
            <a:off x="594360" y="2304288"/>
            <a:ext cx="4542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GROUP BY?</a:t>
            </a:r>
            <a:endParaRPr lang="en-US" sz="1500" dirty="0"/>
          </a:p>
        </p:txBody>
      </p:sp>
      <p:sp>
        <p:nvSpPr>
          <p:cNvPr id="8" name="AgendaNum 8"/>
          <p:cNvSpPr/>
          <p:nvPr/>
        </p:nvSpPr>
        <p:spPr>
          <a:xfrm>
            <a:off x="5665128" y="1965960"/>
            <a:ext cx="477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AgendaBar 9"/>
          <p:cNvSpPr/>
          <p:nvPr/>
        </p:nvSpPr>
        <p:spPr>
          <a:xfrm>
            <a:off x="5665128" y="2240280"/>
            <a:ext cx="4542040" cy="18288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10" name="AgendaTitle 10"/>
          <p:cNvSpPr/>
          <p:nvPr/>
        </p:nvSpPr>
        <p:spPr>
          <a:xfrm>
            <a:off x="5665128" y="2304288"/>
            <a:ext cx="4542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Execution Order</a:t>
            </a:r>
            <a:endParaRPr lang="en-US" sz="1500" dirty="0"/>
          </a:p>
        </p:txBody>
      </p:sp>
      <p:sp>
        <p:nvSpPr>
          <p:cNvPr id="11" name="AgendaNum 11"/>
          <p:cNvSpPr/>
          <p:nvPr/>
        </p:nvSpPr>
        <p:spPr>
          <a:xfrm>
            <a:off x="594360" y="2703960"/>
            <a:ext cx="477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AgendaBar 12"/>
          <p:cNvSpPr/>
          <p:nvPr/>
        </p:nvSpPr>
        <p:spPr>
          <a:xfrm>
            <a:off x="594360" y="2978280"/>
            <a:ext cx="4542040" cy="18288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13" name="AgendaTitle 13"/>
          <p:cNvSpPr/>
          <p:nvPr/>
        </p:nvSpPr>
        <p:spPr>
          <a:xfrm>
            <a:off x="594360" y="3042288"/>
            <a:ext cx="4542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</a:t>
            </a:r>
            <a:endParaRPr lang="en-US" sz="1500" dirty="0"/>
          </a:p>
        </p:txBody>
      </p:sp>
      <p:sp>
        <p:nvSpPr>
          <p:cNvPr id="14" name="AgendaNum 14"/>
          <p:cNvSpPr/>
          <p:nvPr/>
        </p:nvSpPr>
        <p:spPr>
          <a:xfrm>
            <a:off x="5665128" y="2703960"/>
            <a:ext cx="477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AgendaBar 15"/>
          <p:cNvSpPr/>
          <p:nvPr/>
        </p:nvSpPr>
        <p:spPr>
          <a:xfrm>
            <a:off x="5665128" y="2978280"/>
            <a:ext cx="4542040" cy="18288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16" name="AgendaTitle 16"/>
          <p:cNvSpPr/>
          <p:nvPr/>
        </p:nvSpPr>
        <p:spPr>
          <a:xfrm>
            <a:off x="5665128" y="3042288"/>
            <a:ext cx="4542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+ Aggregate Functions</a:t>
            </a:r>
            <a:endParaRPr lang="en-US" sz="1500" dirty="0"/>
          </a:p>
        </p:txBody>
      </p:sp>
      <p:sp>
        <p:nvSpPr>
          <p:cNvPr id="17" name="AgendaNum 17"/>
          <p:cNvSpPr/>
          <p:nvPr/>
        </p:nvSpPr>
        <p:spPr>
          <a:xfrm>
            <a:off x="594360" y="3441960"/>
            <a:ext cx="477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AgendaBar 18"/>
          <p:cNvSpPr/>
          <p:nvPr/>
        </p:nvSpPr>
        <p:spPr>
          <a:xfrm>
            <a:off x="594360" y="3716280"/>
            <a:ext cx="4542040" cy="18288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19" name="AgendaTitle 19"/>
          <p:cNvSpPr/>
          <p:nvPr/>
        </p:nvSpPr>
        <p:spPr>
          <a:xfrm>
            <a:off x="594360" y="3780288"/>
            <a:ext cx="4542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vs HAVING</a:t>
            </a:r>
            <a:endParaRPr lang="en-US" sz="1500" dirty="0"/>
          </a:p>
        </p:txBody>
      </p:sp>
      <p:sp>
        <p:nvSpPr>
          <p:cNvPr id="20" name="AgendaNum 20"/>
          <p:cNvSpPr/>
          <p:nvPr/>
        </p:nvSpPr>
        <p:spPr>
          <a:xfrm>
            <a:off x="5665128" y="3441960"/>
            <a:ext cx="477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AgendaBar 21"/>
          <p:cNvSpPr/>
          <p:nvPr/>
        </p:nvSpPr>
        <p:spPr>
          <a:xfrm>
            <a:off x="5665128" y="3716280"/>
            <a:ext cx="4542040" cy="18288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22" name="AgendaTitle 22"/>
          <p:cNvSpPr/>
          <p:nvPr/>
        </p:nvSpPr>
        <p:spPr>
          <a:xfrm>
            <a:off x="5665128" y="3780288"/>
            <a:ext cx="4542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+ WHERE</a:t>
            </a:r>
            <a:endParaRPr lang="en-US" sz="1500" dirty="0"/>
          </a:p>
        </p:txBody>
      </p:sp>
      <p:sp>
        <p:nvSpPr>
          <p:cNvPr id="23" name="AgendaNum 23"/>
          <p:cNvSpPr/>
          <p:nvPr/>
        </p:nvSpPr>
        <p:spPr>
          <a:xfrm>
            <a:off x="594360" y="4179960"/>
            <a:ext cx="477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AgendaBar 24"/>
          <p:cNvSpPr/>
          <p:nvPr/>
        </p:nvSpPr>
        <p:spPr>
          <a:xfrm>
            <a:off x="594360" y="4454280"/>
            <a:ext cx="4542040" cy="18288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25" name="AgendaTitle 25"/>
          <p:cNvSpPr/>
          <p:nvPr/>
        </p:nvSpPr>
        <p:spPr>
          <a:xfrm>
            <a:off x="594360" y="4518288"/>
            <a:ext cx="4542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+ HAVING</a:t>
            </a:r>
            <a:endParaRPr lang="en-US" sz="1500" dirty="0"/>
          </a:p>
        </p:txBody>
      </p:sp>
      <p:sp>
        <p:nvSpPr>
          <p:cNvPr id="26" name="AgendaNum 26"/>
          <p:cNvSpPr/>
          <p:nvPr/>
        </p:nvSpPr>
        <p:spPr>
          <a:xfrm>
            <a:off x="5665128" y="4179960"/>
            <a:ext cx="477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7" name="AgendaBar 27"/>
          <p:cNvSpPr/>
          <p:nvPr/>
        </p:nvSpPr>
        <p:spPr>
          <a:xfrm>
            <a:off x="5665128" y="4454280"/>
            <a:ext cx="4542040" cy="18288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28" name="AgendaTitle 28"/>
          <p:cNvSpPr/>
          <p:nvPr/>
        </p:nvSpPr>
        <p:spPr>
          <a:xfrm>
            <a:off x="5665128" y="4518288"/>
            <a:ext cx="4542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with GROUP BY</a:t>
            </a:r>
            <a:endParaRPr lang="en-US" sz="1500" dirty="0"/>
          </a:p>
        </p:txBody>
      </p:sp>
      <p:sp>
        <p:nvSpPr>
          <p:cNvPr id="29" name="AgendaNum 29"/>
          <p:cNvSpPr/>
          <p:nvPr/>
        </p:nvSpPr>
        <p:spPr>
          <a:xfrm>
            <a:off x="594360" y="4917960"/>
            <a:ext cx="477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0" name="AgendaBar 30"/>
          <p:cNvSpPr/>
          <p:nvPr/>
        </p:nvSpPr>
        <p:spPr>
          <a:xfrm>
            <a:off x="594360" y="5192280"/>
            <a:ext cx="4542040" cy="18288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31" name="AgendaTitle 31"/>
          <p:cNvSpPr/>
          <p:nvPr/>
        </p:nvSpPr>
        <p:spPr>
          <a:xfrm>
            <a:off x="594360" y="5256288"/>
            <a:ext cx="4542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Studies</a:t>
            </a:r>
            <a:endParaRPr lang="en-US" sz="1500" dirty="0"/>
          </a:p>
        </p:txBody>
      </p:sp>
      <p:sp>
        <p:nvSpPr>
          <p:cNvPr id="32" name="AgendaNum 32"/>
          <p:cNvSpPr/>
          <p:nvPr/>
        </p:nvSpPr>
        <p:spPr>
          <a:xfrm>
            <a:off x="5665128" y="4917960"/>
            <a:ext cx="477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AgendaBar 33"/>
          <p:cNvSpPr/>
          <p:nvPr/>
        </p:nvSpPr>
        <p:spPr>
          <a:xfrm>
            <a:off x="5665128" y="5192280"/>
            <a:ext cx="4542040" cy="18288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34" name="AgendaTitle 34"/>
          <p:cNvSpPr/>
          <p:nvPr/>
        </p:nvSpPr>
        <p:spPr>
          <a:xfrm>
            <a:off x="5665128" y="5256288"/>
            <a:ext cx="4542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Challenge</a:t>
            </a:r>
            <a:endParaRPr lang="en-US" sz="1500" dirty="0"/>
          </a:p>
        </p:txBody>
      </p:sp>
      <p:sp>
        <p:nvSpPr>
          <p:cNvPr id="35" name="Watermark 35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36" name="PageNum 36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2441448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TRANSITION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Individual Records to Categories</a:t>
            </a:r>
            <a:endParaRPr lang="en-US" sz="25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summarized rows one function at a time. Day 4 summarizes them by category.</a:t>
            </a:r>
            <a:endParaRPr lang="en-US" sz="1300" dirty="0"/>
          </a:p>
        </p:txBody>
      </p:sp>
      <p:sp>
        <p:nvSpPr>
          <p:cNvPr id="6" name="TableCard 6"/>
          <p:cNvSpPr/>
          <p:nvPr/>
        </p:nvSpPr>
        <p:spPr>
          <a:xfrm>
            <a:off x="594360" y="2103120"/>
            <a:ext cx="10241280" cy="2325040"/>
          </a:xfrm>
          <a:prstGeom prst="roundRect">
            <a:avLst>
              <a:gd name="adj" fmla="val 5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ableHeaderTop 7"/>
          <p:cNvSpPr/>
          <p:nvPr/>
        </p:nvSpPr>
        <p:spPr>
          <a:xfrm>
            <a:off x="594360" y="2103120"/>
            <a:ext cx="10241280" cy="484048"/>
          </a:xfrm>
          <a:prstGeom prst="roundRect">
            <a:avLst>
              <a:gd name="adj" fmla="val 6300"/>
            </a:avLst>
          </a:prstGeom>
          <a:solidFill>
            <a:srgbClr val="F4F5F6"/>
          </a:solidFill>
          <a:ln/>
        </p:spPr>
      </p:sp>
      <p:sp>
        <p:nvSpPr>
          <p:cNvPr id="8" name="TableHeaderSquare 8"/>
          <p:cNvSpPr/>
          <p:nvPr/>
        </p:nvSpPr>
        <p:spPr>
          <a:xfrm>
            <a:off x="594360" y="2345144"/>
            <a:ext cx="10241280" cy="242024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9" name="ColHead1 9"/>
          <p:cNvSpPr/>
          <p:nvPr/>
        </p:nvSpPr>
        <p:spPr>
          <a:xfrm>
            <a:off x="1051560" y="2103120"/>
            <a:ext cx="4663440" cy="4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" kern="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 (DAY 3)</a:t>
            </a:r>
            <a:endParaRPr lang="en-US" sz="1300" dirty="0"/>
          </a:p>
        </p:txBody>
      </p:sp>
      <p:sp>
        <p:nvSpPr>
          <p:cNvPr id="10" name="ColHead2 10"/>
          <p:cNvSpPr/>
          <p:nvPr/>
        </p:nvSpPr>
        <p:spPr>
          <a:xfrm>
            <a:off x="5943600" y="2103120"/>
            <a:ext cx="4663440" cy="4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(DAY 4)</a:t>
            </a:r>
            <a:endParaRPr lang="en-US" sz="1300" dirty="0"/>
          </a:p>
        </p:txBody>
      </p:sp>
      <p:sp>
        <p:nvSpPr>
          <p:cNvPr id="11" name="TableRow 11"/>
          <p:cNvSpPr/>
          <p:nvPr/>
        </p:nvSpPr>
        <p:spPr>
          <a:xfrm>
            <a:off x="594360" y="2587168"/>
            <a:ext cx="10241280" cy="460248"/>
          </a:xfrm>
          <a:prstGeom prst="rect">
            <a:avLst/>
          </a:prstGeom>
          <a:solidFill>
            <a:srgbClr val="FBFAF8"/>
          </a:solidFill>
          <a:ln/>
        </p:spPr>
      </p:sp>
      <p:sp>
        <p:nvSpPr>
          <p:cNvPr id="12" name="Cell1 12"/>
          <p:cNvSpPr/>
          <p:nvPr/>
        </p:nvSpPr>
        <p:spPr>
          <a:xfrm>
            <a:off x="1051560" y="2587168"/>
            <a:ext cx="4663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6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300" dirty="0"/>
          </a:p>
        </p:txBody>
      </p:sp>
      <p:sp>
        <p:nvSpPr>
          <p:cNvPr id="13" name="Cell2 13"/>
          <p:cNvSpPr/>
          <p:nvPr/>
        </p:nvSpPr>
        <p:spPr>
          <a:xfrm>
            <a:off x="5943600" y="2587168"/>
            <a:ext cx="4663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9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 + GROUP BY</a:t>
            </a:r>
            <a:endParaRPr lang="en-US" sz="1300" dirty="0"/>
          </a:p>
        </p:txBody>
      </p:sp>
      <p:sp>
        <p:nvSpPr>
          <p:cNvPr id="14" name="TableRow 14"/>
          <p:cNvSpPr/>
          <p:nvPr/>
        </p:nvSpPr>
        <p:spPr>
          <a:xfrm>
            <a:off x="594360" y="3047416"/>
            <a:ext cx="10241280" cy="460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Cell1 15"/>
          <p:cNvSpPr/>
          <p:nvPr/>
        </p:nvSpPr>
        <p:spPr>
          <a:xfrm>
            <a:off x="1051560" y="3047416"/>
            <a:ext cx="4663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6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AVG(cgpa)</a:t>
            </a:r>
            <a:endParaRPr lang="en-US" sz="1300" dirty="0"/>
          </a:p>
        </p:txBody>
      </p:sp>
      <p:sp>
        <p:nvSpPr>
          <p:cNvPr id="16" name="Cell2 16"/>
          <p:cNvSpPr/>
          <p:nvPr/>
        </p:nvSpPr>
        <p:spPr>
          <a:xfrm>
            <a:off x="5943600" y="3047416"/>
            <a:ext cx="4663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9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AVG(cgpa) per Branch</a:t>
            </a:r>
            <a:endParaRPr lang="en-US" sz="1300" dirty="0"/>
          </a:p>
        </p:txBody>
      </p:sp>
      <p:sp>
        <p:nvSpPr>
          <p:cNvPr id="17" name="TableRow 17"/>
          <p:cNvSpPr/>
          <p:nvPr/>
        </p:nvSpPr>
        <p:spPr>
          <a:xfrm>
            <a:off x="594360" y="3507664"/>
            <a:ext cx="10241280" cy="460248"/>
          </a:xfrm>
          <a:prstGeom prst="rect">
            <a:avLst/>
          </a:prstGeom>
          <a:solidFill>
            <a:srgbClr val="FBFAF8"/>
          </a:solidFill>
          <a:ln/>
        </p:spPr>
      </p:sp>
      <p:sp>
        <p:nvSpPr>
          <p:cNvPr id="18" name="Cell1 18"/>
          <p:cNvSpPr/>
          <p:nvPr/>
        </p:nvSpPr>
        <p:spPr>
          <a:xfrm>
            <a:off x="1051560" y="3507664"/>
            <a:ext cx="4663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6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SUM(fees)</a:t>
            </a:r>
            <a:endParaRPr lang="en-US" sz="1300" dirty="0"/>
          </a:p>
        </p:txBody>
      </p:sp>
      <p:sp>
        <p:nvSpPr>
          <p:cNvPr id="19" name="Cell2 19"/>
          <p:cNvSpPr/>
          <p:nvPr/>
        </p:nvSpPr>
        <p:spPr>
          <a:xfrm>
            <a:off x="5943600" y="3507664"/>
            <a:ext cx="4663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9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SUM(fees) per City</a:t>
            </a:r>
            <a:endParaRPr lang="en-US" sz="1300" dirty="0"/>
          </a:p>
        </p:txBody>
      </p:sp>
      <p:sp>
        <p:nvSpPr>
          <p:cNvPr id="20" name="TableRow 20"/>
          <p:cNvSpPr/>
          <p:nvPr/>
        </p:nvSpPr>
        <p:spPr>
          <a:xfrm>
            <a:off x="594360" y="3967912"/>
            <a:ext cx="10241280" cy="460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Cell1 21"/>
          <p:cNvSpPr/>
          <p:nvPr/>
        </p:nvSpPr>
        <p:spPr>
          <a:xfrm>
            <a:off x="1051560" y="3967912"/>
            <a:ext cx="4663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6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MAX(cgpa)</a:t>
            </a:r>
            <a:endParaRPr lang="en-US" sz="1300" dirty="0"/>
          </a:p>
        </p:txBody>
      </p:sp>
      <p:sp>
        <p:nvSpPr>
          <p:cNvPr id="22" name="Cell2 22"/>
          <p:cNvSpPr/>
          <p:nvPr/>
        </p:nvSpPr>
        <p:spPr>
          <a:xfrm>
            <a:off x="5943600" y="3967912"/>
            <a:ext cx="4663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9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MAX(cgpa) per Branch</a:t>
            </a:r>
            <a:endParaRPr lang="en-US" sz="1300" dirty="0"/>
          </a:p>
        </p:txBody>
      </p:sp>
      <p:sp>
        <p:nvSpPr>
          <p:cNvPr id="23" name="ColDivider 23"/>
          <p:cNvSpPr/>
          <p:nvPr/>
        </p:nvSpPr>
        <p:spPr>
          <a:xfrm>
            <a:off x="5715000" y="2103120"/>
            <a:ext cx="9525" cy="2325040"/>
          </a:xfrm>
          <a:prstGeom prst="rect">
            <a:avLst/>
          </a:prstGeom>
          <a:solidFill>
            <a:srgbClr val="E3DFD6"/>
          </a:solidFill>
          <a:ln/>
        </p:spPr>
      </p:sp>
      <p:sp>
        <p:nvSpPr>
          <p:cNvPr id="24" name="TipCard 24"/>
          <p:cNvSpPr/>
          <p:nvPr/>
        </p:nvSpPr>
        <p:spPr>
          <a:xfrm>
            <a:off x="594360" y="4633160"/>
            <a:ext cx="10241280" cy="800000"/>
          </a:xfrm>
          <a:prstGeom prst="roundRect">
            <a:avLst>
              <a:gd name="adj" fmla="val 6858"/>
            </a:avLst>
          </a:prstGeom>
          <a:solidFill>
            <a:srgbClr val="E9F3F3"/>
          </a:solidFill>
          <a:ln w="12700">
            <a:solidFill>
              <a:srgbClr val="BEE0DD"/>
            </a:solidFill>
            <a:prstDash val="solid"/>
          </a:ln>
        </p:spPr>
      </p:sp>
      <p:sp>
        <p:nvSpPr>
          <p:cNvPr id="25" name="TipLabel 25"/>
          <p:cNvSpPr/>
          <p:nvPr/>
        </p:nvSpPr>
        <p:spPr>
          <a:xfrm>
            <a:off x="795528" y="4724600"/>
            <a:ext cx="9838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1000" dirty="0"/>
          </a:p>
        </p:txBody>
      </p:sp>
      <p:sp>
        <p:nvSpPr>
          <p:cNvPr id="26" name="TipBody 26"/>
          <p:cNvSpPr/>
          <p:nvPr/>
        </p:nvSpPr>
        <p:spPr>
          <a:xfrm>
            <a:off x="795528" y="4944056"/>
            <a:ext cx="9838944" cy="39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 Functions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summarize records. </a:t>
            </a: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summarizes categories.</a:t>
            </a:r>
            <a:endParaRPr lang="en-US" sz="1050" dirty="0"/>
          </a:p>
        </p:txBody>
      </p:sp>
      <p:sp>
        <p:nvSpPr>
          <p:cNvPr id="27" name="Watermark 27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8" name="PageNum 28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2441448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SQL THINKS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Execution Order</a:t>
            </a:r>
            <a:endParaRPr lang="en-US" sz="34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executes differently from how we write it.</a:t>
            </a:r>
            <a:endParaRPr lang="en-US" sz="1300" dirty="0"/>
          </a:p>
        </p:txBody>
      </p:sp>
      <p:sp>
        <p:nvSpPr>
          <p:cNvPr id="6" name="FlowLabel 6"/>
          <p:cNvSpPr/>
          <p:nvPr/>
        </p:nvSpPr>
        <p:spPr>
          <a:xfrm>
            <a:off x="594360" y="2148840"/>
            <a:ext cx="30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ORDER (HOW WE TYPE IT)</a:t>
            </a:r>
            <a:endParaRPr lang="en-US" sz="1050" dirty="0"/>
          </a:p>
        </p:txBody>
      </p:sp>
      <p:sp>
        <p:nvSpPr>
          <p:cNvPr id="7" name="Chip 7"/>
          <p:cNvSpPr/>
          <p:nvPr/>
        </p:nvSpPr>
        <p:spPr>
          <a:xfrm>
            <a:off x="594360" y="2514600"/>
            <a:ext cx="870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8" name="ChipText 8"/>
          <p:cNvSpPr/>
          <p:nvPr/>
        </p:nvSpPr>
        <p:spPr>
          <a:xfrm>
            <a:off x="594360" y="2514600"/>
            <a:ext cx="87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9" name="Arrow 9"/>
          <p:cNvSpPr/>
          <p:nvPr/>
        </p:nvSpPr>
        <p:spPr>
          <a:xfrm>
            <a:off x="1524360" y="2514600"/>
            <a:ext cx="140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9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Chip 10"/>
          <p:cNvSpPr/>
          <p:nvPr/>
        </p:nvSpPr>
        <p:spPr>
          <a:xfrm>
            <a:off x="1714360" y="2514600"/>
            <a:ext cx="680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11" name="ChipText 11"/>
          <p:cNvSpPr/>
          <p:nvPr/>
        </p:nvSpPr>
        <p:spPr>
          <a:xfrm>
            <a:off x="1714360" y="2514600"/>
            <a:ext cx="68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12" name="Arrow 12"/>
          <p:cNvSpPr/>
          <p:nvPr/>
        </p:nvSpPr>
        <p:spPr>
          <a:xfrm>
            <a:off x="2454360" y="2514600"/>
            <a:ext cx="140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9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Chip 13"/>
          <p:cNvSpPr/>
          <p:nvPr/>
        </p:nvSpPr>
        <p:spPr>
          <a:xfrm>
            <a:off x="2644360" y="2514600"/>
            <a:ext cx="775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14" name="ChipText 14"/>
          <p:cNvSpPr/>
          <p:nvPr/>
        </p:nvSpPr>
        <p:spPr>
          <a:xfrm>
            <a:off x="2644360" y="2514600"/>
            <a:ext cx="77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100" dirty="0"/>
          </a:p>
        </p:txBody>
      </p:sp>
      <p:sp>
        <p:nvSpPr>
          <p:cNvPr id="15" name="Arrow 15"/>
          <p:cNvSpPr/>
          <p:nvPr/>
        </p:nvSpPr>
        <p:spPr>
          <a:xfrm>
            <a:off x="3479360" y="2514600"/>
            <a:ext cx="140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9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Chip 16"/>
          <p:cNvSpPr/>
          <p:nvPr/>
        </p:nvSpPr>
        <p:spPr>
          <a:xfrm>
            <a:off x="3669360" y="2514600"/>
            <a:ext cx="1060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17" name="ChipText 17"/>
          <p:cNvSpPr/>
          <p:nvPr/>
        </p:nvSpPr>
        <p:spPr>
          <a:xfrm>
            <a:off x="3669360" y="2514600"/>
            <a:ext cx="106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100" dirty="0"/>
          </a:p>
        </p:txBody>
      </p:sp>
      <p:sp>
        <p:nvSpPr>
          <p:cNvPr id="18" name="Arrow 18"/>
          <p:cNvSpPr/>
          <p:nvPr/>
        </p:nvSpPr>
        <p:spPr>
          <a:xfrm>
            <a:off x="4789360" y="2514600"/>
            <a:ext cx="140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9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Chip 19"/>
          <p:cNvSpPr/>
          <p:nvPr/>
        </p:nvSpPr>
        <p:spPr>
          <a:xfrm>
            <a:off x="4979360" y="2514600"/>
            <a:ext cx="870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20" name="ChipText 20"/>
          <p:cNvSpPr/>
          <p:nvPr/>
        </p:nvSpPr>
        <p:spPr>
          <a:xfrm>
            <a:off x="4979360" y="2514600"/>
            <a:ext cx="87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endParaRPr lang="en-US" sz="1100" dirty="0"/>
          </a:p>
        </p:txBody>
      </p:sp>
      <p:sp>
        <p:nvSpPr>
          <p:cNvPr id="21" name="Arrow 21"/>
          <p:cNvSpPr/>
          <p:nvPr/>
        </p:nvSpPr>
        <p:spPr>
          <a:xfrm>
            <a:off x="5909360" y="2514600"/>
            <a:ext cx="140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9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Chip 22"/>
          <p:cNvSpPr/>
          <p:nvPr/>
        </p:nvSpPr>
        <p:spPr>
          <a:xfrm>
            <a:off x="6099360" y="2514600"/>
            <a:ext cx="1060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23" name="ChipText 23"/>
          <p:cNvSpPr/>
          <p:nvPr/>
        </p:nvSpPr>
        <p:spPr>
          <a:xfrm>
            <a:off x="6099360" y="2514600"/>
            <a:ext cx="106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100" dirty="0"/>
          </a:p>
        </p:txBody>
      </p:sp>
      <p:sp>
        <p:nvSpPr>
          <p:cNvPr id="24" name="FlowLabel 24"/>
          <p:cNvSpPr/>
          <p:nvPr/>
        </p:nvSpPr>
        <p:spPr>
          <a:xfrm>
            <a:off x="594360" y="3474720"/>
            <a:ext cx="30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ORDER (HOW MYSQL RUNS IT)</a:t>
            </a:r>
            <a:endParaRPr lang="en-US" sz="1050" dirty="0"/>
          </a:p>
        </p:txBody>
      </p:sp>
      <p:sp>
        <p:nvSpPr>
          <p:cNvPr id="25" name="Chip 25"/>
          <p:cNvSpPr/>
          <p:nvPr/>
        </p:nvSpPr>
        <p:spPr>
          <a:xfrm>
            <a:off x="594360" y="3840480"/>
            <a:ext cx="680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26" name="ChipText 26"/>
          <p:cNvSpPr/>
          <p:nvPr/>
        </p:nvSpPr>
        <p:spPr>
          <a:xfrm>
            <a:off x="594360" y="3840480"/>
            <a:ext cx="68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27" name="Arrow 27"/>
          <p:cNvSpPr/>
          <p:nvPr/>
        </p:nvSpPr>
        <p:spPr>
          <a:xfrm>
            <a:off x="1334360" y="3840480"/>
            <a:ext cx="140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9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Chip 28"/>
          <p:cNvSpPr/>
          <p:nvPr/>
        </p:nvSpPr>
        <p:spPr>
          <a:xfrm>
            <a:off x="1524360" y="3840480"/>
            <a:ext cx="775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29" name="ChipText 29"/>
          <p:cNvSpPr/>
          <p:nvPr/>
        </p:nvSpPr>
        <p:spPr>
          <a:xfrm>
            <a:off x="1524360" y="3840480"/>
            <a:ext cx="77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100" dirty="0"/>
          </a:p>
        </p:txBody>
      </p:sp>
      <p:sp>
        <p:nvSpPr>
          <p:cNvPr id="30" name="Arrow 30"/>
          <p:cNvSpPr/>
          <p:nvPr/>
        </p:nvSpPr>
        <p:spPr>
          <a:xfrm>
            <a:off x="2359360" y="3840480"/>
            <a:ext cx="140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9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Chip 31"/>
          <p:cNvSpPr/>
          <p:nvPr/>
        </p:nvSpPr>
        <p:spPr>
          <a:xfrm>
            <a:off x="2549360" y="3840480"/>
            <a:ext cx="1060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32" name="ChipText 32"/>
          <p:cNvSpPr/>
          <p:nvPr/>
        </p:nvSpPr>
        <p:spPr>
          <a:xfrm>
            <a:off x="2549360" y="3840480"/>
            <a:ext cx="106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100" dirty="0"/>
          </a:p>
        </p:txBody>
      </p:sp>
      <p:sp>
        <p:nvSpPr>
          <p:cNvPr id="33" name="Arrow 33"/>
          <p:cNvSpPr/>
          <p:nvPr/>
        </p:nvSpPr>
        <p:spPr>
          <a:xfrm>
            <a:off x="3669360" y="3840480"/>
            <a:ext cx="140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9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Chip 34"/>
          <p:cNvSpPr/>
          <p:nvPr/>
        </p:nvSpPr>
        <p:spPr>
          <a:xfrm>
            <a:off x="3859360" y="3840480"/>
            <a:ext cx="870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35" name="ChipText 35"/>
          <p:cNvSpPr/>
          <p:nvPr/>
        </p:nvSpPr>
        <p:spPr>
          <a:xfrm>
            <a:off x="3859360" y="3840480"/>
            <a:ext cx="87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endParaRPr lang="en-US" sz="1100" dirty="0"/>
          </a:p>
        </p:txBody>
      </p:sp>
      <p:sp>
        <p:nvSpPr>
          <p:cNvPr id="36" name="Arrow 36"/>
          <p:cNvSpPr/>
          <p:nvPr/>
        </p:nvSpPr>
        <p:spPr>
          <a:xfrm>
            <a:off x="4789360" y="3840480"/>
            <a:ext cx="140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9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Chip 37"/>
          <p:cNvSpPr/>
          <p:nvPr/>
        </p:nvSpPr>
        <p:spPr>
          <a:xfrm>
            <a:off x="4979360" y="3840480"/>
            <a:ext cx="870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38" name="ChipText 38"/>
          <p:cNvSpPr/>
          <p:nvPr/>
        </p:nvSpPr>
        <p:spPr>
          <a:xfrm>
            <a:off x="4979360" y="3840480"/>
            <a:ext cx="87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39" name="Arrow 39"/>
          <p:cNvSpPr/>
          <p:nvPr/>
        </p:nvSpPr>
        <p:spPr>
          <a:xfrm>
            <a:off x="5909360" y="3840480"/>
            <a:ext cx="140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9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Chip 40"/>
          <p:cNvSpPr/>
          <p:nvPr/>
        </p:nvSpPr>
        <p:spPr>
          <a:xfrm>
            <a:off x="6099360" y="3840480"/>
            <a:ext cx="106000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41" name="ChipText 41"/>
          <p:cNvSpPr/>
          <p:nvPr/>
        </p:nvSpPr>
        <p:spPr>
          <a:xfrm>
            <a:off x="6099360" y="3840480"/>
            <a:ext cx="106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100" dirty="0"/>
          </a:p>
        </p:txBody>
      </p:sp>
      <p:sp>
        <p:nvSpPr>
          <p:cNvPr id="42" name="TipCard 42"/>
          <p:cNvSpPr/>
          <p:nvPr/>
        </p:nvSpPr>
        <p:spPr>
          <a:xfrm>
            <a:off x="594360" y="4800600"/>
            <a:ext cx="10241280" cy="800000"/>
          </a:xfrm>
          <a:prstGeom prst="roundRect">
            <a:avLst>
              <a:gd name="adj" fmla="val 6858"/>
            </a:avLst>
          </a:prstGeom>
          <a:solidFill>
            <a:srgbClr val="E9F3F3"/>
          </a:solidFill>
          <a:ln w="12700">
            <a:solidFill>
              <a:srgbClr val="BEE0DD"/>
            </a:solidFill>
            <a:prstDash val="solid"/>
          </a:ln>
        </p:spPr>
      </p:sp>
      <p:sp>
        <p:nvSpPr>
          <p:cNvPr id="43" name="TipLabel 43"/>
          <p:cNvSpPr/>
          <p:nvPr/>
        </p:nvSpPr>
        <p:spPr>
          <a:xfrm>
            <a:off x="795528" y="4892040"/>
            <a:ext cx="9838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44" name="TipBody 44"/>
          <p:cNvSpPr/>
          <p:nvPr/>
        </p:nvSpPr>
        <p:spPr>
          <a:xfrm>
            <a:off x="795528" y="5111496"/>
            <a:ext cx="9838944" cy="39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executes differently from how we write it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MySQL resolves </a:t>
            </a: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before it even looks at your </a:t>
            </a: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list.</a:t>
            </a:r>
            <a:endParaRPr lang="en-US" sz="1050" dirty="0"/>
          </a:p>
        </p:txBody>
      </p:sp>
      <p:sp>
        <p:nvSpPr>
          <p:cNvPr id="45" name="Watermark 45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46" name="PageNum 46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2299716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229971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GROUPING ROWS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</a:t>
            </a:r>
            <a:endParaRPr lang="en-US" sz="34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wants the average CGPA of every branch.</a:t>
            </a:r>
            <a:endParaRPr lang="en-US" sz="1300" dirty="0"/>
          </a:p>
        </p:txBody>
      </p:sp>
      <p:sp>
        <p:nvSpPr>
          <p:cNvPr id="6" name="CodeCard 6"/>
          <p:cNvSpPr/>
          <p:nvPr/>
        </p:nvSpPr>
        <p:spPr>
          <a:xfrm>
            <a:off x="594360" y="1965960"/>
            <a:ext cx="5852160" cy="2257964"/>
          </a:xfrm>
          <a:prstGeom prst="roundRect">
            <a:avLst>
              <a:gd name="adj" fmla="val 81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HeaderTop 7"/>
          <p:cNvSpPr/>
          <p:nvPr/>
        </p:nvSpPr>
        <p:spPr>
          <a:xfrm>
            <a:off x="594360" y="1965960"/>
            <a:ext cx="5852160" cy="310896"/>
          </a:xfrm>
          <a:prstGeom prst="roundRect">
            <a:avLst>
              <a:gd name="adj" fmla="val 13235"/>
            </a:avLst>
          </a:prstGeom>
          <a:solidFill>
            <a:srgbClr val="E7E7E7"/>
          </a:solidFill>
          <a:ln/>
        </p:spPr>
      </p:sp>
      <p:sp>
        <p:nvSpPr>
          <p:cNvPr id="8" name="HeaderSquare 8"/>
          <p:cNvSpPr/>
          <p:nvPr/>
        </p:nvSpPr>
        <p:spPr>
          <a:xfrm>
            <a:off x="594360" y="2121408"/>
            <a:ext cx="5852160" cy="155448"/>
          </a:xfrm>
          <a:prstGeom prst="rect">
            <a:avLst/>
          </a:prstGeom>
          <a:solidFill>
            <a:srgbClr val="E7E7E7"/>
          </a:solidFill>
          <a:ln/>
        </p:spPr>
      </p:sp>
      <p:sp>
        <p:nvSpPr>
          <p:cNvPr id="9" name="Dot 9"/>
          <p:cNvSpPr/>
          <p:nvPr/>
        </p:nvSpPr>
        <p:spPr>
          <a:xfrm>
            <a:off x="740664" y="2071416"/>
            <a:ext cx="100584" cy="100584"/>
          </a:xfrm>
          <a:prstGeom prst="ellipse">
            <a:avLst/>
          </a:prstGeom>
          <a:solidFill>
            <a:srgbClr val="E8695B"/>
          </a:solidFill>
          <a:ln/>
        </p:spPr>
      </p:sp>
      <p:sp>
        <p:nvSpPr>
          <p:cNvPr id="10" name="Dot 10"/>
          <p:cNvSpPr/>
          <p:nvPr/>
        </p:nvSpPr>
        <p:spPr>
          <a:xfrm>
            <a:off x="941832" y="207141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1" name="Dot 11"/>
          <p:cNvSpPr/>
          <p:nvPr/>
        </p:nvSpPr>
        <p:spPr>
          <a:xfrm>
            <a:off x="1143000" y="207141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2" name="HeaderLabel 12"/>
          <p:cNvSpPr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Workbench — college_db</a:t>
            </a:r>
            <a:endParaRPr lang="en-US" sz="1050" dirty="0"/>
          </a:p>
        </p:txBody>
      </p:sp>
      <p:sp>
        <p:nvSpPr>
          <p:cNvPr id="13" name="CodeBody 13"/>
          <p:cNvSpPr/>
          <p:nvPr/>
        </p:nvSpPr>
        <p:spPr>
          <a:xfrm>
            <a:off x="868680" y="2423160"/>
            <a:ext cx="5303520" cy="161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Average CGPA, one row per branch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branch,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AVG(cgpa)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</a:t>
            </a:r>
            <a:endParaRPr lang="en-US" sz="13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3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branch;</a:t>
            </a:r>
            <a:endParaRPr lang="en-US" sz="1350" dirty="0"/>
          </a:p>
        </p:txBody>
      </p:sp>
      <p:sp>
        <p:nvSpPr>
          <p:cNvPr id="14" name="ConceptCard 14"/>
          <p:cNvSpPr/>
          <p:nvPr/>
        </p:nvSpPr>
        <p:spPr>
          <a:xfrm>
            <a:off x="6720840" y="196596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ConceptTitle 15"/>
          <p:cNvSpPr/>
          <p:nvPr/>
        </p:nvSpPr>
        <p:spPr>
          <a:xfrm>
            <a:off x="6949440" y="2093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Groups</a:t>
            </a:r>
            <a:endParaRPr lang="en-US" sz="1350" dirty="0"/>
          </a:p>
        </p:txBody>
      </p:sp>
      <p:sp>
        <p:nvSpPr>
          <p:cNvPr id="16" name="ConceptDesc 16"/>
          <p:cNvSpPr/>
          <p:nvPr/>
        </p:nvSpPr>
        <p:spPr>
          <a:xfrm>
            <a:off x="6949440" y="23865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distinct branch value becomes its own group of rows.</a:t>
            </a:r>
            <a:endParaRPr lang="en-US" sz="1050" dirty="0"/>
          </a:p>
        </p:txBody>
      </p:sp>
      <p:sp>
        <p:nvSpPr>
          <p:cNvPr id="17" name="ConceptCard 17"/>
          <p:cNvSpPr/>
          <p:nvPr/>
        </p:nvSpPr>
        <p:spPr>
          <a:xfrm>
            <a:off x="6720840" y="32004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ConceptTitle 18"/>
          <p:cNvSpPr/>
          <p:nvPr/>
        </p:nvSpPr>
        <p:spPr>
          <a:xfrm>
            <a:off x="694944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Group</a:t>
            </a:r>
            <a:endParaRPr lang="en-US" sz="1350" dirty="0"/>
          </a:p>
        </p:txBody>
      </p:sp>
      <p:sp>
        <p:nvSpPr>
          <p:cNvPr id="19" name="ConceptDesc 19"/>
          <p:cNvSpPr/>
          <p:nvPr/>
        </p:nvSpPr>
        <p:spPr>
          <a:xfrm>
            <a:off x="6949440" y="36210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has exactly one output row for each group — not one per student.</a:t>
            </a:r>
            <a:endParaRPr lang="en-US" sz="1050" dirty="0"/>
          </a:p>
        </p:txBody>
      </p:sp>
      <p:sp>
        <p:nvSpPr>
          <p:cNvPr id="20" name="ConceptCard 20"/>
          <p:cNvSpPr/>
          <p:nvPr/>
        </p:nvSpPr>
        <p:spPr>
          <a:xfrm>
            <a:off x="6720840" y="443484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ConceptTitle 21"/>
          <p:cNvSpPr/>
          <p:nvPr/>
        </p:nvSpPr>
        <p:spPr>
          <a:xfrm>
            <a:off x="6949440" y="45628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Runs Inside Each Group</a:t>
            </a:r>
            <a:endParaRPr lang="en-US" sz="1350" dirty="0"/>
          </a:p>
        </p:txBody>
      </p:sp>
      <p:sp>
        <p:nvSpPr>
          <p:cNvPr id="22" name="ConceptDesc 22"/>
          <p:cNvSpPr/>
          <p:nvPr/>
        </p:nvSpPr>
        <p:spPr>
          <a:xfrm>
            <a:off x="6949440" y="48554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AVG(cgpa) is calculated separately within every group, not across the whole table.</a:t>
            </a:r>
            <a:endParaRPr lang="en-US" sz="1050" dirty="0"/>
          </a:p>
        </p:txBody>
      </p:sp>
      <p:sp>
        <p:nvSpPr>
          <p:cNvPr id="23" name="RuleCard 23"/>
          <p:cNvSpPr/>
          <p:nvPr/>
        </p:nvSpPr>
        <p:spPr>
          <a:xfrm>
            <a:off x="594360" y="4373924"/>
            <a:ext cx="5852160" cy="1158196"/>
          </a:xfrm>
          <a:prstGeom prst="roundRect">
            <a:avLst>
              <a:gd name="adj" fmla="val 4737"/>
            </a:avLst>
          </a:prstGeom>
          <a:solidFill>
            <a:srgbClr val="E9F3F3"/>
          </a:solidFill>
          <a:ln w="12700">
            <a:solidFill>
              <a:srgbClr val="BEE0DD"/>
            </a:solidFill>
            <a:prstDash val="solid"/>
          </a:ln>
        </p:spPr>
      </p:sp>
      <p:sp>
        <p:nvSpPr>
          <p:cNvPr id="24" name="RuleLabel 24"/>
          <p:cNvSpPr/>
          <p:nvPr/>
        </p:nvSpPr>
        <p:spPr>
          <a:xfrm>
            <a:off x="758952" y="4456220"/>
            <a:ext cx="5522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RULE</a:t>
            </a:r>
            <a:endParaRPr lang="en-US" sz="950" dirty="0"/>
          </a:p>
        </p:txBody>
      </p:sp>
      <p:sp>
        <p:nvSpPr>
          <p:cNvPr id="25" name="RuleBody 25"/>
          <p:cNvSpPr/>
          <p:nvPr/>
        </p:nvSpPr>
        <p:spPr>
          <a:xfrm>
            <a:off x="758952" y="4721396"/>
            <a:ext cx="5522976" cy="73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non-aggregated column in the SELECT clause must also appear in the GROUP BY clause.</a:t>
            </a:r>
            <a:endParaRPr lang="en-US" sz="900" dirty="0"/>
          </a:p>
          <a:p>
            <a:pPr algn="l" indent="0" marL="0">
              <a:lnSpc>
                <a:spcPct val="111000"/>
              </a:lnSpc>
              <a:buNone/>
            </a:pPr>
            <a:r>
              <a:rPr lang="en-US" sz="9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</a:t>
            </a:r>
            <a:r>
              <a:rPr lang="en-US" sz="8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branch, AVG(cgpa) FROM students GROUP BY branch;</a:t>
            </a:r>
            <a:endParaRPr lang="en-US" sz="900" dirty="0"/>
          </a:p>
          <a:p>
            <a:pPr algn="l" indent="0" marL="0">
              <a:lnSpc>
                <a:spcPct val="111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</a:t>
            </a:r>
            <a:r>
              <a:rPr lang="en-US" sz="8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branch, AVG(cgpa) FROM students GROUP BY branch;</a:t>
            </a:r>
            <a:endParaRPr lang="en-US" sz="900" dirty="0"/>
          </a:p>
          <a:p>
            <a:pPr algn="l" indent="0" marL="0">
              <a:lnSpc>
                <a:spcPct val="111000"/>
              </a:lnSpc>
              <a:buNone/>
            </a:pPr>
            <a:r>
              <a:rPr lang="en-US" sz="850" i="1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cannot decide which name to display because multiple students exist in each branch.</a:t>
            </a:r>
            <a:endParaRPr lang="en-US" sz="900" dirty="0"/>
          </a:p>
        </p:txBody>
      </p:sp>
      <p:sp>
        <p:nvSpPr>
          <p:cNvPr id="26" name="Watermark 26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7" name="PageNum 27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3291840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32918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KINDS OF FILTERS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vs HAVING</a:t>
            </a:r>
            <a:endParaRPr lang="en-US" sz="34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filters, two very different jobs.</a:t>
            </a:r>
            <a:endParaRPr lang="en-US" sz="1300" dirty="0"/>
          </a:p>
        </p:txBody>
      </p:sp>
      <p:sp>
        <p:nvSpPr>
          <p:cNvPr id="6" name="TableCard 6"/>
          <p:cNvSpPr/>
          <p:nvPr/>
        </p:nvSpPr>
        <p:spPr>
          <a:xfrm>
            <a:off x="594360" y="1965960"/>
            <a:ext cx="10241280" cy="1950000"/>
          </a:xfrm>
          <a:prstGeom prst="roundRect">
            <a:avLst>
              <a:gd name="adj" fmla="val 5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ableHeaderTop 7"/>
          <p:cNvSpPr/>
          <p:nvPr/>
        </p:nvSpPr>
        <p:spPr>
          <a:xfrm>
            <a:off x="594360" y="1965960"/>
            <a:ext cx="10241280" cy="430000"/>
          </a:xfrm>
          <a:prstGeom prst="roundRect">
            <a:avLst>
              <a:gd name="adj" fmla="val 7000"/>
            </a:avLst>
          </a:prstGeom>
          <a:solidFill>
            <a:srgbClr val="F4F5F6"/>
          </a:solidFill>
          <a:ln/>
        </p:spPr>
      </p:sp>
      <p:sp>
        <p:nvSpPr>
          <p:cNvPr id="8" name="TableHeaderSquare 8"/>
          <p:cNvSpPr/>
          <p:nvPr/>
        </p:nvSpPr>
        <p:spPr>
          <a:xfrm>
            <a:off x="594360" y="2180960"/>
            <a:ext cx="10241280" cy="2150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9" name="ColHead1 9"/>
          <p:cNvSpPr/>
          <p:nvPr/>
        </p:nvSpPr>
        <p:spPr>
          <a:xfrm>
            <a:off x="1051560" y="1965960"/>
            <a:ext cx="466344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500" dirty="0"/>
          </a:p>
        </p:txBody>
      </p:sp>
      <p:sp>
        <p:nvSpPr>
          <p:cNvPr id="10" name="ColHead2 10"/>
          <p:cNvSpPr/>
          <p:nvPr/>
        </p:nvSpPr>
        <p:spPr>
          <a:xfrm>
            <a:off x="5943600" y="1965960"/>
            <a:ext cx="466344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endParaRPr lang="en-US" sz="1500" dirty="0"/>
          </a:p>
        </p:txBody>
      </p:sp>
      <p:sp>
        <p:nvSpPr>
          <p:cNvPr id="11" name="TableRow 11"/>
          <p:cNvSpPr/>
          <p:nvPr/>
        </p:nvSpPr>
        <p:spPr>
          <a:xfrm>
            <a:off x="594360" y="2395960"/>
            <a:ext cx="10241280" cy="380000"/>
          </a:xfrm>
          <a:prstGeom prst="rect">
            <a:avLst/>
          </a:prstGeom>
          <a:solidFill>
            <a:srgbClr val="FBFAF8"/>
          </a:solidFill>
          <a:ln/>
        </p:spPr>
      </p:sp>
      <p:sp>
        <p:nvSpPr>
          <p:cNvPr id="12" name="Cell1 12"/>
          <p:cNvSpPr/>
          <p:nvPr/>
        </p:nvSpPr>
        <p:spPr>
          <a:xfrm>
            <a:off x="1051560" y="2395960"/>
            <a:ext cx="46634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rows</a:t>
            </a:r>
            <a:endParaRPr lang="en-US" sz="1150" dirty="0"/>
          </a:p>
        </p:txBody>
      </p:sp>
      <p:sp>
        <p:nvSpPr>
          <p:cNvPr id="13" name="Cell2 13"/>
          <p:cNvSpPr/>
          <p:nvPr/>
        </p:nvSpPr>
        <p:spPr>
          <a:xfrm>
            <a:off x="5943600" y="2395960"/>
            <a:ext cx="46634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groups</a:t>
            </a:r>
            <a:endParaRPr lang="en-US" sz="1150" dirty="0"/>
          </a:p>
        </p:txBody>
      </p:sp>
      <p:sp>
        <p:nvSpPr>
          <p:cNvPr id="14" name="TableRow 14"/>
          <p:cNvSpPr/>
          <p:nvPr/>
        </p:nvSpPr>
        <p:spPr>
          <a:xfrm>
            <a:off x="594360" y="2775960"/>
            <a:ext cx="10241280" cy="38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Cell1 15"/>
          <p:cNvSpPr/>
          <p:nvPr/>
        </p:nvSpPr>
        <p:spPr>
          <a:xfrm>
            <a:off x="1051560" y="2775960"/>
            <a:ext cx="46634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before grouping</a:t>
            </a:r>
            <a:endParaRPr lang="en-US" sz="1150" dirty="0"/>
          </a:p>
        </p:txBody>
      </p:sp>
      <p:sp>
        <p:nvSpPr>
          <p:cNvPr id="16" name="Cell2 16"/>
          <p:cNvSpPr/>
          <p:nvPr/>
        </p:nvSpPr>
        <p:spPr>
          <a:xfrm>
            <a:off x="5943600" y="2775960"/>
            <a:ext cx="46634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after grouping</a:t>
            </a:r>
            <a:endParaRPr lang="en-US" sz="1150" dirty="0"/>
          </a:p>
        </p:txBody>
      </p:sp>
      <p:sp>
        <p:nvSpPr>
          <p:cNvPr id="17" name="TableRow 17"/>
          <p:cNvSpPr/>
          <p:nvPr/>
        </p:nvSpPr>
        <p:spPr>
          <a:xfrm>
            <a:off x="594360" y="3155960"/>
            <a:ext cx="10241280" cy="380000"/>
          </a:xfrm>
          <a:prstGeom prst="rect">
            <a:avLst/>
          </a:prstGeom>
          <a:solidFill>
            <a:srgbClr val="FBFAF8"/>
          </a:solidFill>
          <a:ln/>
        </p:spPr>
      </p:sp>
      <p:sp>
        <p:nvSpPr>
          <p:cNvPr id="18" name="Cell1 18"/>
          <p:cNvSpPr/>
          <p:nvPr/>
        </p:nvSpPr>
        <p:spPr>
          <a:xfrm>
            <a:off x="1051560" y="3155960"/>
            <a:ext cx="46634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use AVG() / SUM() etc.</a:t>
            </a:r>
            <a:endParaRPr lang="en-US" sz="1150" dirty="0"/>
          </a:p>
        </p:txBody>
      </p:sp>
      <p:sp>
        <p:nvSpPr>
          <p:cNvPr id="19" name="Cell2 19"/>
          <p:cNvSpPr/>
          <p:nvPr/>
        </p:nvSpPr>
        <p:spPr>
          <a:xfrm>
            <a:off x="5943600" y="3155960"/>
            <a:ext cx="46634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use AVG() / SUM() etc.</a:t>
            </a:r>
            <a:endParaRPr lang="en-US" sz="1150" dirty="0"/>
          </a:p>
        </p:txBody>
      </p:sp>
      <p:sp>
        <p:nvSpPr>
          <p:cNvPr id="20" name="TableRow 20"/>
          <p:cNvSpPr/>
          <p:nvPr/>
        </p:nvSpPr>
        <p:spPr>
          <a:xfrm>
            <a:off x="594360" y="3535960"/>
            <a:ext cx="10241280" cy="38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Cell1 21"/>
          <p:cNvSpPr/>
          <p:nvPr/>
        </p:nvSpPr>
        <p:spPr>
          <a:xfrm>
            <a:off x="1051560" y="3535960"/>
            <a:ext cx="46634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individual records</a:t>
            </a:r>
            <a:endParaRPr lang="en-US" sz="1150" dirty="0"/>
          </a:p>
        </p:txBody>
      </p:sp>
      <p:sp>
        <p:nvSpPr>
          <p:cNvPr id="22" name="Cell2 22"/>
          <p:cNvSpPr/>
          <p:nvPr/>
        </p:nvSpPr>
        <p:spPr>
          <a:xfrm>
            <a:off x="5943600" y="3535960"/>
            <a:ext cx="46634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summarized results</a:t>
            </a:r>
            <a:endParaRPr lang="en-US" sz="1150" dirty="0"/>
          </a:p>
        </p:txBody>
      </p:sp>
      <p:sp>
        <p:nvSpPr>
          <p:cNvPr id="23" name="ColDivider 23"/>
          <p:cNvSpPr/>
          <p:nvPr/>
        </p:nvSpPr>
        <p:spPr>
          <a:xfrm>
            <a:off x="5715000" y="1965960"/>
            <a:ext cx="9525" cy="1950000"/>
          </a:xfrm>
          <a:prstGeom prst="rect">
            <a:avLst/>
          </a:prstGeom>
          <a:solidFill>
            <a:srgbClr val="E3DFD6"/>
          </a:solidFill>
          <a:ln/>
        </p:spPr>
      </p:sp>
      <p:sp>
        <p:nvSpPr>
          <p:cNvPr id="24" name="WrongCard 24"/>
          <p:cNvSpPr/>
          <p:nvPr/>
        </p:nvSpPr>
        <p:spPr>
          <a:xfrm>
            <a:off x="594360" y="4105960"/>
            <a:ext cx="5006340" cy="900000"/>
          </a:xfrm>
          <a:prstGeom prst="roundRect">
            <a:avLst>
              <a:gd name="adj" fmla="val 8000"/>
            </a:avLst>
          </a:prstGeom>
          <a:solidFill>
            <a:srgbClr val="FBEAE8"/>
          </a:solidFill>
          <a:ln w="12700">
            <a:solidFill>
              <a:srgbClr val="EFC3BC"/>
            </a:solidFill>
            <a:prstDash val="solid"/>
          </a:ln>
        </p:spPr>
      </p:sp>
      <p:sp>
        <p:nvSpPr>
          <p:cNvPr id="25" name="WrongLabel 25"/>
          <p:cNvSpPr/>
          <p:nvPr/>
        </p:nvSpPr>
        <p:spPr>
          <a:xfrm>
            <a:off x="795528" y="4197400"/>
            <a:ext cx="4604004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 MISTAKE</a:t>
            </a:r>
            <a:endParaRPr lang="en-US" sz="1000" dirty="0"/>
          </a:p>
        </p:txBody>
      </p:sp>
      <p:sp>
        <p:nvSpPr>
          <p:cNvPr id="26" name="WrongCode 26"/>
          <p:cNvSpPr/>
          <p:nvPr/>
        </p:nvSpPr>
        <p:spPr>
          <a:xfrm>
            <a:off x="795528" y="4475960"/>
            <a:ext cx="43763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AVG(cgpa) &gt; 8;</a:t>
            </a:r>
            <a:endParaRPr lang="en-US" sz="1300" dirty="0"/>
          </a:p>
        </p:txBody>
      </p:sp>
      <p:sp>
        <p:nvSpPr>
          <p:cNvPr id="27" name="WrongMark 27"/>
          <p:cNvSpPr/>
          <p:nvPr/>
        </p:nvSpPr>
        <p:spPr>
          <a:xfrm>
            <a:off x="5200700" y="4405960"/>
            <a:ext cx="300000" cy="50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2200" dirty="0"/>
          </a:p>
        </p:txBody>
      </p:sp>
      <p:sp>
        <p:nvSpPr>
          <p:cNvPr id="28" name="RightCard 28"/>
          <p:cNvSpPr/>
          <p:nvPr/>
        </p:nvSpPr>
        <p:spPr>
          <a:xfrm>
            <a:off x="5829300" y="4105960"/>
            <a:ext cx="5006340" cy="900000"/>
          </a:xfrm>
          <a:prstGeom prst="roundRect">
            <a:avLst>
              <a:gd name="adj" fmla="val 8000"/>
            </a:avLst>
          </a:prstGeom>
          <a:solidFill>
            <a:srgbClr val="E9F3F3"/>
          </a:solidFill>
          <a:ln w="12700">
            <a:solidFill>
              <a:srgbClr val="BEE0DD"/>
            </a:solidFill>
            <a:prstDash val="solid"/>
          </a:ln>
        </p:spPr>
      </p:sp>
      <p:sp>
        <p:nvSpPr>
          <p:cNvPr id="29" name="RightLabel 29"/>
          <p:cNvSpPr/>
          <p:nvPr/>
        </p:nvSpPr>
        <p:spPr>
          <a:xfrm>
            <a:off x="6030468" y="4197400"/>
            <a:ext cx="4604004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000" dirty="0"/>
          </a:p>
        </p:txBody>
      </p:sp>
      <p:sp>
        <p:nvSpPr>
          <p:cNvPr id="30" name="RightCode 30"/>
          <p:cNvSpPr/>
          <p:nvPr/>
        </p:nvSpPr>
        <p:spPr>
          <a:xfrm>
            <a:off x="6030468" y="4475960"/>
            <a:ext cx="43763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AVG(cgpa) &gt; 8;</a:t>
            </a:r>
            <a:endParaRPr lang="en-US" sz="1300" dirty="0"/>
          </a:p>
        </p:txBody>
      </p:sp>
      <p:sp>
        <p:nvSpPr>
          <p:cNvPr id="31" name="RightMark 31"/>
          <p:cNvSpPr/>
          <p:nvPr/>
        </p:nvSpPr>
        <p:spPr>
          <a:xfrm>
            <a:off x="10435640" y="4405960"/>
            <a:ext cx="300000" cy="50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200" dirty="0"/>
          </a:p>
        </p:txBody>
      </p:sp>
      <p:sp>
        <p:nvSpPr>
          <p:cNvPr id="32" name="MemoryCard 32"/>
          <p:cNvSpPr/>
          <p:nvPr/>
        </p:nvSpPr>
        <p:spPr>
          <a:xfrm>
            <a:off x="594360" y="5155960"/>
            <a:ext cx="10241280" cy="460000"/>
          </a:xfrm>
          <a:prstGeom prst="roundRect">
            <a:avLst>
              <a:gd name="adj" fmla="val 11928"/>
            </a:avLst>
          </a:prstGeom>
          <a:solidFill>
            <a:srgbClr val="E9F3F3"/>
          </a:solidFill>
          <a:ln w="12700">
            <a:solidFill>
              <a:srgbClr val="BEE0DD"/>
            </a:solidFill>
            <a:prstDash val="solid"/>
          </a:ln>
        </p:spPr>
      </p:sp>
      <p:sp>
        <p:nvSpPr>
          <p:cNvPr id="33" name="MemHeadA 33"/>
          <p:cNvSpPr/>
          <p:nvPr/>
        </p:nvSpPr>
        <p:spPr>
          <a:xfrm>
            <a:off x="795528" y="5155960"/>
            <a:ext cx="4919472" cy="15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OF...</a:t>
            </a:r>
            <a:endParaRPr lang="en-US" sz="1000" dirty="0"/>
          </a:p>
        </p:txBody>
      </p:sp>
      <p:sp>
        <p:nvSpPr>
          <p:cNvPr id="34" name="MemHeadB 34"/>
          <p:cNvSpPr/>
          <p:nvPr/>
        </p:nvSpPr>
        <p:spPr>
          <a:xfrm>
            <a:off x="5833872" y="5155960"/>
            <a:ext cx="4800600" cy="15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</a:t>
            </a:r>
            <a:endParaRPr lang="en-US" sz="1000" dirty="0"/>
          </a:p>
        </p:txBody>
      </p:sp>
      <p:sp>
        <p:nvSpPr>
          <p:cNvPr id="35" name="MemCellA 35"/>
          <p:cNvSpPr/>
          <p:nvPr/>
        </p:nvSpPr>
        <p:spPr>
          <a:xfrm>
            <a:off x="795528" y="5309293"/>
            <a:ext cx="4919472" cy="15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= Before</a:t>
            </a:r>
            <a:endParaRPr lang="en-US" sz="1100" dirty="0"/>
          </a:p>
        </p:txBody>
      </p:sp>
      <p:sp>
        <p:nvSpPr>
          <p:cNvPr id="36" name="MemCellB 36"/>
          <p:cNvSpPr/>
          <p:nvPr/>
        </p:nvSpPr>
        <p:spPr>
          <a:xfrm>
            <a:off x="5833872" y="5309293"/>
            <a:ext cx="4800600" cy="15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rows</a:t>
            </a:r>
            <a:endParaRPr lang="en-US" sz="1100" dirty="0"/>
          </a:p>
        </p:txBody>
      </p:sp>
      <p:sp>
        <p:nvSpPr>
          <p:cNvPr id="37" name="MemCellA 37"/>
          <p:cNvSpPr/>
          <p:nvPr/>
        </p:nvSpPr>
        <p:spPr>
          <a:xfrm>
            <a:off x="795528" y="5462626"/>
            <a:ext cx="4919472" cy="15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= After</a:t>
            </a:r>
            <a:endParaRPr lang="en-US" sz="1100" dirty="0"/>
          </a:p>
        </p:txBody>
      </p:sp>
      <p:sp>
        <p:nvSpPr>
          <p:cNvPr id="38" name="MemCellB 38"/>
          <p:cNvSpPr/>
          <p:nvPr/>
        </p:nvSpPr>
        <p:spPr>
          <a:xfrm>
            <a:off x="5833872" y="5462626"/>
            <a:ext cx="4800600" cy="15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</a:t>
            </a:r>
            <a:endParaRPr lang="en-US" sz="1100" dirty="0"/>
          </a:p>
        </p:txBody>
      </p:sp>
      <p:sp>
        <p:nvSpPr>
          <p:cNvPr id="39" name="MemDivider 39"/>
          <p:cNvSpPr/>
          <p:nvPr/>
        </p:nvSpPr>
        <p:spPr>
          <a:xfrm>
            <a:off x="5715000" y="5247400"/>
            <a:ext cx="9525" cy="277120"/>
          </a:xfrm>
          <a:prstGeom prst="rect">
            <a:avLst/>
          </a:prstGeom>
          <a:solidFill>
            <a:srgbClr val="BEE0DD"/>
          </a:solidFill>
          <a:ln/>
        </p:spPr>
      </p:sp>
      <p:sp>
        <p:nvSpPr>
          <p:cNvPr id="40" name="Watermark 40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41" name="PageNum 41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3150108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315010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+ WHERE + HAVING</a:t>
            </a:r>
            <a:endParaRPr lang="en-US" sz="27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CGPA branch-wise for Delhi students, only above 8.</a:t>
            </a:r>
            <a:endParaRPr lang="en-US" sz="1300" dirty="0"/>
          </a:p>
        </p:txBody>
      </p:sp>
      <p:sp>
        <p:nvSpPr>
          <p:cNvPr id="6" name="CodeCard 6"/>
          <p:cNvSpPr/>
          <p:nvPr/>
        </p:nvSpPr>
        <p:spPr>
          <a:xfrm>
            <a:off x="594360" y="1965960"/>
            <a:ext cx="5852160" cy="2643536"/>
          </a:xfrm>
          <a:prstGeom prst="roundRect">
            <a:avLst>
              <a:gd name="adj" fmla="val 691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HeaderTop 7"/>
          <p:cNvSpPr/>
          <p:nvPr/>
        </p:nvSpPr>
        <p:spPr>
          <a:xfrm>
            <a:off x="594360" y="1965960"/>
            <a:ext cx="5852160" cy="310896"/>
          </a:xfrm>
          <a:prstGeom prst="roundRect">
            <a:avLst>
              <a:gd name="adj" fmla="val 13235"/>
            </a:avLst>
          </a:prstGeom>
          <a:solidFill>
            <a:srgbClr val="E7E7E7"/>
          </a:solidFill>
          <a:ln/>
        </p:spPr>
      </p:sp>
      <p:sp>
        <p:nvSpPr>
          <p:cNvPr id="8" name="HeaderSquare 8"/>
          <p:cNvSpPr/>
          <p:nvPr/>
        </p:nvSpPr>
        <p:spPr>
          <a:xfrm>
            <a:off x="594360" y="2121408"/>
            <a:ext cx="5852160" cy="155448"/>
          </a:xfrm>
          <a:prstGeom prst="rect">
            <a:avLst/>
          </a:prstGeom>
          <a:solidFill>
            <a:srgbClr val="E7E7E7"/>
          </a:solidFill>
          <a:ln/>
        </p:spPr>
      </p:sp>
      <p:sp>
        <p:nvSpPr>
          <p:cNvPr id="9" name="Dot 9"/>
          <p:cNvSpPr/>
          <p:nvPr/>
        </p:nvSpPr>
        <p:spPr>
          <a:xfrm>
            <a:off x="740664" y="2071416"/>
            <a:ext cx="100584" cy="100584"/>
          </a:xfrm>
          <a:prstGeom prst="ellipse">
            <a:avLst/>
          </a:prstGeom>
          <a:solidFill>
            <a:srgbClr val="E8695B"/>
          </a:solidFill>
          <a:ln/>
        </p:spPr>
      </p:sp>
      <p:sp>
        <p:nvSpPr>
          <p:cNvPr id="10" name="Dot 10"/>
          <p:cNvSpPr/>
          <p:nvPr/>
        </p:nvSpPr>
        <p:spPr>
          <a:xfrm>
            <a:off x="941832" y="207141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1" name="Dot 11"/>
          <p:cNvSpPr/>
          <p:nvPr/>
        </p:nvSpPr>
        <p:spPr>
          <a:xfrm>
            <a:off x="1143000" y="207141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2" name="HeaderLabel 12"/>
          <p:cNvSpPr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Workbench — college_db</a:t>
            </a:r>
            <a:endParaRPr lang="en-US" sz="1050" dirty="0"/>
          </a:p>
        </p:txBody>
      </p:sp>
      <p:sp>
        <p:nvSpPr>
          <p:cNvPr id="13" name="CodeBody 13"/>
          <p:cNvSpPr/>
          <p:nvPr/>
        </p:nvSpPr>
        <p:spPr>
          <a:xfrm>
            <a:off x="868680" y="2423160"/>
            <a:ext cx="5303520" cy="2003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Delhi branches averaging above 8 CGPA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branch,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AVG(cgpa)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city = 'Delhi'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AVG(cgpa) &gt; 8;</a:t>
            </a:r>
            <a:endParaRPr lang="en-US" sz="1300" dirty="0"/>
          </a:p>
        </p:txBody>
      </p:sp>
      <p:sp>
        <p:nvSpPr>
          <p:cNvPr id="14" name="StepDot 14"/>
          <p:cNvSpPr/>
          <p:nvPr/>
        </p:nvSpPr>
        <p:spPr>
          <a:xfrm>
            <a:off x="6720840" y="1965960"/>
            <a:ext cx="246888" cy="246888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5" name="StepNum 15"/>
          <p:cNvSpPr/>
          <p:nvPr/>
        </p:nvSpPr>
        <p:spPr>
          <a:xfrm>
            <a:off x="6720840" y="19659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tepText 16"/>
          <p:cNvSpPr/>
          <p:nvPr/>
        </p:nvSpPr>
        <p:spPr>
          <a:xfrm>
            <a:off x="7040880" y="1935960"/>
            <a:ext cx="379476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students — start with the full table.</a:t>
            </a:r>
            <a:endParaRPr lang="en-US" sz="1050" dirty="0"/>
          </a:p>
        </p:txBody>
      </p:sp>
      <p:sp>
        <p:nvSpPr>
          <p:cNvPr id="17" name="StepDot 17"/>
          <p:cNvSpPr/>
          <p:nvPr/>
        </p:nvSpPr>
        <p:spPr>
          <a:xfrm>
            <a:off x="6720840" y="2465960"/>
            <a:ext cx="246888" cy="246888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8" name="StepNum 18"/>
          <p:cNvSpPr/>
          <p:nvPr/>
        </p:nvSpPr>
        <p:spPr>
          <a:xfrm>
            <a:off x="6720840" y="24659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tepText 19"/>
          <p:cNvSpPr/>
          <p:nvPr/>
        </p:nvSpPr>
        <p:spPr>
          <a:xfrm>
            <a:off x="7040880" y="2435960"/>
            <a:ext cx="379476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city = 'Delhi' — keep only Delhi rows.</a:t>
            </a:r>
            <a:endParaRPr lang="en-US" sz="1050" dirty="0"/>
          </a:p>
        </p:txBody>
      </p:sp>
      <p:sp>
        <p:nvSpPr>
          <p:cNvPr id="20" name="StepDot 20"/>
          <p:cNvSpPr/>
          <p:nvPr/>
        </p:nvSpPr>
        <p:spPr>
          <a:xfrm>
            <a:off x="6720840" y="2965960"/>
            <a:ext cx="246888" cy="246888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1" name="StepNum 21"/>
          <p:cNvSpPr/>
          <p:nvPr/>
        </p:nvSpPr>
        <p:spPr>
          <a:xfrm>
            <a:off x="6720840" y="29659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tepText 22"/>
          <p:cNvSpPr/>
          <p:nvPr/>
        </p:nvSpPr>
        <p:spPr>
          <a:xfrm>
            <a:off x="7040880" y="2935960"/>
            <a:ext cx="379476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branch — form one group per branch.</a:t>
            </a:r>
            <a:endParaRPr lang="en-US" sz="1050" dirty="0"/>
          </a:p>
        </p:txBody>
      </p:sp>
      <p:sp>
        <p:nvSpPr>
          <p:cNvPr id="23" name="StepDot 23"/>
          <p:cNvSpPr/>
          <p:nvPr/>
        </p:nvSpPr>
        <p:spPr>
          <a:xfrm>
            <a:off x="6720840" y="3465960"/>
            <a:ext cx="246888" cy="246888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4" name="StepNum 24"/>
          <p:cNvSpPr/>
          <p:nvPr/>
        </p:nvSpPr>
        <p:spPr>
          <a:xfrm>
            <a:off x="6720840" y="34659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tepText 25"/>
          <p:cNvSpPr/>
          <p:nvPr/>
        </p:nvSpPr>
        <p:spPr>
          <a:xfrm>
            <a:off x="7040880" y="3435960"/>
            <a:ext cx="379476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AVG(cgpa) &gt; 8 — drop groups averaging 8 or below.</a:t>
            </a:r>
            <a:endParaRPr lang="en-US" sz="1050" dirty="0"/>
          </a:p>
        </p:txBody>
      </p:sp>
      <p:sp>
        <p:nvSpPr>
          <p:cNvPr id="26" name="StepDot 26"/>
          <p:cNvSpPr/>
          <p:nvPr/>
        </p:nvSpPr>
        <p:spPr>
          <a:xfrm>
            <a:off x="6720840" y="3965960"/>
            <a:ext cx="246888" cy="246888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7" name="StepNum 27"/>
          <p:cNvSpPr/>
          <p:nvPr/>
        </p:nvSpPr>
        <p:spPr>
          <a:xfrm>
            <a:off x="6720840" y="39659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tepText 28"/>
          <p:cNvSpPr/>
          <p:nvPr/>
        </p:nvSpPr>
        <p:spPr>
          <a:xfrm>
            <a:off x="7040880" y="3935960"/>
            <a:ext cx="379476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branch, AVG(cgpa) — return the final columns.</a:t>
            </a:r>
            <a:endParaRPr lang="en-US" sz="1050" dirty="0"/>
          </a:p>
        </p:txBody>
      </p:sp>
      <p:sp>
        <p:nvSpPr>
          <p:cNvPr id="29" name="Watermark 29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30" name="PageNum 30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2583180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25831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RESULTS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Categories</a:t>
            </a:r>
            <a:endParaRPr lang="en-US" sz="34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branch performs best?</a:t>
            </a:r>
            <a:endParaRPr lang="en-US" sz="1300" dirty="0"/>
          </a:p>
        </p:txBody>
      </p:sp>
      <p:sp>
        <p:nvSpPr>
          <p:cNvPr id="6" name="CodeCard 6"/>
          <p:cNvSpPr/>
          <p:nvPr/>
        </p:nvSpPr>
        <p:spPr>
          <a:xfrm>
            <a:off x="594360" y="1965960"/>
            <a:ext cx="5852160" cy="2425604"/>
          </a:xfrm>
          <a:prstGeom prst="roundRect">
            <a:avLst>
              <a:gd name="adj" fmla="val 754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HeaderTop 7"/>
          <p:cNvSpPr/>
          <p:nvPr/>
        </p:nvSpPr>
        <p:spPr>
          <a:xfrm>
            <a:off x="594360" y="1965960"/>
            <a:ext cx="5852160" cy="310896"/>
          </a:xfrm>
          <a:prstGeom prst="roundRect">
            <a:avLst>
              <a:gd name="adj" fmla="val 13235"/>
            </a:avLst>
          </a:prstGeom>
          <a:solidFill>
            <a:srgbClr val="E7E7E7"/>
          </a:solidFill>
          <a:ln/>
        </p:spPr>
      </p:sp>
      <p:sp>
        <p:nvSpPr>
          <p:cNvPr id="8" name="HeaderSquare 8"/>
          <p:cNvSpPr/>
          <p:nvPr/>
        </p:nvSpPr>
        <p:spPr>
          <a:xfrm>
            <a:off x="594360" y="2121408"/>
            <a:ext cx="5852160" cy="155448"/>
          </a:xfrm>
          <a:prstGeom prst="rect">
            <a:avLst/>
          </a:prstGeom>
          <a:solidFill>
            <a:srgbClr val="E7E7E7"/>
          </a:solidFill>
          <a:ln/>
        </p:spPr>
      </p:sp>
      <p:sp>
        <p:nvSpPr>
          <p:cNvPr id="9" name="Dot 9"/>
          <p:cNvSpPr/>
          <p:nvPr/>
        </p:nvSpPr>
        <p:spPr>
          <a:xfrm>
            <a:off x="740664" y="2071416"/>
            <a:ext cx="100584" cy="100584"/>
          </a:xfrm>
          <a:prstGeom prst="ellipse">
            <a:avLst/>
          </a:prstGeom>
          <a:solidFill>
            <a:srgbClr val="E8695B"/>
          </a:solidFill>
          <a:ln/>
        </p:spPr>
      </p:sp>
      <p:sp>
        <p:nvSpPr>
          <p:cNvPr id="10" name="Dot 10"/>
          <p:cNvSpPr/>
          <p:nvPr/>
        </p:nvSpPr>
        <p:spPr>
          <a:xfrm>
            <a:off x="941832" y="207141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1" name="Dot 11"/>
          <p:cNvSpPr/>
          <p:nvPr/>
        </p:nvSpPr>
        <p:spPr>
          <a:xfrm>
            <a:off x="1143000" y="207141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2" name="HeaderLabel 12"/>
          <p:cNvSpPr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Workbench — college_db</a:t>
            </a:r>
            <a:endParaRPr lang="en-US" sz="1050" dirty="0"/>
          </a:p>
        </p:txBody>
      </p:sp>
      <p:sp>
        <p:nvSpPr>
          <p:cNvPr id="13" name="CodeBody 13"/>
          <p:cNvSpPr/>
          <p:nvPr/>
        </p:nvSpPr>
        <p:spPr>
          <a:xfrm>
            <a:off x="868680" y="2423160"/>
            <a:ext cx="5303520" cy="178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Rank branches by average CGPA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branch,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AVG(cgpa) </a:t>
            </a: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avg_cgpa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avg_cgpa </a:t>
            </a: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14" name="ConceptCard 14"/>
          <p:cNvSpPr/>
          <p:nvPr/>
        </p:nvSpPr>
        <p:spPr>
          <a:xfrm>
            <a:off x="6720840" y="196596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ConceptTitle 15"/>
          <p:cNvSpPr/>
          <p:nvPr/>
        </p:nvSpPr>
        <p:spPr>
          <a:xfrm>
            <a:off x="6949440" y="2093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Groups</a:t>
            </a:r>
            <a:endParaRPr lang="en-US" sz="1500" dirty="0"/>
          </a:p>
        </p:txBody>
      </p:sp>
      <p:sp>
        <p:nvSpPr>
          <p:cNvPr id="16" name="ConceptDesc 16"/>
          <p:cNvSpPr/>
          <p:nvPr/>
        </p:nvSpPr>
        <p:spPr>
          <a:xfrm>
            <a:off x="6949440" y="23865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collapses rows into one summary row per branch.</a:t>
            </a:r>
            <a:endParaRPr lang="en-US" sz="1150" dirty="0"/>
          </a:p>
        </p:txBody>
      </p:sp>
      <p:sp>
        <p:nvSpPr>
          <p:cNvPr id="17" name="ConceptCard 17"/>
          <p:cNvSpPr/>
          <p:nvPr/>
        </p:nvSpPr>
        <p:spPr>
          <a:xfrm>
            <a:off x="6720840" y="32004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ConceptTitle 18"/>
          <p:cNvSpPr/>
          <p:nvPr/>
        </p:nvSpPr>
        <p:spPr>
          <a:xfrm>
            <a:off x="694944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Ranks</a:t>
            </a:r>
            <a:endParaRPr lang="en-US" sz="1500" dirty="0"/>
          </a:p>
        </p:txBody>
      </p:sp>
      <p:sp>
        <p:nvSpPr>
          <p:cNvPr id="19" name="ConceptDesc 19"/>
          <p:cNvSpPr/>
          <p:nvPr/>
        </p:nvSpPr>
        <p:spPr>
          <a:xfrm>
            <a:off x="6949440" y="36210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sorts those summary rows — DESC puts the best branch first.</a:t>
            </a:r>
            <a:endParaRPr lang="en-US" sz="1150" dirty="0"/>
          </a:p>
        </p:txBody>
      </p:sp>
      <p:sp>
        <p:nvSpPr>
          <p:cNvPr id="20" name="TipCard 20"/>
          <p:cNvSpPr/>
          <p:nvPr/>
        </p:nvSpPr>
        <p:spPr>
          <a:xfrm>
            <a:off x="594360" y="4541564"/>
            <a:ext cx="10241280" cy="760000"/>
          </a:xfrm>
          <a:prstGeom prst="roundRect">
            <a:avLst>
              <a:gd name="adj" fmla="val 7219"/>
            </a:avLst>
          </a:prstGeom>
          <a:solidFill>
            <a:srgbClr val="E9F3F3"/>
          </a:solidFill>
          <a:ln w="12700">
            <a:solidFill>
              <a:srgbClr val="BEE0DD"/>
            </a:solidFill>
            <a:prstDash val="solid"/>
          </a:ln>
        </p:spPr>
      </p:sp>
      <p:sp>
        <p:nvSpPr>
          <p:cNvPr id="21" name="TipLabel 21"/>
          <p:cNvSpPr/>
          <p:nvPr/>
        </p:nvSpPr>
        <p:spPr>
          <a:xfrm>
            <a:off x="795528" y="4633004"/>
            <a:ext cx="9838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FAVOURITE</a:t>
            </a:r>
            <a:endParaRPr lang="en-US" sz="1000" dirty="0"/>
          </a:p>
        </p:txBody>
      </p:sp>
      <p:sp>
        <p:nvSpPr>
          <p:cNvPr id="22" name="TipBody 22"/>
          <p:cNvSpPr/>
          <p:nvPr/>
        </p:nvSpPr>
        <p:spPr>
          <a:xfrm>
            <a:off x="795528" y="4852460"/>
            <a:ext cx="9838944" cy="35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runs before </a:t>
            </a: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 group first, then rank the groups. This combination shows up in almost every SQL interview.</a:t>
            </a:r>
            <a:endParaRPr lang="en-US" sz="1050" dirty="0"/>
          </a:p>
        </p:txBody>
      </p:sp>
      <p:sp>
        <p:nvSpPr>
          <p:cNvPr id="23" name="Watermark 23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4" name="PageNum 24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2441448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SQL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Studies</a:t>
            </a:r>
            <a:endParaRPr lang="en-US" sz="30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real requests from around campus — match each to a GROUP BY query.</a:t>
            </a:r>
            <a:endParaRPr lang="en-US" sz="1300" dirty="0"/>
          </a:p>
        </p:txBody>
      </p:sp>
      <p:sp>
        <p:nvSpPr>
          <p:cNvPr id="6" name="RowCard 6"/>
          <p:cNvSpPr/>
          <p:nvPr/>
        </p:nvSpPr>
        <p:spPr>
          <a:xfrm>
            <a:off x="594360" y="210312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RowNum 7"/>
          <p:cNvSpPr/>
          <p:nvPr/>
        </p:nvSpPr>
        <p:spPr>
          <a:xfrm>
            <a:off x="795528" y="221284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8" name="RowNumText 8"/>
          <p:cNvSpPr/>
          <p:nvPr/>
        </p:nvSpPr>
        <p:spPr>
          <a:xfrm>
            <a:off x="795528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RowText 9"/>
          <p:cNvSpPr/>
          <p:nvPr/>
        </p:nvSpPr>
        <p:spPr>
          <a:xfrm>
            <a:off x="1371600" y="210312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CGPA of every branch.</a:t>
            </a:r>
            <a:endParaRPr lang="en-US" sz="1400" dirty="0"/>
          </a:p>
        </p:txBody>
      </p:sp>
      <p:sp>
        <p:nvSpPr>
          <p:cNvPr id="10" name="RowCard 10"/>
          <p:cNvSpPr/>
          <p:nvPr/>
        </p:nvSpPr>
        <p:spPr>
          <a:xfrm>
            <a:off x="594360" y="283464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RowNum 11"/>
          <p:cNvSpPr/>
          <p:nvPr/>
        </p:nvSpPr>
        <p:spPr>
          <a:xfrm>
            <a:off x="795528" y="294436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2" name="RowNumText 12"/>
          <p:cNvSpPr/>
          <p:nvPr/>
        </p:nvSpPr>
        <p:spPr>
          <a:xfrm>
            <a:off x="79552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RowText 13"/>
          <p:cNvSpPr/>
          <p:nvPr/>
        </p:nvSpPr>
        <p:spPr>
          <a:xfrm>
            <a:off x="1371600" y="283464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fees collected, branch-wise.</a:t>
            </a:r>
            <a:endParaRPr lang="en-US" sz="1400" dirty="0"/>
          </a:p>
        </p:txBody>
      </p:sp>
      <p:sp>
        <p:nvSpPr>
          <p:cNvPr id="14" name="RowCard 14"/>
          <p:cNvSpPr/>
          <p:nvPr/>
        </p:nvSpPr>
        <p:spPr>
          <a:xfrm>
            <a:off x="594360" y="356616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RowNum 15"/>
          <p:cNvSpPr/>
          <p:nvPr/>
        </p:nvSpPr>
        <p:spPr>
          <a:xfrm>
            <a:off x="795528" y="367588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6" name="RowNumText 16"/>
          <p:cNvSpPr/>
          <p:nvPr/>
        </p:nvSpPr>
        <p:spPr>
          <a:xfrm>
            <a:off x="795528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RowText 17"/>
          <p:cNvSpPr/>
          <p:nvPr/>
        </p:nvSpPr>
        <p:spPr>
          <a:xfrm>
            <a:off x="1371600" y="356616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count, city-wise.</a:t>
            </a:r>
            <a:endParaRPr lang="en-US" sz="1400" dirty="0"/>
          </a:p>
        </p:txBody>
      </p:sp>
      <p:sp>
        <p:nvSpPr>
          <p:cNvPr id="18" name="RowCard 18"/>
          <p:cNvSpPr/>
          <p:nvPr/>
        </p:nvSpPr>
        <p:spPr>
          <a:xfrm>
            <a:off x="594360" y="429768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RowNum 19"/>
          <p:cNvSpPr/>
          <p:nvPr/>
        </p:nvSpPr>
        <p:spPr>
          <a:xfrm>
            <a:off x="795528" y="440740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0" name="RowNumText 20"/>
          <p:cNvSpPr/>
          <p:nvPr/>
        </p:nvSpPr>
        <p:spPr>
          <a:xfrm>
            <a:off x="795528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RowText 21"/>
          <p:cNvSpPr/>
          <p:nvPr/>
        </p:nvSpPr>
        <p:spPr>
          <a:xfrm>
            <a:off x="1371600" y="429768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attendance, branch-wise.</a:t>
            </a:r>
            <a:endParaRPr lang="en-US" sz="1400" dirty="0"/>
          </a:p>
        </p:txBody>
      </p:sp>
      <p:sp>
        <p:nvSpPr>
          <p:cNvPr id="22" name="RowCard 22"/>
          <p:cNvSpPr/>
          <p:nvPr/>
        </p:nvSpPr>
        <p:spPr>
          <a:xfrm>
            <a:off x="594360" y="502920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RowNum 23"/>
          <p:cNvSpPr/>
          <p:nvPr/>
        </p:nvSpPr>
        <p:spPr>
          <a:xfrm>
            <a:off x="795528" y="513892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4" name="RowNumText 24"/>
          <p:cNvSpPr/>
          <p:nvPr/>
        </p:nvSpPr>
        <p:spPr>
          <a:xfrm>
            <a:off x="795528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RowText 25"/>
          <p:cNvSpPr/>
          <p:nvPr/>
        </p:nvSpPr>
        <p:spPr>
          <a:xfrm>
            <a:off x="1371600" y="502920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with average CGPA above 8.</a:t>
            </a:r>
            <a:endParaRPr lang="en-US" sz="1400" dirty="0"/>
          </a:p>
        </p:txBody>
      </p:sp>
      <p:sp>
        <p:nvSpPr>
          <p:cNvPr id="26" name="Watermark 26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7" name="PageNum 27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2"/>
          <p:cNvSpPr/>
          <p:nvPr/>
        </p:nvSpPr>
        <p:spPr>
          <a:xfrm>
            <a:off x="594360" y="457200"/>
            <a:ext cx="1591056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BadgeText 3"/>
          <p:cNvSpPr/>
          <p:nvPr/>
        </p:nvSpPr>
        <p:spPr>
          <a:xfrm>
            <a:off x="594360" y="457200"/>
            <a:ext cx="159105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1100" dirty="0"/>
          </a:p>
        </p:txBody>
      </p:sp>
      <p:sp>
        <p:nvSpPr>
          <p:cNvPr id="4" name="Title 4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Interview Challenge</a:t>
            </a:r>
            <a:endParaRPr lang="en-US" sz="2900" dirty="0"/>
          </a:p>
        </p:txBody>
      </p:sp>
      <p:sp>
        <p:nvSpPr>
          <p:cNvPr id="5" name="Subtitle 5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questions using everything from today — no answers here!</a:t>
            </a:r>
            <a:endParaRPr lang="en-US" sz="1300" dirty="0"/>
          </a:p>
        </p:txBody>
      </p:sp>
      <p:sp>
        <p:nvSpPr>
          <p:cNvPr id="6" name="RowCard 6"/>
          <p:cNvSpPr/>
          <p:nvPr/>
        </p:nvSpPr>
        <p:spPr>
          <a:xfrm>
            <a:off x="594360" y="210312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RowNum 7"/>
          <p:cNvSpPr/>
          <p:nvPr/>
        </p:nvSpPr>
        <p:spPr>
          <a:xfrm>
            <a:off x="795528" y="221284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8" name="RowNumText 8"/>
          <p:cNvSpPr/>
          <p:nvPr/>
        </p:nvSpPr>
        <p:spPr>
          <a:xfrm>
            <a:off x="795528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RowText 9"/>
          <p:cNvSpPr/>
          <p:nvPr/>
        </p:nvSpPr>
        <p:spPr>
          <a:xfrm>
            <a:off x="1371600" y="210312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branch has the highest average CGPA?</a:t>
            </a:r>
            <a:endParaRPr lang="en-US" sz="1400" dirty="0"/>
          </a:p>
        </p:txBody>
      </p:sp>
      <p:sp>
        <p:nvSpPr>
          <p:cNvPr id="10" name="RowCard 10"/>
          <p:cNvSpPr/>
          <p:nvPr/>
        </p:nvSpPr>
        <p:spPr>
          <a:xfrm>
            <a:off x="594360" y="283464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RowNum 11"/>
          <p:cNvSpPr/>
          <p:nvPr/>
        </p:nvSpPr>
        <p:spPr>
          <a:xfrm>
            <a:off x="795528" y="294436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2" name="RowNumText 12"/>
          <p:cNvSpPr/>
          <p:nvPr/>
        </p:nvSpPr>
        <p:spPr>
          <a:xfrm>
            <a:off x="79552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RowText 13"/>
          <p:cNvSpPr/>
          <p:nvPr/>
        </p:nvSpPr>
        <p:spPr>
          <a:xfrm>
            <a:off x="1371600" y="283464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city has the most students?</a:t>
            </a:r>
            <a:endParaRPr lang="en-US" sz="1400" dirty="0"/>
          </a:p>
        </p:txBody>
      </p:sp>
      <p:sp>
        <p:nvSpPr>
          <p:cNvPr id="14" name="RowCard 14"/>
          <p:cNvSpPr/>
          <p:nvPr/>
        </p:nvSpPr>
        <p:spPr>
          <a:xfrm>
            <a:off x="594360" y="356616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RowNum 15"/>
          <p:cNvSpPr/>
          <p:nvPr/>
        </p:nvSpPr>
        <p:spPr>
          <a:xfrm>
            <a:off x="795528" y="367588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6" name="RowNumText 16"/>
          <p:cNvSpPr/>
          <p:nvPr/>
        </p:nvSpPr>
        <p:spPr>
          <a:xfrm>
            <a:off x="795528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RowText 17"/>
          <p:cNvSpPr/>
          <p:nvPr/>
        </p:nvSpPr>
        <p:spPr>
          <a:xfrm>
            <a:off x="1371600" y="356616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branches collecting more than ₹2,00,000 in fees.</a:t>
            </a:r>
            <a:endParaRPr lang="en-US" sz="1400" dirty="0"/>
          </a:p>
        </p:txBody>
      </p:sp>
      <p:sp>
        <p:nvSpPr>
          <p:cNvPr id="18" name="RowCard 18"/>
          <p:cNvSpPr/>
          <p:nvPr/>
        </p:nvSpPr>
        <p:spPr>
          <a:xfrm>
            <a:off x="594360" y="429768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RowNum 19"/>
          <p:cNvSpPr/>
          <p:nvPr/>
        </p:nvSpPr>
        <p:spPr>
          <a:xfrm>
            <a:off x="795528" y="440740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0" name="RowNumText 20"/>
          <p:cNvSpPr/>
          <p:nvPr/>
        </p:nvSpPr>
        <p:spPr>
          <a:xfrm>
            <a:off x="795528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RowText 21"/>
          <p:cNvSpPr/>
          <p:nvPr/>
        </p:nvSpPr>
        <p:spPr>
          <a:xfrm>
            <a:off x="1371600" y="429768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students branch-wise and rank them.</a:t>
            </a:r>
            <a:endParaRPr lang="en-US" sz="1400" dirty="0"/>
          </a:p>
        </p:txBody>
      </p:sp>
      <p:sp>
        <p:nvSpPr>
          <p:cNvPr id="22" name="RowCard 22"/>
          <p:cNvSpPr/>
          <p:nvPr/>
        </p:nvSpPr>
        <p:spPr>
          <a:xfrm>
            <a:off x="594360" y="502920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RowNum 23"/>
          <p:cNvSpPr/>
          <p:nvPr/>
        </p:nvSpPr>
        <p:spPr>
          <a:xfrm>
            <a:off x="795528" y="513892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4" name="RowNumText 24"/>
          <p:cNvSpPr/>
          <p:nvPr/>
        </p:nvSpPr>
        <p:spPr>
          <a:xfrm>
            <a:off x="795528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RowText 25"/>
          <p:cNvSpPr/>
          <p:nvPr/>
        </p:nvSpPr>
        <p:spPr>
          <a:xfrm>
            <a:off x="1371600" y="502920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cities having at least two students.</a:t>
            </a:r>
            <a:endParaRPr lang="en-US" sz="1400" dirty="0"/>
          </a:p>
        </p:txBody>
      </p:sp>
      <p:sp>
        <p:nvSpPr>
          <p:cNvPr id="26" name="Watermark 26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7" name="PageNum 27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1: Title</vt:lpstr>
      <vt:lpstr>Slide 2: Today's Agenda</vt:lpstr>
      <vt:lpstr>Slide 3: From Individual Records to Categories</vt:lpstr>
      <vt:lpstr>Slide 4: SQL Execution Order</vt:lpstr>
      <vt:lpstr>Slide 5: GROUP BY</vt:lpstr>
      <vt:lpstr>Slide 6: WHERE vs HAVING</vt:lpstr>
      <vt:lpstr>Slide 7: GROUP BY + WHERE + HAVING</vt:lpstr>
      <vt:lpstr>Slide 8: Ranking Categories</vt:lpstr>
      <vt:lpstr>Slide 9: Business Case Studies</vt:lpstr>
      <vt:lpstr>Slide 10: Mini Interview Challenge</vt:lpstr>
    </vt:vector>
  </TitlesOfParts>
  <Company>Shalinee Priya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Day 4: GROUP BY &amp; HAVING</dc:title>
  <dc:subject>PptxGenJS Presentation</dc:subject>
  <dc:creator>Shalinee Priya</dc:creator>
  <cp:lastModifiedBy>Shalinee Priya</cp:lastModifiedBy>
  <cp:revision>1</cp:revision>
  <dcterms:created xsi:type="dcterms:W3CDTF">2026-08-19T09:00:00Z</dcterms:created>
  <dcterms:modified xsi:type="dcterms:W3CDTF">2026-08-19T09:00:00Z</dcterms:modified>
</cp:coreProperties>
</file>