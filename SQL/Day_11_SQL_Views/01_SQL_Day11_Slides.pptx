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914400"/>
            <a:ext cx="2834640" cy="1005840"/>
          </a:xfrm>
          <a:prstGeom prst="roundRect">
            <a:avLst>
              <a:gd name="adj" fmla="val 9091"/>
            </a:avLst>
          </a:prstGeom>
          <a:solidFill>
            <a:srgbClr val="1E2761">
              <a:alpha val="7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205740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00A896">
              <a:alpha val="4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1160" y="310896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CADCFC">
              <a:alpha val="3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  ·  SQL TRAINING SERIES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Views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reusable queries to stored, virtual business objects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from:  </a:t>
            </a:r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JOINs   ·   Day 9 Subqueries   ·   Day 10 Functions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8+  ·  MySQL Workbench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6263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Shalinee Priya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CONTINUITY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Day 11 Fits in the SQL Journey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656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Day 11  ·  Views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95681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49424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8368" y="269748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rows across tables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81528" y="2386584"/>
            <a:ext cx="219456" cy="256032"/>
          </a:xfrm>
          <a:prstGeom prst="rightArrow">
            <a:avLst/>
          </a:prstGeom>
          <a:solidFill>
            <a:srgbClr val="B7BEDA"/>
          </a:solidFill>
          <a:ln/>
        </p:spPr>
      </p:sp>
      <p:sp>
        <p:nvSpPr>
          <p:cNvPr id="12" name="Shape 10"/>
          <p:cNvSpPr/>
          <p:nvPr/>
        </p:nvSpPr>
        <p:spPr>
          <a:xfrm>
            <a:off x="3319272" y="18288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19272" y="195681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9272" y="2249424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Subqueries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429000" y="269748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 one query inside another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52160" y="2386584"/>
            <a:ext cx="219456" cy="256032"/>
          </a:xfrm>
          <a:prstGeom prst="rightArrow">
            <a:avLst/>
          </a:prstGeom>
          <a:solidFill>
            <a:srgbClr val="B7BEDA"/>
          </a:solidFill>
          <a:ln/>
        </p:spPr>
      </p:sp>
      <p:sp>
        <p:nvSpPr>
          <p:cNvPr id="17" name="Shape 15"/>
          <p:cNvSpPr/>
          <p:nvPr/>
        </p:nvSpPr>
        <p:spPr>
          <a:xfrm>
            <a:off x="6089904" y="18288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89904" y="195681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89904" y="2249424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199632" y="269748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· Numeric · Date/Time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22792" y="2386584"/>
            <a:ext cx="219456" cy="256032"/>
          </a:xfrm>
          <a:prstGeom prst="rightArrow">
            <a:avLst/>
          </a:prstGeom>
          <a:solidFill>
            <a:srgbClr val="B7BEDA"/>
          </a:solidFill>
          <a:ln/>
        </p:spPr>
      </p:sp>
      <p:sp>
        <p:nvSpPr>
          <p:cNvPr id="22" name="Shape 20"/>
          <p:cNvSpPr/>
          <p:nvPr/>
        </p:nvSpPr>
        <p:spPr>
          <a:xfrm>
            <a:off x="8860536" y="18288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860536" y="195681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860536" y="2249424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Views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970264" y="269748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any of the above as a reusable object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37033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already know: 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· WHERE · ORDER BY · Aggregates · GROUP BY · HAVING · JOINs · Subqueries · String/Numeric/Date functions · CASE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4773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thread: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" y="50749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built a complex employee report — string, numeric, date logic and CASE — one query at a time.
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 saves that exact reporting logic as a VIEW, turning a one-off query into a reusable business object.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 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656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Day 11  ·  Views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5349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2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precisely what a MySQL view stores — and what it does not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2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views using JOINs, subqueries, functions, CASE, GROUP BY and HAVING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2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the full view lifecycle: CREATE, CREATE OR REPLACE, ALTER, DROP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2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views via SHOW CREATE VIEW and INFORMATION_SCHEMA.VIEWS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26480" y="1874520"/>
            <a:ext cx="5349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2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updatable vs non-updatable views — and justify why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2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WITH CHECK OPTION to protect a filtered, updatable view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2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view security, SQL SECURITY DEFINER/INVOKER at interview level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2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views against subqueries, tables, and materialized views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View?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656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Day 11  ·  Views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VIEW is a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SQL query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saved under a name, that behaves like a virtual table whenever it is queried.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75120" y="1554480"/>
            <a:ext cx="4846320" cy="566928"/>
          </a:xfrm>
          <a:prstGeom prst="roundRect">
            <a:avLst>
              <a:gd name="adj" fmla="val 1451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6B728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155448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Table(s)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951976" y="2121408"/>
            <a:ext cx="292608" cy="292608"/>
          </a:xfrm>
          <a:prstGeom prst="downArrow">
            <a:avLst/>
          </a:prstGeom>
          <a:solidFill>
            <a:srgbClr val="00A896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2414016"/>
            <a:ext cx="4846320" cy="566928"/>
          </a:xfrm>
          <a:prstGeom prst="roundRect">
            <a:avLst>
              <a:gd name="adj" fmla="val 14516"/>
            </a:avLst>
          </a:prstGeom>
          <a:solidFill>
            <a:srgbClr val="2A3583"/>
          </a:solidFill>
          <a:ln/>
          <a:effectLst>
            <a:outerShdw sx="100000" sy="100000" kx="0" ky="0" algn="bl" rotWithShape="0" blurRad="63500" dist="25400" dir="5400000">
              <a:srgbClr val="6B728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75120" y="2414016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SELECT Query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51976" y="2980944"/>
            <a:ext cx="292608" cy="292608"/>
          </a:xfrm>
          <a:prstGeom prst="downArrow">
            <a:avLst/>
          </a:prstGeom>
          <a:solidFill>
            <a:srgbClr val="00A896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0" y="3273552"/>
            <a:ext cx="4846320" cy="566928"/>
          </a:xfrm>
          <a:prstGeom prst="roundRect">
            <a:avLst>
              <a:gd name="adj" fmla="val 14516"/>
            </a:avLst>
          </a:prstGeom>
          <a:solidFill>
            <a:srgbClr val="00A896"/>
          </a:solidFill>
          <a:ln/>
          <a:effectLst>
            <a:outerShdw sx="100000" sy="100000" kx="0" ky="0" algn="bl" rotWithShape="0" blurRad="63500" dist="25400" dir="5400000">
              <a:srgbClr val="6B728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327355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 (named object)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51976" y="3840480"/>
            <a:ext cx="292608" cy="292608"/>
          </a:xfrm>
          <a:prstGeom prst="downArrow">
            <a:avLst/>
          </a:prstGeom>
          <a:solidFill>
            <a:srgbClr val="00A896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0" y="4133088"/>
            <a:ext cx="4846320" cy="566928"/>
          </a:xfrm>
          <a:prstGeom prst="roundRect">
            <a:avLst>
              <a:gd name="adj" fmla="val 14516"/>
            </a:avLst>
          </a:prstGeom>
          <a:solidFill>
            <a:srgbClr val="141A47"/>
          </a:solidFill>
          <a:ln/>
          <a:effectLst>
            <a:outerShdw sx="100000" sy="100000" kx="0" ky="0" algn="bl" rotWithShape="0" blurRad="63500" dist="25400" dir="5400000">
              <a:srgbClr val="6B728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4133088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view_name;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2788920"/>
            <a:ext cx="5486400" cy="2880360"/>
          </a:xfrm>
          <a:prstGeom prst="roundRect">
            <a:avLst>
              <a:gd name="adj" fmla="val 2540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29718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— don't oversimplify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3310128"/>
            <a:ext cx="4983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"a view stores no data." That is imprecise.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MySQL view stores the QUERY DEFINITION, not a frozen result.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SELECT against it re-runs (or merges) that query against the CURRENT base-table data.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exactly why updating the base table instantly changes what the view shows.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CLARITY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vs 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656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Day 11  ·  Views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874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actual data rows on disk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independent, physical storage object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persists until explicitly changed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TABLE deletes the data permanently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46520" y="169164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874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766560" y="246888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 SELECT query definition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a result derived from underlying tables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hold an independent copy of the data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VIEW removes only the saved query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is FROZEN AT CREATION — a new base-table column is not automatically added to an existing view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MOTIVATION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Use Views?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656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Day 11  ·  Views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8196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a complex query behind one short name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18196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480560" y="21488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logic once, reuse it everywhere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6916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0" y="18196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0" y="21488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don't need to see the JOINs/CASE beneath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2369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Exposure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31520" y="35661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only some columns or rows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297680" y="310896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80560" y="32369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Logic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480560" y="35661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gets the same business rules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046720" y="310896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0" y="32369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Complexity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229600" y="35661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view_name replaces a page of SQL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47183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example: HR dashboard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2960" y="501091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has: name, department, salary, city, hire_date, email, phone.
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needs only: name · department · salary · city — a view presents exactly that.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Abstraction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656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Day 11  ·  Views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804008" y="1691640"/>
            <a:ext cx="6583680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6B728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04008" y="16916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Base Tables  +  JOINs / Subqueries / Functions / CASE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9544" y="2560320"/>
            <a:ext cx="292608" cy="365760"/>
          </a:xfrm>
          <a:prstGeom prst="downArrow">
            <a:avLst/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4632808" y="3017520"/>
            <a:ext cx="2926080" cy="777240"/>
          </a:xfrm>
          <a:prstGeom prst="roundRect">
            <a:avLst>
              <a:gd name="adj" fmla="val 10588"/>
            </a:avLst>
          </a:prstGeom>
          <a:solidFill>
            <a:srgbClr val="00A896"/>
          </a:solidFill>
          <a:ln/>
          <a:effectLst>
            <a:outerShdw sx="100000" sy="100000" kx="0" ky="0" algn="bl" rotWithShape="0" blurRad="63500" dist="25400" dir="5400000">
              <a:srgbClr val="6B728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2808" y="30175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949544" y="3886200"/>
            <a:ext cx="292608" cy="365760"/>
          </a:xfrm>
          <a:prstGeom prst="downArrow">
            <a:avLst/>
          </a:prstGeom>
          <a:solidFill>
            <a:srgbClr val="00A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2804008" y="4343400"/>
            <a:ext cx="6583680" cy="777240"/>
          </a:xfrm>
          <a:prstGeom prst="roundRect">
            <a:avLst>
              <a:gd name="adj" fmla="val 10588"/>
            </a:avLst>
          </a:prstGeom>
          <a:solidFill>
            <a:srgbClr val="141A47"/>
          </a:solidFill>
          <a:ln/>
          <a:effectLst>
            <a:outerShdw sx="100000" sy="100000" kx="0" ky="0" algn="bl" rotWithShape="0" blurRad="63500" dist="25400" dir="5400000">
              <a:srgbClr val="6B728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04008" y="434340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Business Query  —  SELECT * FROM view_name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53492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complexity is written ONCE, inside the view. Every consumer afterwards just queries a simple, named object.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VIEW — The Foundation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656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Day 11  ·  Views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486400" cy="1417320"/>
          </a:xfrm>
          <a:prstGeom prst="roundRect">
            <a:avLst>
              <a:gd name="adj" fmla="val 4516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0B0E2A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828800"/>
            <a:ext cx="497433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view_name </a:t>
            </a:r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...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...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...];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views built in this module: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5486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employee_basic</a:t>
            </a:r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simple view, selected columns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employee_salary_report</a:t>
            </a:r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alias + string function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high_salary_employees</a:t>
            </a:r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filtered (salary &gt; 70000)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1645920"/>
            <a:ext cx="5257800" cy="4434840"/>
          </a:xfrm>
          <a:prstGeom prst="roundRect">
            <a:avLst>
              <a:gd name="adj" fmla="val 1443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0B0E2A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11112" y="1828800"/>
            <a:ext cx="4745736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high_salary_employees </a:t>
            </a:r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emp_id,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CONCAT(TRIM(first_name),' ',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last_name) </a:t>
            </a:r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full_name,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department, city, salary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employees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salary &gt; 70000;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889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VERIFIED OUTPUT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high_salary_employees;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889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Rahul Nair    | IT | Hyderabad | 78501.00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889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Karan Malhotra| IT | Chennai   | 91000.50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889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Farhan Khan   | IT | Hyderabad | 72000.40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889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Devansh Rao   | Sales | Mumbai | 84999.99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Querying a 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656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Day 11  ·  Views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view is queried exactly like a table — WHERE, ORDER BY, GROUP BY and HAVING all work on top of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486400" cy="1874520"/>
          </a:xfrm>
          <a:prstGeom prst="roundRect">
            <a:avLst>
              <a:gd name="adj" fmla="val 3415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0B0E2A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2377440"/>
            <a:ext cx="497433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high_salary_employees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department = 'IT';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employee_salary_report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salary </a:t>
            </a:r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5196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737360"/>
                <a:gridCol w="15544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full_name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salary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</a:rPr>
                        <a:t>Rahul Nair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</a:rPr>
                        <a:t>IT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</a:rPr>
                        <a:t>78501.00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</a:rPr>
                        <a:t>Karan Malhotra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</a:rPr>
                        <a:t>IT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</a:rPr>
                        <a:t>91000.50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</a:rPr>
                        <a:t>Farhan Khan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</a:rPr>
                        <a:t>IT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</a:rPr>
                        <a:t>72000.40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5532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high_salary_employees WHERE department = 'IT'  (verified output)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355080" y="219456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629400" y="242316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 becomes a reusable QUERY LAYER — other queries build on top of it, the way employee_report is built on employees in Section 6.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62940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629400" y="4041648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employee_salary_report, return only the Marketing department, ordered by salary descending.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Views + Everything You Already Know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656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Day 11  ·  Views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291840"/>
                <a:gridCol w="49377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Previous SQL Concept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View Built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What It Demonstrates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140"/>
                          </a:solidFill>
                        </a:rPr>
                        <a:t>String functions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140"/>
                          </a:solidFill>
                        </a:rPr>
                        <a:t>employee_salary_report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140"/>
                          </a:solidFill>
                        </a:rPr>
                        <a:t>CONCAT(TRIM(first_name),' ',last_name)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140"/>
                          </a:solidFill>
                        </a:rPr>
                        <a:t>Numeric functions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140"/>
                          </a:solidFill>
                        </a:rPr>
                        <a:t>annual_salary_view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140"/>
                          </a:solidFill>
                        </a:rPr>
                        <a:t>ROUND(salary * 12, 2)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140"/>
                          </a:solidFill>
                        </a:rPr>
                        <a:t>CASE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140"/>
                          </a:solidFill>
                        </a:rPr>
                        <a:t>employee_report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140"/>
                          </a:solidFill>
                        </a:rPr>
                        <a:t>salary_category: High / Medium / Low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140"/>
                          </a:solidFill>
                        </a:rPr>
                        <a:t>Date functions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140"/>
                          </a:solidFill>
                        </a:rPr>
                        <a:t>employee_tenure_view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140"/>
                          </a:solidFill>
                        </a:rPr>
                        <a:t>TIMESTAMPDIFF(YEAR, hire_date, CURDATE())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140"/>
                          </a:solidFill>
                        </a:rPr>
                        <a:t>Aggregates + GROUP BY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140"/>
                          </a:solidFill>
                        </a:rPr>
                        <a:t>department_salary_summary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140"/>
                          </a:solidFill>
                        </a:rPr>
                        <a:t>COUNT · AVG · MAX · MIN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140"/>
                          </a:solidFill>
                        </a:rPr>
                        <a:t>HAVING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140"/>
                          </a:solidFill>
                        </a:rPr>
                        <a:t>high_paying_departments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140"/>
                          </a:solidFill>
                        </a:rPr>
                        <a:t>AVG(salary) &gt; 55000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140"/>
                          </a:solidFill>
                        </a:rPr>
                        <a:t>JOIN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140"/>
                          </a:solidFill>
                        </a:rPr>
                        <a:t>employee_department_view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140"/>
                          </a:solidFill>
                        </a:rPr>
                        <a:t>employees JOIN departments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140"/>
                          </a:solidFill>
                        </a:rPr>
                        <a:t>Subquery (Day 9)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140"/>
                          </a:solidFill>
                        </a:rPr>
                        <a:t>above_average_salary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140"/>
                          </a:solidFill>
                        </a:rPr>
                        <a:t>salary &gt; (SELECT AVG(salary) ...)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views is created and verified in the accompanying SQL script (Section 6).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6D–6E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Spotlight: Aggregate &amp; HAVING Views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656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Day 11  ·  Views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532120" cy="2377440"/>
          </a:xfrm>
          <a:prstGeom prst="roundRect">
            <a:avLst>
              <a:gd name="adj" fmla="val 2692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0B0E2A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828800"/>
            <a:ext cx="502005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department_salary_summary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department,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COUNT(*)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total_employees,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ROUND(AVG(salary),2)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avg_salary,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MAX(salary)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max_salary,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MIN(salary)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min_salary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employees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department;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645920"/>
          <a:ext cx="52578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97280"/>
                <a:gridCol w="1280160"/>
                <a:gridCol w="118872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avg_sal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max_sal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80500.63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91000.50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Sales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64333.58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84999.99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Marketing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60000.61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62000.33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Finance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58250.39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67000.65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HR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49000.33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51000.20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Operations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42250.35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45000.10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251960"/>
            <a:ext cx="5532120" cy="1691640"/>
          </a:xfrm>
          <a:prstGeom prst="roundRect">
            <a:avLst>
              <a:gd name="adj" fmla="val 3784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0B0E2A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04672" y="4434840"/>
            <a:ext cx="502005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high_paying_departments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department, ROUND(AVG(salary),2) avg_salary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employees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department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AVG(salary) &gt; 55000;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55080" y="425196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83680" y="44074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result: 4 of 6 departments clear the bar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583680" y="47091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(80500.63) · Sales (64333.58) · Marketing (60000.61) · Finance (58250.39)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and Operations fall below 55000 and are excluded.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OR REPLACE 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656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Day 11  ·  Views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Redefines an existing view's query in one statement — every place that already references the name now sees the new definition.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5440680" cy="1874520"/>
          </a:xfrm>
          <a:prstGeom prst="roundRect">
            <a:avLst>
              <a:gd name="adj" fmla="val 3415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0B0E2A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2423160"/>
            <a:ext cx="492861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i="1" dirty="0">
                <a:solidFill>
                  <a:srgbClr val="889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VERSION 1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employee_summary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first_name, last_name, salary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employees;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08192" y="3044952"/>
            <a:ext cx="502920" cy="256032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1" name="Shape 9"/>
          <p:cNvSpPr/>
          <p:nvPr/>
        </p:nvSpPr>
        <p:spPr>
          <a:xfrm>
            <a:off x="6720840" y="2240280"/>
            <a:ext cx="4892040" cy="1874520"/>
          </a:xfrm>
          <a:prstGeom prst="roundRect">
            <a:avLst>
              <a:gd name="adj" fmla="val 3415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0B0E2A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76872" y="2423160"/>
            <a:ext cx="437997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i="1" dirty="0">
                <a:solidFill>
                  <a:srgbClr val="889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VERSION 2 (requirement changed)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REPLACE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employee_summary </a:t>
            </a:r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first_name, last_name,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department, salary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employees;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55371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view name. New column set. No error — and no re-pointing needed for anything already using employee_summary.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120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 Replace employee_summary again so it also shows city, then confirm with SELECT * FROM employee_summary LIMIT 3;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 VIEW  —  and the Four Commands Compared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656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Day 11  ·  Views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0B0E2A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828800"/>
            <a:ext cx="105521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</a:t>
            </a:r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employee_summary </a:t>
            </a:r>
            <a:pPr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first_name, last_name, department, city, salary </a:t>
            </a:r>
            <a:pPr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employees;</a:t>
            </a:r>
            <a:endParaRPr lang="en-US" sz="14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066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Command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Behaviour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</a:rPr>
                        <a:t>CREATE VIEW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</a:rPr>
                        <a:t>Fails with an error if the view already exists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</a:rPr>
                        <a:t>CREATE OR REPLACE VIEW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</a:rPr>
                        <a:t>Creates it if missing, replaces it if present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</a:rPr>
                        <a:t>ALTER VIEW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</a:rPr>
                        <a:t>Only works if the view already exists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</a:rPr>
                        <a:t>DROP VIEW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</a:rPr>
                        <a:t>Removes the view object entirely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Interview-important: this exact comparison is a favourite screening question.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656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Day 11  ·  Views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394960" cy="1554480"/>
          </a:xfrm>
          <a:prstGeom prst="roundRect">
            <a:avLst>
              <a:gd name="adj" fmla="val 4118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0B0E2A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874520"/>
            <a:ext cx="48828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view_name;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i="1" dirty="0">
                <a:solidFill>
                  <a:srgbClr val="889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Safe in rerunnable scripts: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EXISTS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view_name;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8288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IF EXISTS?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0" y="21488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DROP VIEW on an already-dropped view raises an "Unknown view" error. IF EXISTS makes the statement safe to repeat — essential for classroom / rerunnable scripts.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— proven back in Section 2: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02336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a VIEW never deletes rows from the underlying TABLE. The view is only the saved query — the data in employees is completely unaffected.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Inspecting Views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656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Day 11  ·  Views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486400" cy="2606040"/>
          </a:xfrm>
          <a:prstGeom prst="roundRect">
            <a:avLst>
              <a:gd name="adj" fmla="val 2456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0B0E2A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828800"/>
            <a:ext cx="4974336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FULL TABLES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Table_type = '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employee_basic;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employee_basic;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645920"/>
            <a:ext cx="5257800" cy="2606040"/>
          </a:xfrm>
          <a:prstGeom prst="roundRect">
            <a:avLst>
              <a:gd name="adj" fmla="val 2456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0B0E2A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11112" y="1828800"/>
            <a:ext cx="4745736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TABLE_SCHEMA, TABLE_NAME,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CHECK_OPTION, IS_UPDATABLE,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SECURITY_TYPE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INFORMATION_SCHEMA.VIEWS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TABLE_SCHEMA = 'hr_analytics';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468880"/>
                <a:gridCol w="2468880"/>
                <a:gridCol w="25603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TABLE_NAME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CHECK_OPTION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IS_UPDATABLE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SECURITY_TYPE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</a:rPr>
                        <a:t>employee_basic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</a:rPr>
                        <a:t>DEFINER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</a:rPr>
                        <a:t>department_salary_summary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</a:rPr>
                        <a:t>DEFINER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</a:rPr>
                        <a:t>it_employees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</a:rPr>
                        <a:t>CASCADED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</a:rPr>
                        <a:t>DEFINER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48640" y="5806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excerpt from INFORMATION_SCHEMA.VIEWS on the Day 11 dataset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Updatable Views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656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Day 11  ·  Views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views can be the target of UPDATE/DELETE, and the change lands on the base table. </a:t>
            </a:r>
            <a:pPr indent="0" marL="0">
              <a:buNone/>
            </a:pPr>
            <a:r>
              <a:rPr lang="en-US" sz="15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view qualifies</a:t>
            </a:r>
            <a:pPr indent="0" marL="0">
              <a:buNone/>
            </a:pPr>
            <a:r>
              <a:rPr lang="en-US" sz="15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only certain definitions do.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486400" cy="3200400"/>
          </a:xfrm>
          <a:prstGeom prst="roundRect">
            <a:avLst>
              <a:gd name="adj" fmla="val 2000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0B0E2A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2468880"/>
            <a:ext cx="497433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emp_id, salary </a:t>
            </a:r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employee_basic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emp_id = 1;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889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-- 1 | Amit Sharma | 55000.76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employee_basic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salary = 57000.00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emp_id = 1;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889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CHECK THE BASE TABLE: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emp_id, salary </a:t>
            </a:r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employees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emp_id = 1;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889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-- 1 | 57000.00   &lt;- base table changed!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2286000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24688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employee_basic qualifies: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629400" y="278892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base table (employees)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aggregate function, no GROUP BY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DISTINCT, no UNION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view row maps to exactly one base-table row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29400" y="5074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Trap: "All views can be updated."  →  FALSE.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Non-Updatable Views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656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Day 11  ·  Views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 (COUNT, AVG, SUM...)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/ UNION ALL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subqueries or joins that break the one-row-to-one-row mapping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0B0E2A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28232" y="1828800"/>
            <a:ext cx="492861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department_salary_summary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avg_salary = 99999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department = 'IT';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i="1" dirty="0">
                <a:solidFill>
                  <a:srgbClr val="889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ACTUAL ERROR (verified):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i="1" dirty="0">
                <a:solidFill>
                  <a:srgbClr val="889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ERROR 1288 (HY000): The target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i="1" dirty="0">
                <a:solidFill>
                  <a:srgbClr val="889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table department_salary_summary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i="1" dirty="0">
                <a:solidFill>
                  <a:srgbClr val="889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of the UPDATE is not updatable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3159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overgeneralize the JOIN case: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61772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employee_department_view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JOIN — and INFORMATION_SCHEMA.VIEWS confirms IS_UPDATABLE = YES, because each employee row still maps to exactly one joined row.
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Updatability depends on the SPECIFIC view definition, not on the presence of a JOIN keyword.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CHECK OPTION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656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Day 11  ·  Views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11064240" cy="1737360"/>
          </a:xfrm>
          <a:prstGeom prst="roundRect">
            <a:avLst>
              <a:gd name="adj" fmla="val 3684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0B0E2A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83080"/>
            <a:ext cx="1055217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it_employees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emp_id, first_name, department, salary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employees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department = 'IT'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CHECK OPTION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E9F7F1"/>
          </a:solidFill>
          <a:ln w="12700">
            <a:solidFill>
              <a:srgbClr val="1E7B4D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6576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UPDATE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397764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it_employees SET salary = 95000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emp_id = 5;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66344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 stays in IT → still satisfies WHERE → accepted.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5204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BEAEA"/>
          </a:solidFill>
          <a:ln w="12700">
            <a:solidFill>
              <a:srgbClr val="B3261E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36576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UPDATE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37960" y="397764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it_employees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department = 'Finance' WHERE emp_id = 3;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37960" y="466344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1369 (44000): CHECK OPTION failed `hr_analytics`.`it_employees`  (verified)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LOCAL/CASCADED keyword specified → MySQL applies CASCADED by default (confirmed via INFORMATION_SCHEMA.VIEWS.CHECK_OPTION).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Security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656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Day 11  ·  Views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23848" y="1691640"/>
            <a:ext cx="2834640" cy="6858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6B728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23848" y="16916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(full table)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95648" y="1901952"/>
            <a:ext cx="594360" cy="256032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5181448" y="1691640"/>
            <a:ext cx="2834640" cy="6858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/>
          <a:effectLst>
            <a:outerShdw sx="100000" sy="100000" kx="0" ky="0" algn="bl" rotWithShape="0" blurRad="63500" dist="25400" dir="5400000">
              <a:srgbClr val="6B728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81448" y="16916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employee_public_info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(restricted view)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3248" y="1901952"/>
            <a:ext cx="594360" cy="256032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8839048" y="1691640"/>
            <a:ext cx="2834640" cy="685800"/>
          </a:xfrm>
          <a:prstGeom prst="roundRect">
            <a:avLst>
              <a:gd name="adj" fmla="val 12000"/>
            </a:avLst>
          </a:prstGeom>
          <a:solidFill>
            <a:srgbClr val="141A47"/>
          </a:solidFill>
          <a:ln/>
          <a:effectLst>
            <a:outerShdw sx="100000" sy="100000" kx="0" ky="0" algn="bl" rotWithShape="0" blurRad="63500" dist="25400" dir="5400000">
              <a:srgbClr val="6B728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39048" y="16916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User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5486400" cy="1737360"/>
          </a:xfrm>
          <a:prstGeom prst="roundRect">
            <a:avLst>
              <a:gd name="adj" fmla="val 3684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0B0E2A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4672" y="2926080"/>
            <a:ext cx="49743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employee_public_info </a:t>
            </a:r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emp_id,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CONCAT(TRIM(first_name),' ',last_name)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full_name,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department, city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employees;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i="1" dirty="0">
                <a:solidFill>
                  <a:srgbClr val="889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salary, email, phone: NOT exposed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355080" y="274320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2880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vs Hidden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320040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emp_id, full_name, department, city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salary, email, phone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864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— do not overstate this: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5138928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view is not automatically a security boundary just because it exists. Real access control comes from GRANT/REVOKE privileges on the view AND on the underlying table.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14B  ·  INTERVIEW AWARENESS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SECURITY: DEFINER vs INVOKER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656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Day 11  ·  Views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202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SECURITY DEFINER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MySQL's default. The view runs with the privileges of the account that DEFINED (created) it.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9202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SECURITY INVOKER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37960" y="2331720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 runs with the privileges of the account currently QUERYING it.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0B0E2A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" y="4526280"/>
            <a:ext cx="105521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SECURITY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INVOKER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employee_public_info_invoker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emp_id, CONCAT(TRIM(first_name),' ',last_name)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full_name, department, city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employees;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5532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MARK: Interview / awareness level — not a full DBA privilege-design lesson.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15  ·  INTERVIEW AWARENESS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Processing Algorithm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656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Day 11  ·  Views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9933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395728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merges the view's stored query into the outer query where possible.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19933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TEMPTABLE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80560" y="2395728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materialized into an internal temp table first — has updatability implications.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0" y="19933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UNDEFINED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chooses the appropriate processing algorithm. If ALGORITHM is omitted, MySQL's choice is influenced by optimizer settings.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0B0E2A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4672" y="4389120"/>
            <a:ext cx="105521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employee_basic_merge_demo </a:t>
            </a:r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emp_id, first_name, department, salary </a:t>
            </a:r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employees;   -- verified: runs cleanly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577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concise awareness section — not an optimizer-internals deep dive.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Views and Performance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656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Day 11  ·  Views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BEAEA"/>
          </a:solidFill>
          <a:ln w="12700">
            <a:solidFill>
              <a:srgbClr val="B3261E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65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MYTH:  "Views always make queries faster."   →   FALSE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primarily provide: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data exposure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querying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172200" y="2971800"/>
            <a:ext cx="5440680" cy="2743200"/>
          </a:xfrm>
          <a:prstGeom prst="roundRect">
            <a:avLst>
              <a:gd name="adj" fmla="val 2667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312724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0" y="3456432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depends on the underlying query and execution plan. MySQL may merge a view definition where possible, but a view does not automatically speed up a complex query.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47091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"Normal MySQL views do not have independent indexes. Query performance depends on the underlying tables and their indexes."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17  ·  DAY 9 CONNECTION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vs Subquery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656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Day 11  ·  Views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440680" cy="1691640"/>
          </a:xfrm>
          <a:prstGeom prst="roundRect">
            <a:avLst>
              <a:gd name="adj" fmla="val 3784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0B0E2A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874520"/>
            <a:ext cx="492861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889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Day 9: SUBQUERY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emp_id, first_name, salary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employees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salary &gt;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AVG(salary)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employees);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40680" cy="1691640"/>
          </a:xfrm>
          <a:prstGeom prst="roundRect">
            <a:avLst>
              <a:gd name="adj" fmla="val 3784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0B0E2A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28232" y="1874520"/>
            <a:ext cx="492861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i="1" dirty="0">
                <a:solidFill>
                  <a:srgbClr val="889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Day 11: SAME LOGIC, AS A VIEW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above_average_salary </a:t>
            </a:r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emp_id, first_name, salary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employees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salary &gt;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</a:t>
            </a:r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AVG(salary) </a:t>
            </a:r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employees);</a:t>
            </a:r>
            <a:endParaRPr lang="en-US" sz="118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SUBQUERY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VIEW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</a:rPr>
                        <a:t>Written inline, inside one query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</a:rPr>
                        <a:t>A named, stored database object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</a:rPr>
                        <a:t>Scoped to that single query's execution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</a:rPr>
                        <a:t>Persists until explicitly dropped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</a:rPr>
                        <a:t>Must be rewritten each time it's needed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</a:rPr>
                        <a:t>Queried repeatedly by name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</a:rPr>
                        <a:t>Good for one-off, throwaway logic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</a:rPr>
                        <a:t>Good for logic reused across many reports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48640" y="5623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writing the same subquery twice is the signal to promote it into a view.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RECAP  +  SECTION 18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vs Table  ·  View vs Materialized 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656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Day 11  ·  Views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3337560"/>
                <a:gridCol w="3337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VIEW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140"/>
                          </a:solidFill>
                        </a:rPr>
                        <a:t>Stores actual rows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140"/>
                          </a:solidFill>
                        </a:rPr>
                        <a:t>Yes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140"/>
                          </a:solidFill>
                        </a:rPr>
                        <a:t>No — stores query definition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140"/>
                          </a:solidFill>
                        </a:rPr>
                        <a:t>Physical storage object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140"/>
                          </a:solidFill>
                        </a:rPr>
                        <a:t>Yes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140"/>
                          </a:solidFill>
                        </a:rPr>
                        <a:t>No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140"/>
                          </a:solidFill>
                        </a:rPr>
                        <a:t>Dropping it deletes data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140"/>
                          </a:solidFill>
                        </a:rPr>
                        <a:t>Yes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140"/>
                          </a:solidFill>
                        </a:rPr>
                        <a:t>No — underlying table untouched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70332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3886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VS MATERIALIZED VIEW  —  interview awareness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2960" y="4224528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does NOT provide a native materialized view, unlike Oracle or PostgreSQL.
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MySQL view is a stored query definition — re-evaluated (or merged) against live data on every query, never a permanently stored snapshot of a past result.
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Materialized-view-like behaviour, if ever needed, is built manually (e.g. a real table refreshed on a schedule) — outside plain CREATE VIEW.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19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Case Study — HR Analytics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656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Day 11  ·  Views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4864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31546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View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employee_basic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Safe / basic employee information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high_salary_employees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salary &gt; 70000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annual_salary_view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Monthly + annual salary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employee_report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Full name, department, city, salary, category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department_salary_summary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Department headcount, avg / max / min salary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recent_hires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Hired after 2020-01-01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above_average_salary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Above the company-wide average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it_employees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</a:rPr>
                        <a:t>IT-only, protected by WITH CHECK OPTION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45920"/>
            <a:ext cx="5440680" cy="2148840"/>
          </a:xfrm>
          <a:prstGeom prst="roundRect">
            <a:avLst>
              <a:gd name="adj" fmla="val 2979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0B0E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28232" y="1828800"/>
            <a:ext cx="492861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i="1" dirty="0">
                <a:solidFill>
                  <a:srgbClr val="889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View built ON TWO OTHER VIEWS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quarterly_review_report </a:t>
            </a:r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r.emp_id, r.full_name, r.department,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r.salary_category, t.years_of_service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employee_report r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employee_tenure_view t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5FD9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E7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r.emp_id = t.emp_id;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72200" y="393192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0" y="40873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a view be created on another view?"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00800" y="44348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verified above, valid in MySQL. Deeply stacked views can be harder to maintain and may force ALGORITHM = TEMPTABLE, so use this pattern deliberately.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19–22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&amp; Interview Challenge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656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Day 11  ·  Views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2011680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228600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13232" y="306324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3611880"/>
            <a:ext cx="23225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Trainer-led, solved live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46704" y="18288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11296" y="2011680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11296" y="228600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511296" y="306324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Practice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11296" y="3611880"/>
            <a:ext cx="23225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Unsolved — students design the view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44768" y="18288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2011680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228600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309360" y="306324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/ Mixed Problems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3611880"/>
            <a:ext cx="23225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 → student decides the design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42832" y="18288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07424" y="2011680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07424" y="228600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9107424" y="306324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07424" y="3611880"/>
            <a:ext cx="23225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· Technical · Advanced · Scenario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hands-on practice questions + 15 unsolved interview questions — solutions are not printed in the script.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Traps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656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Day 11  ·  Views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8229600" cy="420624"/>
          </a:xfrm>
          <a:prstGeom prst="roundRect">
            <a:avLst>
              <a:gd name="adj" fmla="val 17391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91640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1:  "All views are updatable."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006840" y="1746504"/>
            <a:ext cx="2606040" cy="310896"/>
          </a:xfrm>
          <a:prstGeom prst="roundRect">
            <a:avLst>
              <a:gd name="adj" fmla="val 14706"/>
            </a:avLst>
          </a:prstGeom>
          <a:solidFill>
            <a:srgbClr val="B3261E"/>
          </a:solidFill>
          <a:ln/>
        </p:spPr>
      </p:sp>
      <p:sp>
        <p:nvSpPr>
          <p:cNvPr id="10" name="Text 8"/>
          <p:cNvSpPr/>
          <p:nvPr/>
        </p:nvSpPr>
        <p:spPr>
          <a:xfrm>
            <a:off x="9006840" y="174650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203704"/>
            <a:ext cx="822960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203704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2:  "A view stores a copy of the result."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2258568"/>
            <a:ext cx="2606040" cy="310896"/>
          </a:xfrm>
          <a:prstGeom prst="roundRect">
            <a:avLst>
              <a:gd name="adj" fmla="val 14706"/>
            </a:avLst>
          </a:prstGeom>
          <a:solidFill>
            <a:srgbClr val="B3261E"/>
          </a:solidFill>
          <a:ln/>
        </p:spPr>
      </p:sp>
      <p:sp>
        <p:nvSpPr>
          <p:cNvPr id="14" name="Text 12"/>
          <p:cNvSpPr/>
          <p:nvPr/>
        </p:nvSpPr>
        <p:spPr>
          <a:xfrm>
            <a:off x="9006840" y="2258568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715768"/>
            <a:ext cx="8229600" cy="420624"/>
          </a:xfrm>
          <a:prstGeom prst="roundRect">
            <a:avLst>
              <a:gd name="adj" fmla="val 17391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715768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3:  "Views always improve performance."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06840" y="2770632"/>
            <a:ext cx="2606040" cy="310896"/>
          </a:xfrm>
          <a:prstGeom prst="roundRect">
            <a:avLst>
              <a:gd name="adj" fmla="val 14706"/>
            </a:avLst>
          </a:prstGeom>
          <a:solidFill>
            <a:srgbClr val="B3261E"/>
          </a:solidFill>
          <a:ln/>
        </p:spPr>
      </p:sp>
      <p:sp>
        <p:nvSpPr>
          <p:cNvPr id="18" name="Text 16"/>
          <p:cNvSpPr/>
          <p:nvPr/>
        </p:nvSpPr>
        <p:spPr>
          <a:xfrm>
            <a:off x="9006840" y="277063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227832"/>
            <a:ext cx="822960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227832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4:  "Creating a view makes data secure automatically."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06840" y="3282696"/>
            <a:ext cx="2606040" cy="310896"/>
          </a:xfrm>
          <a:prstGeom prst="roundRect">
            <a:avLst>
              <a:gd name="adj" fmla="val 14706"/>
            </a:avLst>
          </a:prstGeom>
          <a:solidFill>
            <a:srgbClr val="B3261E"/>
          </a:solidFill>
          <a:ln/>
        </p:spPr>
      </p:sp>
      <p:sp>
        <p:nvSpPr>
          <p:cNvPr id="22" name="Text 20"/>
          <p:cNvSpPr/>
          <p:nvPr/>
        </p:nvSpPr>
        <p:spPr>
          <a:xfrm>
            <a:off x="9006840" y="328269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739896"/>
            <a:ext cx="8229600" cy="420624"/>
          </a:xfrm>
          <a:prstGeom prst="roundRect">
            <a:avLst>
              <a:gd name="adj" fmla="val 17391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739896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5:  "Every JOIN view is non-updatable."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006840" y="3794760"/>
            <a:ext cx="2606040" cy="310896"/>
          </a:xfrm>
          <a:prstGeom prst="roundRect">
            <a:avLst>
              <a:gd name="adj" fmla="val 14706"/>
            </a:avLst>
          </a:prstGeom>
          <a:solidFill>
            <a:srgbClr val="9A6B00"/>
          </a:solidFill>
          <a:ln/>
        </p:spPr>
      </p:sp>
      <p:sp>
        <p:nvSpPr>
          <p:cNvPr id="26" name="Text 24"/>
          <p:cNvSpPr/>
          <p:nvPr/>
        </p:nvSpPr>
        <p:spPr>
          <a:xfrm>
            <a:off x="9006840" y="3794760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OVERSIMPLIFIED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251960"/>
            <a:ext cx="822960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251960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6:  "A view has its own indexes."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006840" y="4306824"/>
            <a:ext cx="2606040" cy="310896"/>
          </a:xfrm>
          <a:prstGeom prst="roundRect">
            <a:avLst>
              <a:gd name="adj" fmla="val 14706"/>
            </a:avLst>
          </a:prstGeom>
          <a:solidFill>
            <a:srgbClr val="B3261E"/>
          </a:solidFill>
          <a:ln/>
        </p:spPr>
      </p:sp>
      <p:sp>
        <p:nvSpPr>
          <p:cNvPr id="30" name="Text 28"/>
          <p:cNvSpPr/>
          <p:nvPr/>
        </p:nvSpPr>
        <p:spPr>
          <a:xfrm>
            <a:off x="9006840" y="430682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764024"/>
            <a:ext cx="8229600" cy="420624"/>
          </a:xfrm>
          <a:prstGeom prst="roundRect">
            <a:avLst>
              <a:gd name="adj" fmla="val 17391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764024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7:  "CREATE OR REPLACE VIEW = ALTER VIEW, exactly."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006840" y="4818888"/>
            <a:ext cx="2606040" cy="310896"/>
          </a:xfrm>
          <a:prstGeom prst="roundRect">
            <a:avLst>
              <a:gd name="adj" fmla="val 14706"/>
            </a:avLst>
          </a:prstGeom>
          <a:solidFill>
            <a:srgbClr val="9A6B00"/>
          </a:solidFill>
          <a:ln/>
        </p:spPr>
      </p:sp>
      <p:sp>
        <p:nvSpPr>
          <p:cNvPr id="34" name="Text 32"/>
          <p:cNvSpPr/>
          <p:nvPr/>
        </p:nvSpPr>
        <p:spPr>
          <a:xfrm>
            <a:off x="9006840" y="4818888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RELATED, NOT IDENTICAL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 RECAP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Can Now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492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precisely what a view stores — and what it doesn't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views on JOINs, subqueries, functions, CASE, GROUP BY, HAVING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CREATE OR REPLACE, ALTER and DROP views safely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views via SHOW CREATE VIEW and INFORMATION_SCHEMA.VIEWS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126480" y="1600200"/>
            <a:ext cx="53492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updatable vs non-updatable views, with real proof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WITH CHECK OPTION to protect a filtered view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SQL SECURITY, view algorithms, and performance limits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every major view-related interview trap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2656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Day 11  ·  Views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Module: Indexes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6B728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488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gave us abstraction, reuse and controlled exposure. They deliberately did NOT give us query speed.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are one of the main ways MySQL can make lookups faster — and they will be covered separately in a later, dedicated module.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script and slides intentionally contain no CREATE INDEX, DROP INDEX, or index syntax of any kind — that scope boundary was deliberate.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2656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Shalinee Priya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Day 11  ·  Views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2026-08-20T17:46:16Z</dcterms:created>
  <dcterms:modified xsi:type="dcterms:W3CDTF">2026-08-20T17:46:16Z</dcterms:modified>
</cp:coreProperties>
</file>